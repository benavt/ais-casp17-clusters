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gif" ContentType="image/gif"/>
  <Override PartName="/ppt/domain_variance/slideMasters/slideMaster1.xml" ContentType="application/vnd.openxmlformats-officedocument.presentationml.slideMaster+xml"/>
  <Override PartName="/ppt/domain_variance/slideMasters/theme/theme2.xml" ContentType="application/vnd.openxmlformats-officedocument.theme+xml"/>
  <Override PartName="/ppt/domain_variance/slideLayouts/slideLayout1.xml" ContentType="application/vnd.openxmlformats-officedocument.presentationml.slideLayout+xml"/>
  <Override PartName="/ppt/domain_variance/slideLayouts/slideLayout2.xml" ContentType="application/vnd.openxmlformats-officedocument.presentationml.slideLayout+xml"/>
  <Override PartName="/ppt/domain_variance/slideLayouts/slideLayout3.xml" ContentType="application/vnd.openxmlformats-officedocument.presentationml.slideLayout+xml"/>
  <Override PartName="/ppt/domain_variance/slideLayouts/slideLayout4.xml" ContentType="application/vnd.openxmlformats-officedocument.presentationml.slideLayout+xml"/>
  <Override PartName="/ppt/domain_variance/slideLayouts/slideLayout5.xml" ContentType="application/vnd.openxmlformats-officedocument.presentationml.slideLayout+xml"/>
  <Override PartName="/ppt/domain_variance/slideLayouts/slideLayout6.xml" ContentType="application/vnd.openxmlformats-officedocument.presentationml.slideLayout+xml"/>
  <Override PartName="/ppt/domain_variance/notesMasters/notesMaster1.xml" ContentType="application/vnd.openxmlformats-officedocument.presentationml.notesMaster+xml"/>
  <Override PartName="/ppt/domain_variance/notesMasters/theme/theme3.xml" ContentType="application/vnd.openxmlformats-officedocument.theme+xml"/>
  <Override PartName="/ppt/slides/slide12.xml" ContentType="application/vnd.openxmlformats-officedocument.presentationml.slide+xml"/>
  <Override PartName="/ppt/domain_variance/notesSlides/notesSlide1.xml" ContentType="application/vnd.openxmlformats-officedocument.presentationml.notesSlide+xml"/>
  <Override PartName="/ppt/workflow_addition_12_workflow-pptx-rk60sles/slideMasters/slideMaster1.xml" ContentType="application/vnd.openxmlformats-officedocument.presentationml.slideMaster+xml"/>
  <Override PartName="/ppt/workflow_addition_12_workflow-pptx-rk60sles/slideMasters/theme/theme2.xml" ContentType="application/vnd.openxmlformats-officedocument.theme+xml"/>
  <Override PartName="/ppt/workflow_addition_12_workflow-pptx-rk60sles/slideLayouts/slideLayout1.xml" ContentType="application/vnd.openxmlformats-officedocument.presentationml.slideLayout+xml"/>
  <Override PartName="/ppt/workflow_addition_12_workflow-pptx-rk60sles/slideLayouts/slideLayout2.xml" ContentType="application/vnd.openxmlformats-officedocument.presentationml.slideLayout+xml"/>
  <Override PartName="/ppt/workflow_addition_12_workflow-pptx-rk60sles/slideLayouts/slideLayout3.xml" ContentType="application/vnd.openxmlformats-officedocument.presentationml.slideLayout+xml"/>
  <Override PartName="/ppt/workflow_addition_12_workflow-pptx-rk60sles/slideLayouts/slideLayout4.xml" ContentType="application/vnd.openxmlformats-officedocument.presentationml.slideLayout+xml"/>
  <Override PartName="/ppt/workflow_addition_12_workflow-pptx-rk60sles/slideLayouts/slideLayout5.xml" ContentType="application/vnd.openxmlformats-officedocument.presentationml.slideLayout+xml"/>
  <Override PartName="/ppt/workflow_addition_12_workflow-pptx-rk60sles/slideLayouts/slideLayout6.xml" ContentType="application/vnd.openxmlformats-officedocument.presentationml.slideLayout+xml"/>
  <Override PartName="/ppt/workflow_addition_12_workflow-pptx-rk60sles/notesMasters/notesMaster1.xml" ContentType="application/vnd.openxmlformats-officedocument.presentationml.notesMaster+xml"/>
  <Override PartName="/ppt/workflow_addition_12_workflow-pptx-rk60sles/notesMasters/theme/theme3.xml" ContentType="application/vnd.openxmlformats-officedocument.theme+xml"/>
  <Override PartName="/ppt/slides/slide13.xml" ContentType="application/vnd.openxmlformats-officedocument.presentationml.slide+xml"/>
  <Override PartName="/ppt/workflow_addition_12_workflow-pptx-rk60sles/notesSlides/notesSlide1.xml" ContentType="application/vnd.openxmlformats-officedocument.presentationml.notesSlide+xml"/>
  <Override PartName="/ppt/workflow_addition_13_workflow-pptx-rk60sles/slideMasters/slideMaster1.xml" ContentType="application/vnd.openxmlformats-officedocument.presentationml.slideMaster+xml"/>
  <Override PartName="/ppt/workflow_addition_13_workflow-pptx-rk60sles/slideMasters/theme/theme2.xml" ContentType="application/vnd.openxmlformats-officedocument.theme+xml"/>
  <Override PartName="/ppt/workflow_addition_13_workflow-pptx-rk60sles/slideLayouts/slideLayout1.xml" ContentType="application/vnd.openxmlformats-officedocument.presentationml.slideLayout+xml"/>
  <Override PartName="/ppt/workflow_addition_13_workflow-pptx-rk60sles/slideLayouts/slideLayout2.xml" ContentType="application/vnd.openxmlformats-officedocument.presentationml.slideLayout+xml"/>
  <Override PartName="/ppt/workflow_addition_13_workflow-pptx-rk60sles/slideLayouts/slideLayout3.xml" ContentType="application/vnd.openxmlformats-officedocument.presentationml.slideLayout+xml"/>
  <Override PartName="/ppt/workflow_addition_13_workflow-pptx-rk60sles/slideLayouts/slideLayout4.xml" ContentType="application/vnd.openxmlformats-officedocument.presentationml.slideLayout+xml"/>
  <Override PartName="/ppt/workflow_addition_13_workflow-pptx-rk60sles/slideLayouts/slideLayout5.xml" ContentType="application/vnd.openxmlformats-officedocument.presentationml.slideLayout+xml"/>
  <Override PartName="/ppt/workflow_addition_13_workflow-pptx-rk60sles/slideLayouts/slideLayout6.xml" ContentType="application/vnd.openxmlformats-officedocument.presentationml.slideLayout+xml"/>
  <Override PartName="/ppt/workflow_addition_13_workflow-pptx-rk60sles/notesMasters/notesMaster1.xml" ContentType="application/vnd.openxmlformats-officedocument.presentationml.notesMaster+xml"/>
  <Override PartName="/ppt/workflow_addition_13_workflow-pptx-rk60sles/notesMasters/theme/theme3.xml" ContentType="application/vnd.openxmlformats-officedocument.theme+xml"/>
  <Override PartName="/ppt/slides/slide14.xml" ContentType="application/vnd.openxmlformats-officedocument.presentationml.slide+xml"/>
  <Override PartName="/ppt/workflow_addition_13_workflow-pptx-rk60sles/slides/charts/chart1.xml" ContentType="application/vnd.openxmlformats-officedocument.drawingml.chart+xml"/>
  <Override PartName="/ppt/workflow_addition_13_workflow-pptx-rk60sles/notesSlides/notesSlide1.xml" ContentType="application/vnd.openxmlformats-officedocument.presentationml.notesSlide+xml"/>
  <Override PartName="/ppt/workflow_addition_13_workflow-pptx-rk60sles/embeddings/confidence-chart-1.xlsx" ContentType="application/vnd.openxmlformats-officedocument.spreadsheetml.sheet"/>
  <Override PartName="/ppt/tm_heatmap/slideMasters/slideMaster1.xml" ContentType="application/vnd.openxmlformats-officedocument.presentationml.slideMaster+xml"/>
  <Override PartName="/ppt/tm_heatmap/slideMasters/theme/theme2.xml" ContentType="application/vnd.openxmlformats-officedocument.theme+xml"/>
  <Override PartName="/ppt/tm_heatmap/slideLayouts/slideLayout1.xml" ContentType="application/vnd.openxmlformats-officedocument.presentationml.slideLayout+xml"/>
  <Override PartName="/ppt/tm_heatmap/slideLayouts/slideLayout2.xml" ContentType="application/vnd.openxmlformats-officedocument.presentationml.slideLayout+xml"/>
  <Override PartName="/ppt/tm_heatmap/slideLayouts/slideLayout3.xml" ContentType="application/vnd.openxmlformats-officedocument.presentationml.slideLayout+xml"/>
  <Override PartName="/ppt/tm_heatmap/slideLayouts/slideLayout4.xml" ContentType="application/vnd.openxmlformats-officedocument.presentationml.slideLayout+xml"/>
  <Override PartName="/ppt/tm_heatmap/slideLayouts/slideLayout5.xml" ContentType="application/vnd.openxmlformats-officedocument.presentationml.slideLayout+xml"/>
  <Override PartName="/ppt/tm_heatmap/slideLayouts/slideLayout6.xml" ContentType="application/vnd.openxmlformats-officedocument.presentationml.slideLayout+xml"/>
  <Override PartName="/ppt/tm_heatmap/notesMasters/notesMaster1.xml" ContentType="application/vnd.openxmlformats-officedocument.presentationml.notesMaster+xml"/>
  <Override PartName="/ppt/tm_heatmap/notesMasters/theme/theme3.xml" ContentType="application/vnd.openxmlformats-officedocument.theme+xml"/>
  <Override PartName="/ppt/slides/slide15.xml" ContentType="application/vnd.openxmlformats-officedocument.presentationml.slide+xml"/>
  <Override PartName="/ppt/tm_heatmap/notesSlides/notesSlide1.xml" ContentType="application/vnd.openxmlformats-officedocument.presentationml.notesSlide+xml"/>
  <Override PartName="/ppt/workflow_addition_15_workflow-pptx-zizg80ro/slideMasters/slideMaster1.xml" ContentType="application/vnd.openxmlformats-officedocument.presentationml.slideMaster+xml"/>
  <Override PartName="/ppt/workflow_addition_15_workflow-pptx-zizg80ro/slideMasters/theme/theme2.xml" ContentType="application/vnd.openxmlformats-officedocument.theme+xml"/>
  <Override PartName="/ppt/workflow_addition_15_workflow-pptx-zizg80ro/slideLayouts/slideLayout1.xml" ContentType="application/vnd.openxmlformats-officedocument.presentationml.slideLayout+xml"/>
  <Override PartName="/ppt/workflow_addition_15_workflow-pptx-zizg80ro/slideLayouts/slideLayout2.xml" ContentType="application/vnd.openxmlformats-officedocument.presentationml.slideLayout+xml"/>
  <Override PartName="/ppt/workflow_addition_15_workflow-pptx-zizg80ro/slideLayouts/slideLayout3.xml" ContentType="application/vnd.openxmlformats-officedocument.presentationml.slideLayout+xml"/>
  <Override PartName="/ppt/workflow_addition_15_workflow-pptx-zizg80ro/slideLayouts/slideLayout4.xml" ContentType="application/vnd.openxmlformats-officedocument.presentationml.slideLayout+xml"/>
  <Override PartName="/ppt/workflow_addition_15_workflow-pptx-zizg80ro/slideLayouts/slideLayout5.xml" ContentType="application/vnd.openxmlformats-officedocument.presentationml.slideLayout+xml"/>
  <Override PartName="/ppt/workflow_addition_15_workflow-pptx-zizg80ro/slideLayouts/slideLayout6.xml" ContentType="application/vnd.openxmlformats-officedocument.presentationml.slideLayout+xml"/>
  <Override PartName="/ppt/workflow_addition_15_workflow-pptx-zizg80ro/notesMasters/notesMaster1.xml" ContentType="application/vnd.openxmlformats-officedocument.presentationml.notesMaster+xml"/>
  <Override PartName="/ppt/workflow_addition_15_workflow-pptx-zizg80ro/notesMasters/theme/theme3.xml" ContentType="application/vnd.openxmlformats-officedocument.theme+xml"/>
  <Override PartName="/ppt/slides/slide16.xml" ContentType="application/vnd.openxmlformats-officedocument.presentationml.slide+xml"/>
  <Override PartName="/ppt/workflow_addition_15_workflow-pptx-zizg80ro/notesSlides/notesSlide1.xml" ContentType="application/vnd.openxmlformats-officedocument.presentationml.notesSlide+xml"/>
  <Default Extension="bin" ContentType="application/vnd.openxmlformats-officedocument.presentationml.printerSettings"/>
  <Default Extension="jpeg" ContentType="image/jpeg"/>
  <Override PartName="/ppt/introduction_title/notesMasters/notesMaster1.xml" ContentType="application/vnd.openxmlformats-officedocument.presentationml.notesMaster+xml"/>
  <Override PartName="/ppt/introduction_title/notesSlides/notesSlide1.xml" ContentType="application/vnd.openxmlformats-officedocument.presentationml.notesSlide+xml"/>
  <Override PartName="/ppt/introduction_title/slideLayouts/slideLayout1.xml" ContentType="application/vnd.openxmlformats-officedocument.presentationml.slideLayout+xml"/>
  <Override PartName="/ppt/introduction_title/slideLayouts/slideLayout10.xml" ContentType="application/vnd.openxmlformats-officedocument.presentationml.slideLayout+xml"/>
  <Override PartName="/ppt/introduction_title/slideLayouts/slideLayout11.xml" ContentType="application/vnd.openxmlformats-officedocument.presentationml.slideLayout+xml"/>
  <Override PartName="/ppt/introduction_title/slideLayouts/slideLayout2.xml" ContentType="application/vnd.openxmlformats-officedocument.presentationml.slideLayout+xml"/>
  <Override PartName="/ppt/introduction_title/slideLayouts/slideLayout3.xml" ContentType="application/vnd.openxmlformats-officedocument.presentationml.slideLayout+xml"/>
  <Override PartName="/ppt/introduction_title/slideLayouts/slideLayout4.xml" ContentType="application/vnd.openxmlformats-officedocument.presentationml.slideLayout+xml"/>
  <Override PartName="/ppt/introduction_title/slideLayouts/slideLayout5.xml" ContentType="application/vnd.openxmlformats-officedocument.presentationml.slideLayout+xml"/>
  <Override PartName="/ppt/introduction_title/slideLayouts/slideLayout6.xml" ContentType="application/vnd.openxmlformats-officedocument.presentationml.slideLayout+xml"/>
  <Override PartName="/ppt/introduction_title/slideLayouts/slideLayout7.xml" ContentType="application/vnd.openxmlformats-officedocument.presentationml.slideLayout+xml"/>
  <Override PartName="/ppt/introduction_title/slideLayouts/slideLayout8.xml" ContentType="application/vnd.openxmlformats-officedocument.presentationml.slideLayout+xml"/>
  <Override PartName="/ppt/introduction_title/slideLayouts/slideLayout9.xml" ContentType="application/vnd.openxmlformats-officedocument.presentationml.slideLayout+xml"/>
  <Override PartName="/ppt/introduction_title/slideMasters/slideMaster1.xml" ContentType="application/vnd.openxmlformats-officedocument.presentationml.slideMaster+xml"/>
  <Override PartName="/ppt/slides/slide17.xml" ContentType="application/vnd.openxmlformats-officedocument.presentationml.slide+xml"/>
  <Override PartName="/ppt/introduction_title/theme/theme1.xml" ContentType="application/vnd.openxmlformats-officedocument.theme+xml"/>
  <Override PartName="/ppt/introduction_title/theme/theme2.xml" ContentType="application/vnd.openxmlformats-officedocument.theme+xml"/>
  <Override PartName="/ppt/introduction_methodology/notesMasters/notesMaster1.xml" ContentType="application/vnd.openxmlformats-officedocument.presentationml.notesMaster+xml"/>
  <Override PartName="/ppt/introduction_methodology/notesSlides/notesSlide1.xml" ContentType="application/vnd.openxmlformats-officedocument.presentationml.notesSlide+xml"/>
  <Override PartName="/ppt/introduction_methodology/slideLayouts/slideLayout1.xml" ContentType="application/vnd.openxmlformats-officedocument.presentationml.slideLayout+xml"/>
  <Override PartName="/ppt/introduction_methodology/slideLayouts/slideLayout10.xml" ContentType="application/vnd.openxmlformats-officedocument.presentationml.slideLayout+xml"/>
  <Override PartName="/ppt/introduction_methodology/slideLayouts/slideLayout11.xml" ContentType="application/vnd.openxmlformats-officedocument.presentationml.slideLayout+xml"/>
  <Override PartName="/ppt/introduction_methodology/slideLayouts/slideLayout2.xml" ContentType="application/vnd.openxmlformats-officedocument.presentationml.slideLayout+xml"/>
  <Override PartName="/ppt/introduction_methodology/slideLayouts/slideLayout3.xml" ContentType="application/vnd.openxmlformats-officedocument.presentationml.slideLayout+xml"/>
  <Override PartName="/ppt/introduction_methodology/slideLayouts/slideLayout4.xml" ContentType="application/vnd.openxmlformats-officedocument.presentationml.slideLayout+xml"/>
  <Override PartName="/ppt/introduction_methodology/slideLayouts/slideLayout5.xml" ContentType="application/vnd.openxmlformats-officedocument.presentationml.slideLayout+xml"/>
  <Override PartName="/ppt/introduction_methodology/slideLayouts/slideLayout6.xml" ContentType="application/vnd.openxmlformats-officedocument.presentationml.slideLayout+xml"/>
  <Override PartName="/ppt/introduction_methodology/slideLayouts/slideLayout7.xml" ContentType="application/vnd.openxmlformats-officedocument.presentationml.slideLayout+xml"/>
  <Override PartName="/ppt/introduction_methodology/slideLayouts/slideLayout8.xml" ContentType="application/vnd.openxmlformats-officedocument.presentationml.slideLayout+xml"/>
  <Override PartName="/ppt/introduction_methodology/slideLayouts/slideLayout9.xml" ContentType="application/vnd.openxmlformats-officedocument.presentationml.slideLayout+xml"/>
  <Override PartName="/ppt/introduction_methodology/slideMasters/slideMaster1.xml" ContentType="application/vnd.openxmlformats-officedocument.presentationml.slideMaster+xml"/>
  <Override PartName="/ppt/slides/slide18.xml" ContentType="application/vnd.openxmlformats-officedocument.presentationml.slide+xml"/>
  <Override PartName="/ppt/introduction_methodology/theme/theme1.xml" ContentType="application/vnd.openxmlformats-officedocument.theme+xml"/>
  <Override PartName="/ppt/introduction_methodology/theme/theme2.xml" ContentType="application/vnd.openxmlformats-officedocument.theme+xml"/>
  <Override PartName="/ppt/tm_group_18/notesMasters/notesMaster1.xml" ContentType="application/vnd.openxmlformats-officedocument.presentationml.notesMaster+xml"/>
  <Override PartName="/ppt/tm_group_18/notesSlides/notesSlide1.xml" ContentType="application/vnd.openxmlformats-officedocument.presentationml.notesSlide+xml"/>
  <Override PartName="/ppt/tm_group_18/slideLayouts/slideLayout1.xml" ContentType="application/vnd.openxmlformats-officedocument.presentationml.slideLayout+xml"/>
  <Override PartName="/ppt/tm_group_18/slideLayouts/slideLayout10.xml" ContentType="application/vnd.openxmlformats-officedocument.presentationml.slideLayout+xml"/>
  <Override PartName="/ppt/tm_group_18/slideLayouts/slideLayout11.xml" ContentType="application/vnd.openxmlformats-officedocument.presentationml.slideLayout+xml"/>
  <Override PartName="/ppt/tm_group_18/slideLayouts/slideLayout2.xml" ContentType="application/vnd.openxmlformats-officedocument.presentationml.slideLayout+xml"/>
  <Override PartName="/ppt/tm_group_18/slideLayouts/slideLayout3.xml" ContentType="application/vnd.openxmlformats-officedocument.presentationml.slideLayout+xml"/>
  <Override PartName="/ppt/tm_group_18/slideLayouts/slideLayout4.xml" ContentType="application/vnd.openxmlformats-officedocument.presentationml.slideLayout+xml"/>
  <Override PartName="/ppt/tm_group_18/slideLayouts/slideLayout5.xml" ContentType="application/vnd.openxmlformats-officedocument.presentationml.slideLayout+xml"/>
  <Override PartName="/ppt/tm_group_18/slideLayouts/slideLayout6.xml" ContentType="application/vnd.openxmlformats-officedocument.presentationml.slideLayout+xml"/>
  <Override PartName="/ppt/tm_group_18/slideLayouts/slideLayout7.xml" ContentType="application/vnd.openxmlformats-officedocument.presentationml.slideLayout+xml"/>
  <Override PartName="/ppt/tm_group_18/slideLayouts/slideLayout8.xml" ContentType="application/vnd.openxmlformats-officedocument.presentationml.slideLayout+xml"/>
  <Override PartName="/ppt/tm_group_18/slideLayouts/slideLayout9.xml" ContentType="application/vnd.openxmlformats-officedocument.presentationml.slideLayout+xml"/>
  <Override PartName="/ppt/tm_group_18/slideMasters/slideMaster1.xml" ContentType="application/vnd.openxmlformats-officedocument.presentationml.slideMaster+xml"/>
  <Override PartName="/ppt/slides/slide19.xml" ContentType="application/vnd.openxmlformats-officedocument.presentationml.slide+xml"/>
  <Override PartName="/ppt/tm_group_18/theme/theme1.xml" ContentType="application/vnd.openxmlformats-officedocument.theme+xml"/>
  <Override PartName="/ppt/tm_group_18/theme/theme2.xml" ContentType="application/vnd.openxmlformats-officedocument.theme+xml"/>
  <Override PartName="/ppt/pooled_animation_1/slideMasters/slideMaster1.xml" ContentType="application/vnd.openxmlformats-officedocument.presentationml.slideMaster+xml"/>
  <Override PartName="/ppt/pooled_animation_1/slideMasters/theme/theme2.xml" ContentType="application/vnd.openxmlformats-officedocument.theme+xml"/>
  <Override PartName="/ppt/pooled_animation_1/slideLayouts/slideLayout1.xml" ContentType="application/vnd.openxmlformats-officedocument.presentationml.slideLayout+xml"/>
  <Override PartName="/ppt/pooled_animation_1/slideLayouts/slideLayout2.xml" ContentType="application/vnd.openxmlformats-officedocument.presentationml.slideLayout+xml"/>
  <Override PartName="/ppt/pooled_animation_1/slideLayouts/slideLayout3.xml" ContentType="application/vnd.openxmlformats-officedocument.presentationml.slideLayout+xml"/>
  <Override PartName="/ppt/pooled_animation_1/slideLayouts/slideLayout4.xml" ContentType="application/vnd.openxmlformats-officedocument.presentationml.slideLayout+xml"/>
  <Override PartName="/ppt/pooled_animation_1/slideLayouts/slideLayout5.xml" ContentType="application/vnd.openxmlformats-officedocument.presentationml.slideLayout+xml"/>
  <Override PartName="/ppt/pooled_animation_1/slideLayouts/slideLayout6.xml" ContentType="application/vnd.openxmlformats-officedocument.presentationml.slideLayout+xml"/>
  <Override PartName="/ppt/pooled_animation_1/notesMasters/notesMaster1.xml" ContentType="application/vnd.openxmlformats-officedocument.presentationml.notesMaster+xml"/>
  <Override PartName="/ppt/pooled_animation_1/notesMasters/theme/theme3.xml" ContentType="application/vnd.openxmlformats-officedocument.theme+xml"/>
  <Override PartName="/ppt/slides/slide20.xml" ContentType="application/vnd.openxmlformats-officedocument.presentationml.slide+xml"/>
  <Override PartName="/ppt/pooled_animation_1/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c39be36998f4062" /><Relationship Type="http://schemas.openxmlformats.org/officeDocument/2006/relationships/extended-properties" Target="/docProps/app.xml" Id="R516463cfcba64239" /><Relationship Type="http://schemas.openxmlformats.org/officeDocument/2006/relationships/officeDocument" Target="/ppt/presentation.xml" Id="Rb845e0a883174549" /></Relationships>
</file>

<file path=ppt/presentation.xml><?xml version="1.0" encoding="utf-8"?>
<p:presentation xmlns:p="http://schemas.openxmlformats.org/presentationml/2006/main" xmlns:r="http://schemas.openxmlformats.org/officeDocument/2006/relationships">
  <p:sldMasterIdLst>
    <p:sldMasterId id="2147483648" r:id="Rbee8d513bdd34e46"/>
    <p:sldMasterId r:id="rIdTMHeatmapMaster12_7" id="2147483649"/>
    <p:sldMasterId r:id="rIdTMHeatmapMaster12_9" id="2147483650"/>
    <p:sldMasterId r:id="rIdTMHeatmapMaster13_8" id="2147483651"/>
    <p:sldMasterId r:id="rIdTMHeatmapMaster14_6" id="2147483652"/>
    <p:sldMasterId r:id="rIdTMHeatmapMaster15_9" id="2147483653"/>
    <p:sldMasterId r:id="rIdTMHeatmapMaster16_6" id="2147483654"/>
    <p:sldMasterId r:id="rIdTMHeatmapMaster17_6" id="2147483655"/>
    <p:sldMasterId r:id="rIdTMHeatmapMaster18_7" id="2147483656"/>
    <p:sldMasterId r:id="rIdTMHeatmapMaster19_8" id="2147483657"/>
  </p:sldMasterIdLst>
  <p:notesMasterIdLst>
    <p:notesMasterId r:id="R1f1eea47d89740fe"/>
  </p:notesMasterIdLst>
  <p:sldIdLst>
    <p:sldId r:id="rIdTMHeatmap16" id="272"/>
    <p:sldId r:id="rIdTMHeatmap17" id="273"/>
    <p:sldId id="256" r:id="R48a67dacfa944e4c"/>
    <p:sldId r:id="rIdTMHeatmap12" id="267"/>
    <p:sldId id="258" r:id="R722aba4f33184204"/>
    <p:sldId id="259" r:id="Rc91c8b4455434433"/>
    <p:sldId id="260" r:id="R1aef52678bdb4ed3"/>
    <p:sldId id="261" r:id="Rf88950ea04ae4577"/>
    <p:sldId id="262" r:id="Ra623e9462178448c"/>
    <p:sldId id="263" r:id="R8d81eaeca9014cd3"/>
    <p:sldId id="264" r:id="R83f98f0f54fa4594"/>
    <p:sldId id="265" r:id="R7bcdf6b256894b54"/>
    <p:sldId id="266" r:id="R8967f2af909c494a"/>
    <p:sldId r:id="rIdTMHeatmap12Added" id="268"/>
    <p:sldId r:id="rIdTMHeatmap13" id="269"/>
    <p:sldId r:id="rIdTMHeatmap14" id="270"/>
    <p:sldId r:id="rIdTMHeatmap15" id="271"/>
    <p:sldId r:id="rIdTMHeatmap18" id="274"/>
    <p:sldId r:id="rIdTMHeatmap19" id="2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e5aac54aed504ead" /><Relationship Type="http://schemas.openxmlformats.org/officeDocument/2006/relationships/slideMaster" Target="/ppt/slideMasters/slideMaster1.xml" Id="Rbee8d513bdd34e46" /><Relationship Type="http://schemas.openxmlformats.org/officeDocument/2006/relationships/notesMaster" Target="/ppt/notesMasters/notesMaster1.xml" Id="R1f1eea47d89740fe" /><Relationship Type="http://schemas.openxmlformats.org/officeDocument/2006/relationships/presProps" Target="/ppt/presProps.xml" Id="R53ccfd305fd9413d" /><Relationship Type="http://schemas.openxmlformats.org/officeDocument/2006/relationships/tableStyles" Target="/ppt/tableStyles.xml" Id="Rdc5d44a522b2414f" /><Relationship Type="http://schemas.openxmlformats.org/officeDocument/2006/relationships/slide" Target="/ppt/slides/slide1.xml" Id="R48a67dacfa944e4c" /><Relationship Type="http://schemas.openxmlformats.org/officeDocument/2006/relationships/slide" Target="/ppt/slides/slide2.xml" Id="R2411da722d184d3c" /><Relationship Type="http://schemas.openxmlformats.org/officeDocument/2006/relationships/slide" Target="/ppt/slides/slide3.xml" Id="R722aba4f33184204" /><Relationship Type="http://schemas.openxmlformats.org/officeDocument/2006/relationships/slide" Target="/ppt/slides/slide4.xml" Id="Rc91c8b4455434433" /><Relationship Type="http://schemas.openxmlformats.org/officeDocument/2006/relationships/slide" Target="/ppt/slides/slide5.xml" Id="R1aef52678bdb4ed3" /><Relationship Type="http://schemas.openxmlformats.org/officeDocument/2006/relationships/slide" Target="/ppt/slides/slide6.xml" Id="Rf88950ea04ae4577" /><Relationship Type="http://schemas.openxmlformats.org/officeDocument/2006/relationships/slide" Target="/ppt/slides/slide7.xml" Id="Ra623e9462178448c" /><Relationship Type="http://schemas.openxmlformats.org/officeDocument/2006/relationships/slide" Target="/ppt/slides/slide8.xml" Id="R8d81eaeca9014cd3" /><Relationship Type="http://schemas.openxmlformats.org/officeDocument/2006/relationships/slide" Target="/ppt/slides/slide9.xml" Id="R83f98f0f54fa4594" /><Relationship Type="http://schemas.openxmlformats.org/officeDocument/2006/relationships/slide" Target="/ppt/slides/slide10.xml" Id="R7bcdf6b256894b54" /><Relationship Type="http://schemas.openxmlformats.org/officeDocument/2006/relationships/slide" Target="/ppt/slides/slide11.xml" Id="R8967f2af909c494a" /><Relationship Id="rIdTMHeatmap12" Type="http://schemas.openxmlformats.org/officeDocument/2006/relationships/slide" Target="slides/slide12.xml" /><Relationship Id="rIdTMHeatmapMaster12_7" Type="http://schemas.openxmlformats.org/officeDocument/2006/relationships/slideMaster" Target="domain_variance/slideMasters/slideMaster1.xml" /><Relationship Id="rIdTMHeatmap12Added" Type="http://schemas.openxmlformats.org/officeDocument/2006/relationships/slide" Target="slides/slide13.xml" /><Relationship Id="rIdTMHeatmapMaster12_9" Type="http://schemas.openxmlformats.org/officeDocument/2006/relationships/slideMaster" Target="workflow_addition_12_workflow-pptx-rk60sles/slideMasters/slideMaster1.xml" /><Relationship Id="rIdTMHeatmap13" Type="http://schemas.openxmlformats.org/officeDocument/2006/relationships/slide" Target="slides/slide14.xml" /><Relationship Id="rIdTMHeatmapMaster13_8" Type="http://schemas.openxmlformats.org/officeDocument/2006/relationships/slideMaster" Target="workflow_addition_13_workflow-pptx-rk60sles/slideMasters/slideMaster1.xml" /><Relationship Id="rIdTMHeatmap14" Type="http://schemas.openxmlformats.org/officeDocument/2006/relationships/slide" Target="slides/slide15.xml" /><Relationship Id="rIdTMHeatmapMaster14_6" Type="http://schemas.openxmlformats.org/officeDocument/2006/relationships/slideMaster" Target="tm_heatmap/slideMasters/slideMaster1.xml" /><Relationship Id="rIdTMHeatmap15" Type="http://schemas.openxmlformats.org/officeDocument/2006/relationships/slide" Target="slides/slide16.xml" /><Relationship Id="rIdTMHeatmapMaster15_9" Type="http://schemas.openxmlformats.org/officeDocument/2006/relationships/slideMaster" Target="workflow_addition_15_workflow-pptx-zizg80ro/slideMasters/slideMaster1.xml" /><Relationship Id="rIdTMHeatmap16" Type="http://schemas.openxmlformats.org/officeDocument/2006/relationships/slide" Target="slides/slide17.xml" /><Relationship Id="rIdTMHeatmapMaster16_6" Type="http://schemas.openxmlformats.org/officeDocument/2006/relationships/slideMaster" Target="introduction_title/slideMasters/slideMaster1.xml" /><Relationship Id="rIdTMHeatmap17" Type="http://schemas.openxmlformats.org/officeDocument/2006/relationships/slide" Target="slides/slide18.xml" /><Relationship Id="rIdTMHeatmapMaster17_6" Type="http://schemas.openxmlformats.org/officeDocument/2006/relationships/slideMaster" Target="introduction_methodology/slideMasters/slideMaster1.xml" /><Relationship Id="rIdTMHeatmap18" Type="http://schemas.openxmlformats.org/officeDocument/2006/relationships/slide" Target="slides/slide19.xml" /><Relationship Id="rIdTMHeatmapMaster18_7" Type="http://schemas.openxmlformats.org/officeDocument/2006/relationships/slideMaster" Target="tm_group_18/slideMasters/slideMaster1.xml" /><Relationship Id="rIdTMHeatmap19" Type="http://schemas.openxmlformats.org/officeDocument/2006/relationships/slide" Target="slides/slide20.xml" /><Relationship Id="rIdTMHeatmapMaster19_8" Type="http://schemas.openxmlformats.org/officeDocument/2006/relationships/slideMaster" Target="pooled_animation_1/slideMasters/slideMaster1.xml" /></Relationships>
</file>

<file path=ppt/domain_variance/notesMasters/_rels/notesMaster1.xml.rels><?xml version='1.0' encoding='utf-8'?>
<Relationships xmlns="http://schemas.openxmlformats.org/package/2006/relationships"><Relationship Type="http://schemas.openxmlformats.org/officeDocument/2006/relationships/theme" Target="theme/theme3.xml" Id="Rd512daa8dccb4730" /></Relationships>
</file>

<file path=ppt/domain_variance/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domain_variance/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domain_variance/notesSlides/_rels/notesSlide1.xml.rels><?xml version='1.0' encoding='utf-8'?>
<Relationships xmlns="http://schemas.openxmlformats.org/package/2006/relationships"><Relationship Type="http://schemas.openxmlformats.org/officeDocument/2006/relationships/slide" Target="../../slides/slide12.xml" Id="R4dda9308c1ea4cc9" /><Relationship Type="http://schemas.openxmlformats.org/officeDocument/2006/relationships/notesMaster" Target="../notesMasters/notesMaster1.xml" Id="Ra632fb2bb5b745b1" /></Relationships>
</file>

<file path=ppt/domain_variance/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CmR116_bmr17022_largest_child</a:t>
            </a:r>
          </a:p>
          <a:p xmlns:a="http://schemas.openxmlformats.org/drawingml/2006/main">
            <a:r>
              <a:t>Source figure: annotated variance evidence</a:t>
            </a:r>
          </a:p>
          <a:p xmlns:a="http://schemas.openxmlformats.org/drawingml/2006/main">
            <a:r>
              <a:t>Figure 2. Variance of Cα distances between shared residues across the model ensemble. Colored outlines and membership strips delineate the detected rigid cores, including discontinuous sequence segments.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domain_variance/slideLayouts/_rels/slideLayout1.xml.rels><?xml version='1.0' encoding='utf-8'?>
<Relationships xmlns="http://schemas.openxmlformats.org/package/2006/relationships"><Relationship Type="http://schemas.openxmlformats.org/officeDocument/2006/relationships/slideMaster" Target="../slideMasters/slideMaster1.xml" Id="R38e65dba0d07422d" /></Relationships>
</file>

<file path=ppt/domain_variance/slideLayouts/_rels/slideLayout2.xml.rels><?xml version='1.0' encoding='utf-8'?>
<Relationships xmlns="http://schemas.openxmlformats.org/package/2006/relationships"><Relationship Type="http://schemas.openxmlformats.org/officeDocument/2006/relationships/slideMaster" Target="../slideMasters/slideMaster1.xml" Id="Rc75c7bd11589498a" /></Relationships>
</file>

<file path=ppt/domain_variance/slideLayouts/_rels/slideLayout3.xml.rels><?xml version='1.0' encoding='utf-8'?>
<Relationships xmlns="http://schemas.openxmlformats.org/package/2006/relationships"><Relationship Type="http://schemas.openxmlformats.org/officeDocument/2006/relationships/slideMaster" Target="../slideMasters/slideMaster1.xml" Id="Rf93852147a3443de" /></Relationships>
</file>

<file path=ppt/domain_variance/slideLayouts/_rels/slideLayout4.xml.rels><?xml version='1.0' encoding='utf-8'?>
<Relationships xmlns="http://schemas.openxmlformats.org/package/2006/relationships"><Relationship Type="http://schemas.openxmlformats.org/officeDocument/2006/relationships/slideMaster" Target="../slideMasters/slideMaster1.xml" Id="R4185955a4f1f4fe0" /></Relationships>
</file>

<file path=ppt/domain_variance/slideLayouts/_rels/slideLayout5.xml.rels><?xml version='1.0' encoding='utf-8'?>
<Relationships xmlns="http://schemas.openxmlformats.org/package/2006/relationships"><Relationship Type="http://schemas.openxmlformats.org/officeDocument/2006/relationships/slideMaster" Target="../slideMasters/slideMaster1.xml" Id="Rd25efa7d81bd4ccb" /></Relationships>
</file>

<file path=ppt/domain_variance/slideLayouts/_rels/slideLayout6.xml.rels><?xml version='1.0' encoding='utf-8'?>
<Relationships xmlns="http://schemas.openxmlformats.org/package/2006/relationships"><Relationship Type="http://schemas.openxmlformats.org/officeDocument/2006/relationships/slideMaster" Target="../slideMasters/slideMaster1.xml" Id="R5588904354274468" /></Relationships>
</file>

<file path=ppt/domain_variance/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95A620-5319-4C23-BA2C-90E3FE948B7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D61178C-74B3-44F0-9059-FC2D4C40C00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domain_variance/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1A9702A-4AD1-4CCB-B00A-713718FB372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domain_variance/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965463-F2A7-49CA-9931-BA43AB1CDF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852C795-8E5C-498A-B9F4-5D96BD529AD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domain_variance/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5D11BA4-6A08-44F6-84EC-16191F0BF4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2BFD3E-3FD2-4A8E-B42C-8716314F7AB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2DF5847-336F-4E72-B88C-BF752FF44DE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domain_variance/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05B129-962E-4C06-A170-2C3B3C4996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D781603-12E7-4626-97DC-67919CC6D50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domain_variance/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domain_variance/slideMasters/_rels/slideMaster1.xml.rels><?xml version='1.0' encoding='utf-8'?>
<Relationships xmlns="http://schemas.openxmlformats.org/package/2006/relationships"><Relationship Type="http://schemas.openxmlformats.org/officeDocument/2006/relationships/theme" Target="theme/theme2.xml" Id="R066225a2b10d4cec" /><Relationship Type="http://schemas.openxmlformats.org/officeDocument/2006/relationships/slideLayout" Target="../slideLayouts/slideLayout1.xml" Id="R132d119c560a40c5" /><Relationship Type="http://schemas.openxmlformats.org/officeDocument/2006/relationships/slideLayout" Target="../slideLayouts/slideLayout2.xml" Id="R0d7f3d2aec794dc2" /><Relationship Type="http://schemas.openxmlformats.org/officeDocument/2006/relationships/slideLayout" Target="../slideLayouts/slideLayout3.xml" Id="R22b90eec96be4b31" /><Relationship Type="http://schemas.openxmlformats.org/officeDocument/2006/relationships/slideLayout" Target="../slideLayouts/slideLayout4.xml" Id="R255ed617bcd74d3a" /><Relationship Type="http://schemas.openxmlformats.org/officeDocument/2006/relationships/slideLayout" Target="../slideLayouts/slideLayout5.xml" Id="Rad331b16b9754309" /><Relationship Type="http://schemas.openxmlformats.org/officeDocument/2006/relationships/slideLayout" Target="../slideLayouts/slideLayout6.xml" Id="R8c919a63948b40b0" /></Relationships>
</file>

<file path=ppt/domain_variance/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2d119c560a40c5"/>
    <p:sldLayoutId xmlns:r="http://schemas.openxmlformats.org/officeDocument/2006/relationships" id="2147483650" r:id="R0d7f3d2aec794dc2"/>
    <p:sldLayoutId xmlns:r="http://schemas.openxmlformats.org/officeDocument/2006/relationships" id="2147483651" r:id="R22b90eec96be4b31"/>
    <p:sldLayoutId xmlns:r="http://schemas.openxmlformats.org/officeDocument/2006/relationships" id="2147483652" r:id="R255ed617bcd74d3a"/>
    <p:sldLayoutId xmlns:r="http://schemas.openxmlformats.org/officeDocument/2006/relationships" id="2147483653" r:id="Rad331b16b9754309"/>
    <p:sldLayoutId xmlns:r="http://schemas.openxmlformats.org/officeDocument/2006/relationships" id="2147483654" r:id="R8c919a63948b40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domain_variance/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introduction_methodology/notesMasters/_rels/notesMaster1.xml.rels><?xml version='1.0' encoding='utf-8'?>
<Relationships xmlns="http://schemas.openxmlformats.org/package/2006/relationships"><Relationship Id="rId1" Type="http://schemas.openxmlformats.org/officeDocument/2006/relationships/theme" Target="../theme/theme2.xml" /></Relationships>
</file>

<file path=ppt/introduction_methodology/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introduction_methodology/notesSlides/_rels/notesSlide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8.xml" /></Relationships>
</file>

<file path=ppt/introduction_methodology/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"CmR116 bmr17022 largest child", "comparison": "AFCluster vs AFSample2 vs AFSample3 vs BioEMU vs MD", "sampling_provenance": {"methods": {"AFCluster": 41, "AFSample2": 313, "AFSample3": 928, "BioEMU": 1940, "MD": 995}, "unassigned_or_reference_count": 4452, "source": "Exact clustering membership and configured model_origin rules"}, "sections": [{"title": "Sampling methods analyzed", "x": 48, "y": 88, "lines": [[["AFCluster", null], [": 41 analyzed models.", null]], [["AFSample2", "https://github.com/wallnerlab/AFsample2"], [": 313 analyzed models.", null]], [["AFSample3", "https://github.com/wallnerlab/afsample3/tree/507e8fd492379cb3996d1ba2e04794e8ce2191df"], [": 928 analyzed models.", null]], [["BioEMU", "https://github.com/microsoft/bioemu"], [": 1,940 analyzed models.", null]], [["MD", null], [": 995 analyzed models.", null]]]}, {"title": "Shared structural feature input", "x": 48, "y": 267, "lines": [[["Align sequences; retain residue positions shared", null]], [["by all models. For each structure, calculate the", null]], [["Cα–Cα distance matrix and flatten its upper", null]], [["triangle, excluding the diagonal: R(R−1)/2 values.", null]], [["Screen terminal variance; remove flagged rows/columns.", null]], [["Keep ≥75% of each chain; chains ≤15 residues stay intact.", null]]]}, {"title": "Two-dimensional projections", "x": 48, "y": 446, "lines": [[["PCA: scikit-learn 1.7.1", "https://scikit-learn.org/stable/modules/generated/sklearn.decomposition.PCA.html"], ["; centered SVD.", null]], [["t-SNE: scikit-learn 1.7.1", "https://scikit-learn.org/stable/modules/generated/sklearn.manifold.TSNE.html"], ["; Barnes–Hut,", null]], [["perplexity 30; the workflow uses Python t-SNE.", null]], [["UMAP: umap-learn 0.5.11", "https://github.com/lmcinnes/umap"], ["; neighbors 15,", null]], [["min_dist 0.1; Euclidean distance. Random seed 42.", null]]]}, {"title": "Clusters and displayed representatives", "x": 664, "y": 88, "lines": [[["Preserve UMAP components; seeds 42/7/123.", null]], [["Ward splits: feature silhouette ≥0.15; ARI ≥0.80.", null]], [["Show up to 5 AFSample3 models per cluster", null]], [["by mean pLDDT. BioEMU has no confidence scores", null]], [["and is excluded from representative selection.", null]], [["Both BioEMU filter groups remain in clustering.", null]]]}, {"title": "Medoid TM-similarity grid", "x": 664, "y": 267, "lines": [[["Among the displayed models in each cluster, the", null]], [["medoid minimizes mean pairwise aligned Cα RMSD", null]], [["over shared, chain-corresponded residues.", null]], [["US-align", "https://github.com/pylelab/USalign"], [" scores each medoid pair in both directions;", null]], [["average-length normalization and directional mean", null]], [["give a symmetric grid (0–1; higher is more similar).", null]]]}, {"title": "Bonsai of the selected ensembles", "x": 664, "y": 446, "lines": [[["Bonsai / Bonsai Scout", "https://github.com/dhdegroot/Bonsai-data-representation/tree/b16ef6f0a164610327022c7d0b92de82b3596aad"], [": native engine b16ef6f.", null]], [["11 representatives; 10 nonzero PCA axes.", null]], [["Variance scaling off; tree paths encode distance.", null]], [["Native edge cuts select 2 groups by silhouette.", null]], [["B labels apply only to selected representatives.", null]], [["Circular views and dendrogram; root is arbitrary.", null]]]}], "references": [["PCA / scikit-learn: Pedregosa et al., 2011", "https://jmlr.org/papers/v12/pedregosa11a.html"], ["t-SNE: van der Maaten &amp; Hinton, 2008", "https://www.jmlr.org/papers/v9/vandermaaten08a.html"], ["UMAP: McInnes, Healy &amp; Melville, 2018", "https://arxiv.org/abs/1802.03426"]], "dataset_scope": "Only nine confidence-producing methods are ranked; BioEMU/BioEMU2 remain in every structural analysis. Unscored-only clusters retain their structural medoid.", "bonsai_source": " (native engine b16ef6f)", "bonsai_url": "https://github.com/dhdegroot/Bonsai-data-representation/tree/b16ef6f0a164610327022c7d0b92de82b3596aad"}</a:t>
            </a:r>
          </a:p>
        </p:txBody>
      </p:sp>
      <p:sp>
        <p:nvSpPr>
          <p:cNvPr id="4" name="Slide Number Placeholder 3"/>
          <p:cNvSpPr>
            <a:spLocks noGrp="1"/>
          </p:cNvSpPr>
          <p:nvPr>
            <p:ph type="sldNum" idx="5" sz="quarter"/>
          </p:nvPr>
        </p:nvSpPr>
        <p:spPr/>
      </p:sp>
    </p:spTree>
  </p:cSld>
  <p:clrMapOvr>
    <a:masterClrMapping/>
  </p:clrMapOvr>
</p:notes>
</file>

<file path=ppt/introduction_methodology/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introduction_methodology/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introduction_methodology/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introduction_methodology/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introduction_methodology/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introduction_methodology/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introduction_methodology/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introduction_methodology/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introduction_methodology/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introduction_methodology/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introduction_methodology/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introduction_methodology/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introduction_methodology/slideMasters/_rels/slideMaster1.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s>
</file>

<file path=ppt/introduction_methodology/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introduction_methodology/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introduction_methodology/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introduction_title/notesMasters/_rels/notesMaster1.xml.rels><?xml version='1.0' encoding='utf-8'?>
<Relationships xmlns="http://schemas.openxmlformats.org/package/2006/relationships"><Relationship Id="rId1" Type="http://schemas.openxmlformats.org/officeDocument/2006/relationships/theme" Target="../theme/theme2.xml" /></Relationships>
</file>

<file path=ppt/introduction_title/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introduction_title/notesSlides/_rels/notesSlide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7.xml" /></Relationships>
</file>

<file path=ppt/introduction_title/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"CmR116 bmr17022 largest child", "comparison": "AFCluster vs AFSample2 vs AFSample3 vs BioEMU vs MD", "sampling_provenance": {"methods": {"AFCluster": 41, "AFSample2": 313, "AFSample3": 928, "BioEMU": 1940, "MD": 995}, "unassigned_or_reference_count": 4452, "source": "Exact clustering membership and configured model_origin rules"}, "sections": [{"title": "Sampling methods analyzed", "x": 48, "y": 88, "lines": [[["AFCluster", null], [": 41 analyzed models.", null]], [["AFSample2", "https://github.com/wallnerlab/AFsample2"], [": 313 analyzed models.", null]], [["AFSample3", "https://github.com/wallnerlab/afsample3/tree/507e8fd492379cb3996d1ba2e04794e8ce2191df"], [": 928 analyzed models.", null]], [["BioEMU", "https://github.com/microsoft/bioemu"], [": 1,940 analyzed models.", null]], [["MD", null], [": 995 analyzed models.", null]]]}, {"title": "Shared structural feature input", "x": 48, "y": 267, "lines": [[["Align sequences; retain residue positions shared", null]], [["by all models. For each structure, calculate the", null]], [["Cα–Cα distance matrix and flatten its upper", null]], [["triangle, excluding the diagonal: R(R−1)/2 values.", null]], [["Screen terminal variance; remove flagged rows/columns.", null]], [["Keep ≥75% of each chain; chains ≤15 residues stay intact.", null]]]}, {"title": "Two-dimensional projections", "x": 48, "y": 446, "lines": [[["PCA: scikit-learn 1.7.1", "https://scikit-learn.org/stable/modules/generated/sklearn.decomposition.PCA.html"], ["; centered SVD.", null]], [["t-SNE: scikit-learn 1.7.1", "https://scikit-learn.org/stable/modules/generated/sklearn.manifold.TSNE.html"], ["; Barnes–Hut,", null]], [["perplexity 30; the workflow uses Python t-SNE.", null]], [["UMAP: umap-learn 0.5.11", "https://github.com/lmcinnes/umap"], ["; neighbors 15,", null]], [["min_dist 0.1; Euclidean distance. Random seed 42.", null]]]}, {"title": "Clusters and displayed representatives", "x": 664, "y": 88, "lines": [[["Preserve UMAP components; seeds 42/7/123.", null]], [["Ward splits: feature silhouette ≥0.15; ARI ≥0.80.", null]], [["Show up to 5 AFSample3 models per cluster", null]], [["by mean pLDDT. BioEMU has no confidence scores", null]], [["and is excluded from representative selection.", null]], [["Both BioEMU filter groups remain in clustering.", null]]]}, {"title": "Medoid TM-similarity grid", "x": 664, "y": 267, "lines": [[["Among the displayed models in each cluster, the", null]], [["medoid minimizes mean pairwise aligned Cα RMSD", null]], [["over shared, chain-corresponded residues.", null]], [["US-align", "https://github.com/pylelab/USalign"], [" scores each medoid pair in both directions;", null]], [["average-length normalization and directional mean", null]], [["give a symmetric grid (0–1; higher is more similar).", null]]]}, {"title": "Bonsai of the selected ensembles", "x": 664, "y": 446, "lines": [[["Bonsai / Bonsai Scout", "https://github.com/dhdegroot/Bonsai-data-representation/tree/b16ef6f0a164610327022c7d0b92de82b3596aad"], [": native engine b16ef6f.", null]], [["11 representatives; 10 nonzero PCA axes.", null]], [["Variance scaling off; tree paths encode distance.", null]], [["Native edge cuts select 2 groups by silhouette.", null]], [["B labels apply only to selected representatives.", null]], [["Circular views and dendrogram; root is arbitrary.", null]]]}], "references": [["PCA / scikit-learn: Pedregosa et al., 2011", "https://jmlr.org/papers/v12/pedregosa11a.html"], ["t-SNE: van der Maaten &amp; Hinton, 2008", "https://www.jmlr.org/papers/v9/vandermaaten08a.html"], ["UMAP: McInnes, Healy &amp; Melville, 2018", "https://arxiv.org/abs/1802.03426"]], "dataset_scope": "Only nine confidence-producing methods are ranked; BioEMU/BioEMU2 remain in every structural analysis. Unscored-only clusters retain their structural medoid.", "bonsai_source": " (native engine b16ef6f)", "bonsai_url": "https://github.com/dhdegroot/Bonsai-data-representation/tree/b16ef6f0a164610327022c7d0b92de82b3596aad"}</a:t>
            </a:r>
          </a:p>
        </p:txBody>
      </p:sp>
      <p:sp>
        <p:nvSpPr>
          <p:cNvPr id="4" name="Slide Number Placeholder 3"/>
          <p:cNvSpPr>
            <a:spLocks noGrp="1"/>
          </p:cNvSpPr>
          <p:nvPr>
            <p:ph type="sldNum" idx="5" sz="quarter"/>
          </p:nvPr>
        </p:nvSpPr>
        <p:spPr/>
      </p:sp>
    </p:spTree>
  </p:cSld>
  <p:clrMapOvr>
    <a:masterClrMapping/>
  </p:clrMapOvr>
</p:notes>
</file>

<file path=ppt/introduction_title/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introduction_title/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introduction_title/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introduction_title/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introduction_title/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introduction_title/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introduction_title/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introduction_title/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introduction_title/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introduction_title/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introduction_title/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introduction_title/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introduction_title/slideMasters/_rels/slideMaster1.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s>
</file>

<file path=ppt/introduction_title/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introduction_title/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introduction_title/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notesMasters/_rels/notesMaster1.xml.rels>&#65279;<?xml version="1.0" encoding="utf-8"?><Relationships xmlns="http://schemas.openxmlformats.org/package/2006/relationships"><Relationship Type="http://schemas.openxmlformats.org/officeDocument/2006/relationships/theme" Target="/ppt/notesMasters/theme/theme3.xml" Id="Re42c45ca4f5d4d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6293a0bd6f4cdc" /><Relationship Type="http://schemas.openxmlformats.org/officeDocument/2006/relationships/notesMaster" Target="/ppt/notesMasters/notesMaster1.xml" Id="R552a1a010bad40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b66554b3854fe8" /><Relationship Type="http://schemas.openxmlformats.org/officeDocument/2006/relationships/notesMaster" Target="/ppt/notesMasters/notesMaster1.xml" Id="Rc3bb77d6bdd24a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73d451f7b94fca" /><Relationship Type="http://schemas.openxmlformats.org/officeDocument/2006/relationships/notesMaster" Target="/ppt/notesMasters/notesMaster1.xml" Id="R669902d5a4d047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7eee4ca4794df1" /><Relationship Type="http://schemas.openxmlformats.org/officeDocument/2006/relationships/notesMaster" Target="/ppt/notesMasters/notesMaster1.xml" Id="R7ec919f8f8914d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1b8c371f5e4dbb" /><Relationship Type="http://schemas.openxmlformats.org/officeDocument/2006/relationships/notesMaster" Target="/ppt/notesMasters/notesMaster1.xml" Id="Rcd916cfafef04c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f01e27dcd524a8a" /><Relationship Type="http://schemas.openxmlformats.org/officeDocument/2006/relationships/notesMaster" Target="/ppt/notesMasters/notesMaster1.xml" Id="R70ba899478144b2a"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02aa76804f4eb0" /><Relationship Type="http://schemas.openxmlformats.org/officeDocument/2006/relationships/notesMaster" Target="/ppt/notesMasters/notesMaster1.xml" Id="R1b170aa030c94e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9de582fa444c88" /><Relationship Type="http://schemas.openxmlformats.org/officeDocument/2006/relationships/notesMaster" Target="/ppt/notesMasters/notesMaster1.xml" Id="R0a7895d23c67480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41dab76ccd640fa" /><Relationship Type="http://schemas.openxmlformats.org/officeDocument/2006/relationships/notesMaster" Target="/ppt/notesMasters/notesMaster1.xml" Id="Ra408b9791a0544f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063d881a18f43d5" /><Relationship Type="http://schemas.openxmlformats.org/officeDocument/2006/relationships/notesMaster" Target="/ppt/notesMasters/notesMaster1.xml" Id="Re030730ec2f046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59f10323be9483d" /><Relationship Type="http://schemas.openxmlformats.org/officeDocument/2006/relationships/notesMaster" Target="/ppt/notesMasters/notesMaster1.xml" Id="R2dee698a738f4a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CmR116_bmr17022_largest_child</a:t>
            </a:r>
          </a:p>
          <a:p xmlns:a="http://schemas.openxmlformats.org/drawingml/2006/main">
            <a:r>
              <a:t>Source figure: visualize_distogram/median_matrix.png</a:t>
            </a:r>
          </a:p>
          <a:p xmlns:a="http://schemas.openxmlformats.org/drawingml/2006/main">
            <a:r>
              <a:t>Figure 1. Median Cα distance between shared residues across the model ensemble.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CmR116_bmr17022_largest_child</a:t>
            </a:r>
          </a:p>
          <a:p xmlns:a="http://schemas.openxmlformats.org/drawingml/2006/main">
            <a:r>
              <a:t>Source figure: visualize_distogram/variance_matrix.png</a:t>
            </a:r>
          </a:p>
          <a:p xmlns:a="http://schemas.openxmlformats.org/drawingml/2006/main">
            <a:r>
              <a:t>Figure 2. Variance of Cα distances between shared residues across the model ensemble.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CmR116_bmr17022_largest_child</ns1:t>
            </ns1:r>
          </ns1:p>
          <ns1:p>
            <ns1:r>
              <ns1:t>Confidence panels: [{"scheme_key":"db_mean_plddt","scheme_name":"&lt;pLDDT&gt;","image":"[private source path] &lt;pLDDT&gt;","width":1134,"height":1000},{"scheme_key":"db_ptm","scheme_name":"pTM","image":"[private source path] pTM","width":1142,"height":1000}]</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CmR116_bmr17022_largest_child</a:t>
            </a:r>
          </a:p>
          <a:p xmlns:a="http://schemas.openxmlformats.org/drawingml/2006/main">
            <a:r>
              <a:t>Source figure: clustering/pca/pca_dbcat_ais_method_ae4ac7fd.png</a:t>
            </a:r>
          </a:p>
          <a:p xmlns:a="http://schemas.openxmlformats.org/drawingml/2006/main">
            <a:r>
              <a:t>Figure 4. PCA embedding of shared-residue distograms, colored by AIS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CmR116_bmr17022_largest_child</ns1:t>
            </ns1:r>
          </ns1:p>
          <ns1:p>
            <ns1:r>
              <ns1:t>Confidence panels: [{"scheme_key":"workflow_umap_knn_clusters","scheme_name":"Child clusters within Cluster 1","image":"[private source path] Cluster labels","width":1895,"height":1119},{"scheme_key":"config::model_origin","scheme_name":"Model Origin","image":"[private source path] Model types","width":1757,"height":1119,"model_type_gif":"[private source path]</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6.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CmR116_bmr17022_largest_child</ns1:t>
            </ns1:r>
          </ns1:p>
          <ns1:p>
            <ns1:r>
              <ns1:t>Confidence panels: [{"scheme_key":"db_mean_plddt","scheme_name":"&lt;pLDDT&gt;","image":"[private source path] &lt;pLDDT&gt;","width":1090,"height":1000},{"scheme_key":"db_ptm","scheme_name":"pTM","image":"[private source path] pTM","width":1098,"height":1000}]</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CmR116_bmr17022_largest_child</a:t>
            </a:r>
          </a:p>
          <a:p xmlns:a="http://schemas.openxmlformats.org/drawingml/2006/main">
            <a:r>
              <a:t>Source figure: clustering/umap/umap_dbcat_ais_method_ae4ac7fd.png</a:t>
            </a:r>
          </a:p>
          <a:p xmlns:a="http://schemas.openxmlformats.org/drawingml/2006/main">
            <a:r>
              <a:t>Figure 7. UMAP embedding of shared-residue distograms, colored by AIS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CmR116_bmr17022_largest_child</ns1:t>
            </ns1:r>
          </ns1:p>
          <ns1:p>
            <ns1:r>
              <ns1:t>Confidence panels: [{"scheme_key":"workflow_umap_knn_clusters","scheme_name":"Child clusters within Cluster 1","image":"[private source path] Cluster labels","width":1858,"height":1119},{"scheme_key":"config::model_origin","scheme_name":"Model Origin","image":"[private source path] Model types","width":1720,"height":1119,"model_type_gif":"[private source path]</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9.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CmR116_bmr17022_largest_child</ns1:t>
            </ns1:r>
          </ns1:p>
          <ns1:p>
            <ns1:r>
              <ns1:t>Confidence panels: [{"scheme_key":"db_mean_plddt","scheme_name":"&lt;pLDDT&gt;","image":"[private source path] &lt;pLDDT&gt;","width":1115,"height":1000},{"scheme_key":"db_ptm","scheme_name":"pTM","image":"[private source path] pTM","width":1123,"height":1000}]</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CmR116_bmr17022_largest_child</a:t>
            </a:r>
          </a:p>
          <a:p xmlns:a="http://schemas.openxmlformats.org/drawingml/2006/main">
            <a:r>
              <a:t>Source figure: clustering/tsne/tsne_dbcat_ais_method_ae4ac7fd.png</a:t>
            </a:r>
          </a:p>
          <a:p xmlns:a="http://schemas.openxmlformats.org/drawingml/2006/main">
            <a:r>
              <a:t>Figure 10. t-SNE embedding of shared-residue distograms, colored by AIS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CmR116_bmr17022_largest_child</ns1:t>
            </ns1:r>
          </ns1:p>
          <ns1:p>
            <ns1:r>
              <ns1:t>Confidence panels: [{"scheme_key":"workflow_umap_knn_clusters","scheme_name":"Child clusters within Cluster 1","image":"[private source path] Cluster labels","width":1879,"height":1119},{"scheme_key":"config::model_origin","scheme_name":"Model Origin","image":"[private source path] Model types","width":1741,"height":1119,"model_type_gif":"[private source path]</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pooled_animation_1/notesMasters/_rels/notesMaster1.xml.rels><?xml version='1.0' encoding='utf-8'?>
<Relationships xmlns="http://schemas.openxmlformats.org/package/2006/relationships"><Relationship Type="http://schemas.openxmlformats.org/officeDocument/2006/relationships/theme" Target="theme/theme3.xml" Id="Rec5eda6708bf432c" /></Relationships>
</file>

<file path=ppt/pooled_animation_1/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pooled_animation_1/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pooled_animation_1/notesSlides/_rels/notesSlide1.xml.rels><?xml version='1.0' encoding='utf-8'?>
<Relationships xmlns="http://schemas.openxmlformats.org/package/2006/relationships"><Relationship Type="http://schemas.openxmlformats.org/officeDocument/2006/relationships/slide" Target="../../slides/slide20.xml" Id="Rd556605fad3449c7" /><Relationship Type="http://schemas.openxmlformats.org/officeDocument/2006/relationships/notesMaster" Target="../notesMasters/notesMaster1.xml" Id="Rdcdc738ea61c40d8" /></Relationships>
</file>

<file path=ppt/pooled_animation_1/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{"source_slide":18,"panels":[{"alt":"Pooled group 1 | whole_structure","gif":"[private source path] C-alpha RMSD; no additional fitting","metric_scope":"whole structure","input_order_cost":10.361074553876712}]}</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pooled_animation_1/slideLayouts/_rels/slideLayout1.xml.rels><?xml version='1.0' encoding='utf-8'?>
<Relationships xmlns="http://schemas.openxmlformats.org/package/2006/relationships"><Relationship Type="http://schemas.openxmlformats.org/officeDocument/2006/relationships/slideMaster" Target="../slideMasters/slideMaster1.xml" Id="Rd1e7a32761844345" /></Relationships>
</file>

<file path=ppt/pooled_animation_1/slideLayouts/_rels/slideLayout2.xml.rels><?xml version='1.0' encoding='utf-8'?>
<Relationships xmlns="http://schemas.openxmlformats.org/package/2006/relationships"><Relationship Type="http://schemas.openxmlformats.org/officeDocument/2006/relationships/slideMaster" Target="../slideMasters/slideMaster1.xml" Id="Re1e3a21d8b574a93" /></Relationships>
</file>

<file path=ppt/pooled_animation_1/slideLayouts/_rels/slideLayout3.xml.rels><?xml version='1.0' encoding='utf-8'?>
<Relationships xmlns="http://schemas.openxmlformats.org/package/2006/relationships"><Relationship Type="http://schemas.openxmlformats.org/officeDocument/2006/relationships/slideMaster" Target="../slideMasters/slideMaster1.xml" Id="R0ca062f530b048d6" /></Relationships>
</file>

<file path=ppt/pooled_animation_1/slideLayouts/_rels/slideLayout4.xml.rels><?xml version='1.0' encoding='utf-8'?>
<Relationships xmlns="http://schemas.openxmlformats.org/package/2006/relationships"><Relationship Type="http://schemas.openxmlformats.org/officeDocument/2006/relationships/slideMaster" Target="../slideMasters/slideMaster1.xml" Id="R0ada414d97e94bb3" /></Relationships>
</file>

<file path=ppt/pooled_animation_1/slideLayouts/_rels/slideLayout5.xml.rels><?xml version='1.0' encoding='utf-8'?>
<Relationships xmlns="http://schemas.openxmlformats.org/package/2006/relationships"><Relationship Type="http://schemas.openxmlformats.org/officeDocument/2006/relationships/slideMaster" Target="../slideMasters/slideMaster1.xml" Id="R2eeecfe535ed434d" /></Relationships>
</file>

<file path=ppt/pooled_animation_1/slideLayouts/_rels/slideLayout6.xml.rels><?xml version='1.0' encoding='utf-8'?>
<Relationships xmlns="http://schemas.openxmlformats.org/package/2006/relationships"><Relationship Type="http://schemas.openxmlformats.org/officeDocument/2006/relationships/slideMaster" Target="../slideMasters/slideMaster1.xml" Id="Ra823631d8160452e" /></Relationships>
</file>

<file path=ppt/pooled_animation_1/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7DBD58-BCA7-4824-A481-7A99DF89CA0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859331F-4F68-4DE3-A549-7D107704B23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pooled_animation_1/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CFD8E2C-B14C-4D30-BEF2-88DB4D7C7CA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pooled_animation_1/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394769-639B-4A1B-9679-D319456B74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4BE20BD-949C-48FD-80DE-F256A09896D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pooled_animation_1/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7DB8D1C-976E-4F45-8986-79F4919273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84F155-DE1C-4AEC-AF4D-73BBD7C24AC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563BAEC-BDE4-45BE-A7C0-80480A7902C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pooled_animation_1/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C7AFCF-C8F1-49CA-84D7-30429C59CCF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6FF7BC9-22A1-4AAE-BD96-07A8290EDBA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pooled_animation_1/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pooled_animation_1/slideMasters/_rels/slideMaster1.xml.rels><?xml version='1.0' encoding='utf-8'?>
<Relationships xmlns="http://schemas.openxmlformats.org/package/2006/relationships"><Relationship Type="http://schemas.openxmlformats.org/officeDocument/2006/relationships/theme" Target="theme/theme2.xml" Id="R7406dfee87c14dbf" /><Relationship Type="http://schemas.openxmlformats.org/officeDocument/2006/relationships/slideLayout" Target="../slideLayouts/slideLayout1.xml" Id="R0eff2be72cb040a3" /><Relationship Type="http://schemas.openxmlformats.org/officeDocument/2006/relationships/slideLayout" Target="../slideLayouts/slideLayout2.xml" Id="Rb9d186fb74b84326" /><Relationship Type="http://schemas.openxmlformats.org/officeDocument/2006/relationships/slideLayout" Target="../slideLayouts/slideLayout3.xml" Id="Re4e56e0f5b454060" /><Relationship Type="http://schemas.openxmlformats.org/officeDocument/2006/relationships/slideLayout" Target="../slideLayouts/slideLayout4.xml" Id="Rb367d449648f4880" /><Relationship Type="http://schemas.openxmlformats.org/officeDocument/2006/relationships/slideLayout" Target="../slideLayouts/slideLayout5.xml" Id="Rcec9386d40184f82" /><Relationship Type="http://schemas.openxmlformats.org/officeDocument/2006/relationships/slideLayout" Target="../slideLayouts/slideLayout6.xml" Id="R54bda2f10c7743d9" /></Relationships>
</file>

<file path=ppt/pooled_animation_1/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ff2be72cb040a3"/>
    <p:sldLayoutId xmlns:r="http://schemas.openxmlformats.org/officeDocument/2006/relationships" id="2147483650" r:id="Rb9d186fb74b84326"/>
    <p:sldLayoutId xmlns:r="http://schemas.openxmlformats.org/officeDocument/2006/relationships" id="2147483651" r:id="Re4e56e0f5b454060"/>
    <p:sldLayoutId xmlns:r="http://schemas.openxmlformats.org/officeDocument/2006/relationships" id="2147483652" r:id="Rb367d449648f4880"/>
    <p:sldLayoutId xmlns:r="http://schemas.openxmlformats.org/officeDocument/2006/relationships" id="2147483653" r:id="Rcec9386d40184f82"/>
    <p:sldLayoutId xmlns:r="http://schemas.openxmlformats.org/officeDocument/2006/relationships" id="2147483654" r:id="R54bda2f10c7743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pooled_animation_1/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57379b8a63445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36c3da46c78447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4c891dd91ca43d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c0eadd81b5b480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6014169231d4e5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9b841a5925c43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4FF4F6-9FD1-44DB-AD68-55533407152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3C07F46-3306-46DC-8A3C-4550284BE5F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6C7E256-350E-4D8E-9FB1-F34B8086116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55962D-3CD6-4368-993A-4530882569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AFCCC65-4E9F-4810-8B9B-464A5EFEFA7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E16CFB6-9D14-44E0-A02A-71E2D71EFD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2F93462-1D58-4A56-A33F-30E7514A2B1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1042252-B29C-4203-9FB0-3C55CB704A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D526C7-3A82-4C2C-B50E-E4E0E5F15F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41FC9D4-6C33-4688-990F-E13154F8490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1d519209d840a9" /><Relationship Type="http://schemas.openxmlformats.org/officeDocument/2006/relationships/slideLayout" Target="/ppt/slideLayouts/slideLayout1.xml" Id="Ra8f1ef56686c4698" /><Relationship Type="http://schemas.openxmlformats.org/officeDocument/2006/relationships/slideLayout" Target="/ppt/slideLayouts/slideLayout2.xml" Id="Rc18ba7dc80a843d6" /><Relationship Type="http://schemas.openxmlformats.org/officeDocument/2006/relationships/slideLayout" Target="/ppt/slideLayouts/slideLayout3.xml" Id="Rb6034cc950ae48b5" /><Relationship Type="http://schemas.openxmlformats.org/officeDocument/2006/relationships/slideLayout" Target="/ppt/slideLayouts/slideLayout4.xml" Id="Ree7838503fc444e5" /><Relationship Type="http://schemas.openxmlformats.org/officeDocument/2006/relationships/slideLayout" Target="/ppt/slideLayouts/slideLayout5.xml" Id="R055dd9046fa84814" /><Relationship Type="http://schemas.openxmlformats.org/officeDocument/2006/relationships/slideLayout" Target="/ppt/slideLayouts/slideLayout6.xml" Id="R3dd00181797d47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f1ef56686c4698"/>
    <p:sldLayoutId xmlns:r="http://schemas.openxmlformats.org/officeDocument/2006/relationships" id="2147483650" r:id="Rc18ba7dc80a843d6"/>
    <p:sldLayoutId xmlns:r="http://schemas.openxmlformats.org/officeDocument/2006/relationships" id="2147483651" r:id="Rb6034cc950ae48b5"/>
    <p:sldLayoutId xmlns:r="http://schemas.openxmlformats.org/officeDocument/2006/relationships" id="2147483652" r:id="Ree7838503fc444e5"/>
    <p:sldLayoutId xmlns:r="http://schemas.openxmlformats.org/officeDocument/2006/relationships" id="2147483653" r:id="R055dd9046fa84814"/>
    <p:sldLayoutId xmlns:r="http://schemas.openxmlformats.org/officeDocument/2006/relationships" id="2147483654" r:id="R3dd00181797d47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253145907704909" /><Relationship Type="http://schemas.openxmlformats.org/officeDocument/2006/relationships/image" Target="/ppt/media/image.png" Id="Raa2a7d45ebeb41f0" /><Relationship Type="http://schemas.openxmlformats.org/officeDocument/2006/relationships/notesSlide" Target="/ppt/notesSlides/notesSlide1.xml" Id="R47a677750bd349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dd0824b60864733" /><Relationship Type="http://schemas.openxmlformats.org/officeDocument/2006/relationships/image" Target="/ppt/media/image2.png" Id="R484b2f1f94664423" /><Relationship Type="http://schemas.openxmlformats.org/officeDocument/2006/relationships/notesSlide" Target="/ppt/notesSlides/notesSlide2.xml" Id="R15c520e4204043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1dde58f24d4c6e" /><Relationship Type="http://schemas.openxmlformats.org/officeDocument/2006/relationships/image" Target="/ppt/media/image3.png" Id="Ra356c4bc240d4b5b" /><Relationship Type="http://schemas.openxmlformats.org/officeDocument/2006/relationships/image" Target="/ppt/media/image4.png" Id="R33a4ff53889344b7" /><Relationship Type="http://schemas.openxmlformats.org/officeDocument/2006/relationships/notesSlide" Target="/ppt/notesSlides/notesSlide3.xml" Id="Rc87cb6a2e4c44a0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a93185b9f9c45b7" /><Relationship Type="http://schemas.openxmlformats.org/officeDocument/2006/relationships/image" Target="/ppt/media/image5.png" Id="Re7d52bba4b9b4ddc" /><Relationship Type="http://schemas.openxmlformats.org/officeDocument/2006/relationships/notesSlide" Target="/ppt/notesSlides/notesSlide4.xml" Id="Rf3f7732789a44592" /></Relationships>
</file>

<file path=ppt/slides/_rels/slide5.xml.rels><?xml version='1.0' encoding='utf-8'?>
<Relationships xmlns="http://schemas.openxmlformats.org/package/2006/relationships"><Relationship Type="http://schemas.openxmlformats.org/officeDocument/2006/relationships/slideLayout" Target="/ppt/slideLayouts/slideLayout6.xml" Id="R4b144809eb4540d0" /><Relationship Type="http://schemas.openxmlformats.org/officeDocument/2006/relationships/image" Target="/ppt/media/image6.png" Id="R6724fad5581d4ffe" /><Relationship Type="http://schemas.openxmlformats.org/officeDocument/2006/relationships/image" Target="/ppt/media/image7.png" Id="R7829123d921b4561" /><Relationship Type="http://schemas.openxmlformats.org/officeDocument/2006/relationships/notesSlide" Target="/ppt/notesSlides/notesSlide5.xml" Id="R1241548761304dbc" /><Relationship Id="rIdModelTypeAnimation1" Type="http://schemas.openxmlformats.org/officeDocument/2006/relationships/image" Target="../media/model-type-1.gif" /><Relationship Id="rIdModelTypeAnimation1Added" Type="http://schemas.openxmlformats.org/officeDocument/2006/relationships/image" Target="../media/model-type-1.gif" /><Relationship Id="rIdModelTypeAnimation1AddedAdded" Type="http://schemas.openxmlformats.org/officeDocument/2006/relationships/image" Target="../media/model-type-1.gif" /><Relationship Id="rIdModelTypeAnimation1AddedAddedAdded" Type="http://schemas.openxmlformats.org/officeDocument/2006/relationships/image" Target="../media/model-type-1.gi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7af94677b1048b0" /><Relationship Type="http://schemas.openxmlformats.org/officeDocument/2006/relationships/image" Target="/ppt/media/image8.png" Id="R3b83222a0b7c4cda" /><Relationship Type="http://schemas.openxmlformats.org/officeDocument/2006/relationships/image" Target="/ppt/media/image9.png" Id="R6af56698b1254190" /><Relationship Type="http://schemas.openxmlformats.org/officeDocument/2006/relationships/notesSlide" Target="/ppt/notesSlides/notesSlide6.xml" Id="Rd9568d2ae709454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0a064574689496b" /><Relationship Type="http://schemas.openxmlformats.org/officeDocument/2006/relationships/image" Target="/ppt/media/image10.png" Id="R52f750e76efb41e9" /><Relationship Type="http://schemas.openxmlformats.org/officeDocument/2006/relationships/notesSlide" Target="/ppt/notesSlides/notesSlide7.xml" Id="R5d1df2c7d38b4700" /></Relationships>
</file>

<file path=ppt/slides/_rels/slide8.xml.rels><?xml version='1.0' encoding='utf-8'?>
<Relationships xmlns="http://schemas.openxmlformats.org/package/2006/relationships"><Relationship Type="http://schemas.openxmlformats.org/officeDocument/2006/relationships/slideLayout" Target="/ppt/slideLayouts/slideLayout6.xml" Id="R53a3e54a5d3948e3" /><Relationship Type="http://schemas.openxmlformats.org/officeDocument/2006/relationships/image" Target="/ppt/media/image11.png" Id="Rbabf26de95d34958" /><Relationship Type="http://schemas.openxmlformats.org/officeDocument/2006/relationships/image" Target="/ppt/media/image12.png" Id="R908522d0b56c4d8b" /><Relationship Type="http://schemas.openxmlformats.org/officeDocument/2006/relationships/notesSlide" Target="/ppt/notesSlides/notesSlide8.xml" Id="Rce7a514383a44024" /><Relationship Id="rIdModelTypeAnimation1" Type="http://schemas.openxmlformats.org/officeDocument/2006/relationships/image" Target="../media/model-type-2.gif" /><Relationship Id="rIdModelTypeAnimation1Added" Type="http://schemas.openxmlformats.org/officeDocument/2006/relationships/image" Target="../media/model-type-2.gif" /><Relationship Id="rIdModelTypeAnimation1AddedAdded" Type="http://schemas.openxmlformats.org/officeDocument/2006/relationships/image" Target="../media/model-type-2.gif" /><Relationship Id="rIdModelTypeAnimation1AddedAddedAdded" Type="http://schemas.openxmlformats.org/officeDocument/2006/relationships/image" Target="../media/model-type-2.gi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11331cebaef480a" /><Relationship Type="http://schemas.openxmlformats.org/officeDocument/2006/relationships/image" Target="/ppt/media/image13.png" Id="Rab76688ab1e34ff7" /><Relationship Type="http://schemas.openxmlformats.org/officeDocument/2006/relationships/image" Target="/ppt/media/image14.png" Id="R6d405792820d477e" /><Relationship Type="http://schemas.openxmlformats.org/officeDocument/2006/relationships/notesSlide" Target="/ppt/notesSlides/notesSlide9.xml" Id="Rb1ca858f0a8e45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546d2ba0d244e51" /><Relationship Type="http://schemas.openxmlformats.org/officeDocument/2006/relationships/image" Target="/ppt/media/image15.png" Id="R0478aff0d8c34c21" /><Relationship Type="http://schemas.openxmlformats.org/officeDocument/2006/relationships/notesSlide" Target="/ppt/notesSlides/notesSlide10.xml" Id="R554a4edfcbf64a92" /></Relationships>
</file>

<file path=ppt/slides/_rels/slide11.xml.rels><?xml version='1.0' encoding='utf-8'?>
<Relationships xmlns="http://schemas.openxmlformats.org/package/2006/relationships"><Relationship Type="http://schemas.openxmlformats.org/officeDocument/2006/relationships/slideLayout" Target="/ppt/slideLayouts/slideLayout6.xml" Id="Rfe58a274a68b4075" /><Relationship Type="http://schemas.openxmlformats.org/officeDocument/2006/relationships/image" Target="/ppt/media/image16.png" Id="Rf717c00b5382429b" /><Relationship Type="http://schemas.openxmlformats.org/officeDocument/2006/relationships/image" Target="/ppt/media/image17.png" Id="R522e98dd8e8e4942" /><Relationship Type="http://schemas.openxmlformats.org/officeDocument/2006/relationships/notesSlide" Target="/ppt/notesSlides/notesSlide11.xml" Id="Rf6fb03b34c554bf3" /><Relationship Id="rIdModelTypeAnimation1" Type="http://schemas.openxmlformats.org/officeDocument/2006/relationships/image" Target="../media/model-type-3.gif" /><Relationship Id="rIdModelTypeAnimation1Added" Type="http://schemas.openxmlformats.org/officeDocument/2006/relationships/image" Target="../media/model-type-3.gif" /><Relationship Id="rIdModelTypeAnimation1AddedAdded" Type="http://schemas.openxmlformats.org/officeDocument/2006/relationships/image" Target="../media/model-type-3.gif" /><Relationship Id="rIdModelTypeAnimation1AddedAddedAdded" Type="http://schemas.openxmlformats.org/officeDocument/2006/relationships/image" Target="../media/model-type-3.gif" /></Relationships>
</file>

<file path=ppt/slides/_rels/slide12.xml.rels><?xml version='1.0' encoding='utf-8'?>
<Relationships xmlns="http://schemas.openxmlformats.org/package/2006/relationships"><Relationship Type="http://schemas.openxmlformats.org/officeDocument/2006/relationships/slideLayout" Target="../domain_variance/slideLayouts/slideLayout6.xml" Id="Rba3a71061cd74f33" /><Relationship Type="http://schemas.openxmlformats.org/officeDocument/2006/relationships/image" Target="../domain_variance/media/image.png" Id="R4fca131fd9ad40e4" /><Relationship Type="http://schemas.openxmlformats.org/officeDocument/2006/relationships/notesSlide" Target="../domain_variance/notesSlides/notesSlide1.xml" Id="Rf7d7b5e0d77e4a50" /></Relationships>
</file>

<file path=ppt/slides/_rels/slide13.xml.rels><?xml version='1.0' encoding='utf-8'?>
<Relationships xmlns="http://schemas.openxmlformats.org/package/2006/relationships"><Relationship Type="http://schemas.openxmlformats.org/officeDocument/2006/relationships/slideLayout" Target="../workflow_addition_12_workflow-pptx-rk60sles/slideLayouts/slideLayout6.xml" Id="Rbaa92497fc3546c3" /><Relationship Type="http://schemas.openxmlformats.org/officeDocument/2006/relationships/image" Target="../workflow_addition_12_workflow-pptx-rk60sles/media/image.png" Id="Raeb69bc070f445cf" /><Relationship Type="http://schemas.openxmlformats.org/officeDocument/2006/relationships/image" Target="../workflow_addition_12_workflow-pptx-rk60sles/media/image2.png" Id="Rce383d6990bd4271" /><Relationship Type="http://schemas.openxmlformats.org/officeDocument/2006/relationships/image" Target="../workflow_addition_12_workflow-pptx-rk60sles/media/image3.png" Id="R02feb43b935c420f" /><Relationship Type="http://schemas.openxmlformats.org/officeDocument/2006/relationships/notesSlide" Target="../workflow_addition_12_workflow-pptx-rk60sles/notesSlides/notesSlide1.xml" Id="Rdfeccd75ff324c20" /></Relationships>
</file>

<file path=ppt/slides/_rels/slide14.xml.rels><?xml version='1.0' encoding='utf-8'?>
<Relationships xmlns="http://schemas.openxmlformats.org/package/2006/relationships"><Relationship Type="http://schemas.openxmlformats.org/officeDocument/2006/relationships/slideLayout" Target="../workflow_addition_13_workflow-pptx-rk60sles/slideLayouts/slideLayout6.xml" Id="Rfebd8aad530f4c92" /><Relationship Type="http://schemas.openxmlformats.org/officeDocument/2006/relationships/chart" Target="../workflow_addition_13_workflow-pptx-rk60sles/slides/charts/chart1.xml" Id="R649782043c914d11" /><Relationship Type="http://schemas.openxmlformats.org/officeDocument/2006/relationships/notesSlide" Target="../workflow_addition_13_workflow-pptx-rk60sles/notesSlides/notesSlide1.xml" Id="R06ed12bfc1b44799" /></Relationships>
</file>

<file path=ppt/slides/_rels/slide15.xml.rels><?xml version='1.0' encoding='utf-8'?>
<Relationships xmlns="http://schemas.openxmlformats.org/package/2006/relationships"><Relationship Type="http://schemas.openxmlformats.org/officeDocument/2006/relationships/slideLayout" Target="../tm_heatmap/slideLayouts/slideLayout6.xml" Id="R3c99973fe32a498a" /><Relationship Type="http://schemas.openxmlformats.org/officeDocument/2006/relationships/notesSlide" Target="../tm_heatmap/notesSlides/notesSlide1.xml" Id="R0aca779a830f46d8" /></Relationships>
</file>

<file path=ppt/slides/_rels/slide16.xml.rels><?xml version='1.0' encoding='utf-8'?>
<Relationships xmlns="http://schemas.openxmlformats.org/package/2006/relationships"><Relationship Type="http://schemas.openxmlformats.org/officeDocument/2006/relationships/slideLayout" Target="../workflow_addition_15_workflow-pptx-zizg80ro/slideLayouts/slideLayout6.xml" Id="R3531f65e84e84895" /><Relationship Type="http://schemas.openxmlformats.org/officeDocument/2006/relationships/image" Target="../workflow_addition_15_workflow-pptx-zizg80ro/media/image.png" Id="Rfe9bd64ca2254973" /><Relationship Type="http://schemas.openxmlformats.org/officeDocument/2006/relationships/image" Target="../workflow_addition_15_workflow-pptx-zizg80ro/media/image2.png" Id="R32285b54f766419a" /><Relationship Type="http://schemas.openxmlformats.org/officeDocument/2006/relationships/image" Target="../workflow_addition_15_workflow-pptx-zizg80ro/media/image3.png" Id="R4a44bbbec5cd43b1" /><Relationship Type="http://schemas.openxmlformats.org/officeDocument/2006/relationships/notesSlide" Target="../workflow_addition_15_workflow-pptx-zizg80ro/notesSlides/notesSlide1.xml" Id="Rd775a785a4a44ec4" /><Relationship Id="rIdBonsaiSource" Type="http://schemas.openxmlformats.org/officeDocument/2006/relationships/hyperlink" Target="https://github.com/dhdegroot/Bonsai-data-representation/tree/b16ef6f0a164610327022c7d0b92de82b3596aad" TargetMode="External" /></Relationships>
</file>

<file path=ppt/slides/_rels/slide17.xml.rels><?xml version='1.0' encoding='utf-8'?>
<Relationships xmlns="http://schemas.openxmlformats.org/package/2006/relationships"><Relationship Id="rId1" Type="http://schemas.openxmlformats.org/officeDocument/2006/relationships/slideLayout" Target="../introduction_title/slideLayouts/slideLayout7.xml" /><Relationship Id="rId2" Type="http://schemas.openxmlformats.org/officeDocument/2006/relationships/notesSlide" Target="../introduction_title/notesSlides/notesSlide1.xml" /></Relationships>
</file>

<file path=ppt/slides/_rels/slide18.xml.rels><?xml version='1.0' encoding='utf-8'?>
<Relationships xmlns="http://schemas.openxmlformats.org/package/2006/relationships"><Relationship Id="rId1" Type="http://schemas.openxmlformats.org/officeDocument/2006/relationships/slideLayout" Target="../introduction_methodology/slideLayouts/slideLayout7.xml" /><Relationship Id="rId2" Type="http://schemas.openxmlformats.org/officeDocument/2006/relationships/hyperlink" Target="https://github.com/wallnerlab/AFsample2" TargetMode="External" /><Relationship Id="rId3" Type="http://schemas.openxmlformats.org/officeDocument/2006/relationships/hyperlink" Target="https://github.com/wallnerlab/afsample3/tree/507e8fd492379cb3996d1ba2e04794e8ce2191df" TargetMode="External" /><Relationship Id="rId4" Type="http://schemas.openxmlformats.org/officeDocument/2006/relationships/hyperlink" Target="https://github.com/microsoft/bioemu" TargetMode="External" /><Relationship Id="rId5" Type="http://schemas.openxmlformats.org/officeDocument/2006/relationships/hyperlink" Target="https://scikit-learn.org/stable/modules/generated/sklearn.decomposition.PCA.html" TargetMode="External" /><Relationship Id="rId6" Type="http://schemas.openxmlformats.org/officeDocument/2006/relationships/hyperlink" Target="https://scikit-learn.org/stable/modules/generated/sklearn.manifold.TSNE.html" TargetMode="External" /><Relationship Id="rId7" Type="http://schemas.openxmlformats.org/officeDocument/2006/relationships/hyperlink" Target="https://github.com/lmcinnes/umap" TargetMode="External" /><Relationship Id="rId8" Type="http://schemas.openxmlformats.org/officeDocument/2006/relationships/hyperlink" Target="https://github.com/pylelab/USalign" TargetMode="External" /><Relationship Id="rId9" Type="http://schemas.openxmlformats.org/officeDocument/2006/relationships/hyperlink" Target="https://github.com/dhdegroot/Bonsai-data-representation/tree/b16ef6f0a164610327022c7d0b92de82b3596aad" TargetMode="External" /><Relationship Id="rId10" Type="http://schemas.openxmlformats.org/officeDocument/2006/relationships/hyperlink" Target="https://jmlr.org/papers/v12/pedregosa11a.html" TargetMode="External" /><Relationship Id="rId11" Type="http://schemas.openxmlformats.org/officeDocument/2006/relationships/hyperlink" Target="https://www.jmlr.org/papers/v9/vandermaaten08a.html" TargetMode="External" /><Relationship Id="rId12" Type="http://schemas.openxmlformats.org/officeDocument/2006/relationships/hyperlink" Target="https://arxiv.org/abs/1802.03426" TargetMode="External" /><Relationship Id="rId13" Type="http://schemas.openxmlformats.org/officeDocument/2006/relationships/notesSlide" Target="../introduction_methodology/notesSlides/notesSlide1.xml" /></Relationships>
</file>

<file path=ppt/slides/_rels/slide19.xml.rels><?xml version='1.0' encoding='utf-8'?>
<Relationships xmlns="http://schemas.openxmlformats.org/package/2006/relationships"><Relationship Id="rId1" Type="http://schemas.openxmlformats.org/officeDocument/2006/relationships/slideLayout" Target="../tm_group_18/slideLayouts/slideLayout7.xml" /><Relationship Id="rId2" Type="http://schemas.openxmlformats.org/officeDocument/2006/relationships/image" Target="../tm_group_18/media/image1.png" /><Relationship Id="rId3" Type="http://schemas.openxmlformats.org/officeDocument/2006/relationships/notesSlide" Target="../tm_group_18/notesSlides/notesSlide1.xml" /></Relationships>
</file>

<file path=ppt/slides/_rels/slide20.xml.rels><?xml version='1.0' encoding='utf-8'?>
<Relationships xmlns="http://schemas.openxmlformats.org/package/2006/relationships"><Relationship Type="http://schemas.openxmlformats.org/officeDocument/2006/relationships/slideLayout" Target="../pooled_animation_1/slideLayouts/slideLayout6.xml" Id="Re37aca4e725247bd" /><Relationship Type="http://schemas.openxmlformats.org/officeDocument/2006/relationships/image" Target="../pooled_animation_1/media/image.png" Id="R0ec71e95b0e34efe" /><Relationship Type="http://schemas.openxmlformats.org/officeDocument/2006/relationships/notesSlide" Target="../pooled_animation_1/notesSlides/notesSlide1.xml" Id="R1107f4d063a341af" /><Relationship Id="rIdPooledAnimation1" Type="http://schemas.openxmlformats.org/officeDocument/2006/relationships/image" Target="../pooled_animation_1/media/pooled-animation-1.gi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F41BAE39-F3F8-4B77-8C4E-EB8DDFC45474}"/>
              </a:ext>
            </a:extLst>
          </p:cNvPr>
          <p:cNvPicPr>
            <a:picLocks xmlns:a="http://schemas.openxmlformats.org/drawingml/2006/main" noChangeAspect="1"/>
          </p:cNvPicPr>
          <p:nvPr/>
        </p:nvPicPr>
        <p:blipFill>
          <a:blip xmlns:r="http://schemas.openxmlformats.org/officeDocument/2006/relationships" xmlns:a="http://schemas.openxmlformats.org/drawingml/2006/main" r:embed="Raa2a7d45ebeb41f0"/>
          <a:stretch xmlns:a="http://schemas.openxmlformats.org/drawingml/2006/main"/>
        </p:blipFill>
        <p:spPr>
          <a:xfrm xmlns:a="http://schemas.openxmlformats.org/drawingml/2006/main">
            <a:off x="3354976" y="609600"/>
            <a:ext cx="5482048"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6F0723B-F2E3-4070-9512-49CAB6448510}"/>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1. Median Cα distance between shared residues across the model ensemble.</a:t>
            </a:r>
          </a:p>
        </p:txBody>
      </p:sp>
    </p:spTree>
    <p:extLst>
      <p:ext uri="{BB962C8B-B14F-4D97-AF65-F5344CB8AC3E}">
        <p14:creationId xmlns:p14="http://schemas.microsoft.com/office/powerpoint/2010/main" val="5879479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AEFFD120-E7AA-4644-836E-BB8B3F6D74FE}"/>
              </a:ext>
            </a:extLst>
          </p:cNvPr>
          <p:cNvPicPr>
            <a:picLocks xmlns:a="http://schemas.openxmlformats.org/drawingml/2006/main" noChangeAspect="1"/>
          </p:cNvPicPr>
          <p:nvPr/>
        </p:nvPicPr>
        <p:blipFill>
          <a:blip xmlns:r="http://schemas.openxmlformats.org/officeDocument/2006/relationships" xmlns:a="http://schemas.openxmlformats.org/drawingml/2006/main" r:embed="R484b2f1f94664423"/>
          <a:stretch xmlns:a="http://schemas.openxmlformats.org/drawingml/2006/main"/>
        </p:blipFill>
        <p:spPr>
          <a:xfrm xmlns:a="http://schemas.openxmlformats.org/drawingml/2006/main">
            <a:off x="3320996" y="609600"/>
            <a:ext cx="5550007"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DC5303D-36D5-42DF-A7D0-BED2435CC976}"/>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2. Variance of Cα distances between shared residues across the model ensemble.</a:t>
            </a:r>
          </a:p>
        </p:txBody>
      </p:sp>
    </p:spTree>
    <p:extLst>
      <p:ext uri="{BB962C8B-B14F-4D97-AF65-F5344CB8AC3E}">
        <p14:creationId xmlns:p14="http://schemas.microsoft.com/office/powerpoint/2010/main" val="13144342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BFF242C9-79ED-4626-A15E-1E8896EE7297}"/>
              </a:ext>
            </a:extLst>
          </p:cNvPr>
          <p:cNvPicPr>
            <a:picLocks xmlns:a="http://schemas.openxmlformats.org/drawingml/2006/main" noChangeAspect="1"/>
          </p:cNvPicPr>
          <p:nvPr/>
        </p:nvPicPr>
        <p:blipFill>
          <a:blip xmlns:r="http://schemas.openxmlformats.org/officeDocument/2006/relationships" xmlns:a="http://schemas.openxmlformats.org/drawingml/2006/main" r:embed="Ra356c4bc240d4b5b"/>
          <a:stretch xmlns:a="http://schemas.openxmlformats.org/drawingml/2006/main"/>
        </p:blipFill>
        <p:spPr>
          <a:xfrm xmlns:a="http://schemas.openxmlformats.org/drawingml/2006/main">
            <a:off x="457200" y="352727"/>
            <a:ext cx="5486400" cy="4838095"/>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A6B94B43-5480-4EC5-A742-D2E7B78D1DBB}"/>
              </a:ext>
            </a:extLst>
          </p:cNvPr>
          <p:cNvPicPr>
            <a:picLocks xmlns:a="http://schemas.openxmlformats.org/drawingml/2006/main" noChangeAspect="1"/>
          </p:cNvPicPr>
          <p:nvPr/>
        </p:nvPicPr>
        <p:blipFill>
          <a:blip xmlns:r="http://schemas.openxmlformats.org/officeDocument/2006/relationships" xmlns:a="http://schemas.openxmlformats.org/drawingml/2006/main" r:embed="R33a4ff53889344b7"/>
          <a:stretch xmlns:a="http://schemas.openxmlformats.org/drawingml/2006/main"/>
        </p:blipFill>
        <p:spPr>
          <a:xfrm xmlns:a="http://schemas.openxmlformats.org/drawingml/2006/main">
            <a:off x="6096000" y="369673"/>
            <a:ext cx="5486400" cy="480420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61B8617-D3FD-4D93-B413-F912E4159A63}"/>
              </a:ext>
            </a:extLst>
          </p:cNvPr>
          <p:cNvSpPr>
            <a:spLocks xmlns:a="http://schemas.openxmlformats.org/drawingml/2006/main" noGrp="1"/>
          </p:cNvSpPr>
          <p:nvPr/>
        </p:nvSpPr>
        <p:spPr>
          <a:xfrm xmlns:a="http://schemas.openxmlformats.org/drawingml/2006/main">
            <a:off x="457200" y="5619750"/>
            <a:ext cx="11277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xmlns:a="http://schemas.openxmlformats.org/drawingml/2006/main">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3. PCA embedding of shared-residue distograms, colored by confidence metrics. a: &lt;pLDDT&gt;; b: pTM. Cluster-colored outlines in panel a identify the selected representative models from each structure cluster ensemble. Gray models do not have this value calculable.</a:t>
            </a:r>
          </a:p>
        </p:txBody>
      </p:sp>
    </p:spTree>
    <p:extLst>
      <p:ext uri="{BB962C8B-B14F-4D97-AF65-F5344CB8AC3E}">
        <p14:creationId xmlns:p14="http://schemas.microsoft.com/office/powerpoint/2010/main" val="11452526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5B85167B-03E4-4271-AAC9-0A1E06C2EDAB}"/>
              </a:ext>
            </a:extLst>
          </p:cNvPr>
          <p:cNvPicPr>
            <a:picLocks xmlns:a="http://schemas.openxmlformats.org/drawingml/2006/main" noChangeAspect="1"/>
          </p:cNvPicPr>
          <p:nvPr/>
        </p:nvPicPr>
        <p:blipFill>
          <a:blip xmlns:r="http://schemas.openxmlformats.org/officeDocument/2006/relationships" xmlns:a="http://schemas.openxmlformats.org/drawingml/2006/main" r:embed="Re7d52bba4b9b4ddc"/>
          <a:stretch xmlns:a="http://schemas.openxmlformats.org/drawingml/2006/main"/>
        </p:blipFill>
        <p:spPr>
          <a:xfrm xmlns:a="http://schemas.openxmlformats.org/drawingml/2006/main">
            <a:off x="2197798" y="609600"/>
            <a:ext cx="7796404"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5759DA-92A3-4D31-A513-7E8A3F2549B3}"/>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4. PCA embedding of shared-residue distograms, colored by AIS Method.</a:t>
            </a:r>
          </a:p>
        </p:txBody>
      </p:sp>
    </p:spTree>
    <p:extLst>
      <p:ext uri="{BB962C8B-B14F-4D97-AF65-F5344CB8AC3E}">
        <p14:creationId xmlns:p14="http://schemas.microsoft.com/office/powerpoint/2010/main" val="1146399132"/>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6" name="">
            <a:extLst>
              <a:ext uri="{FF2B5EF4-FFF2-40B4-BE49-F238E27FC236}">
                <ns2:creationId id="{3DE93D7A-ABC4-4C41-AC0F-7EE3DA9A72DC}"/>
              </a:ext>
            </a:extLst>
          </p:cNvPr>
          <p:cNvSpPr>
            <a:spLocks noGrp="1"/>
          </p:cNvSpPr>
          <p:nvPr/>
        </p:nvSpPr>
        <p:spPr>
          <a:xfrm>
            <a:off x="4572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a. Cluster labels</a:t>
            </a:r>
          </a:p>
        </p:txBody>
      </p:sp>
      <p:pic>
        <p:nvPicPr>
          <p:cNvPr id="2" name="">
            <a:extLst>
              <a:ext uri="{FF2B5EF4-FFF2-40B4-BE49-F238E27FC236}">
                <ns2:creationId id="{C20590A1-34B3-4A52-A494-A7BDB1D47E74}"/>
              </a:ext>
            </a:extLst>
          </p:cNvPr>
          <p:cNvPicPr>
            <a:picLocks noChangeAspect="1"/>
          </p:cNvPicPr>
          <p:nvPr/>
        </p:nvPicPr>
        <p:blipFill>
          <a:blip r:embed="R6724fad5581d4ffe"/>
          <a:stretch/>
        </p:blipFill>
        <p:spPr>
          <a:xfrm>
            <a:off x="457200" y="1418612"/>
            <a:ext cx="5486400" cy="3239726"/>
          </a:xfrm>
          <a:prstGeom prst="rect">
            <a:avLst/>
          </a:prstGeom>
        </p:spPr>
      </p:pic>
      <p:sp>
        <p:nvSpPr>
          <p:cNvPr id="3" name="">
            <a:extLst>
              <a:ext uri="{FF2B5EF4-FFF2-40B4-BE49-F238E27FC236}">
                <ns2:creationId id="{EF3D7840-3DF1-4DF0-A7DE-E6249184F776}"/>
              </a:ext>
            </a:extLst>
          </p:cNvPr>
          <p:cNvSpPr>
            <a:spLocks noGrp="1"/>
          </p:cNvSpPr>
          <p:nvPr/>
        </p:nvSpPr>
        <p:spPr>
          <a:xfrm>
            <a:off x="60960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b. Model types</a:t>
            </a:r>
          </a:p>
        </p:txBody>
      </p:sp>
      <p:pic>
        <p:nvPicPr>
          <p:cNvPr id="4" name="" descr="Model types cycle in recorded order; one highlighted type per frame">
            <a:extLst>
              <a:ext uri="{FF2B5EF4-FFF2-40B4-BE49-F238E27FC236}">
                <ns2:creationId id="{68BD5412-983E-424B-8DE4-B6AFC6FAF4C6}"/>
              </a:ext>
            </a:extLst>
          </p:cNvPr>
          <p:cNvPicPr>
            <a:picLocks noChangeAspect="1"/>
          </p:cNvPicPr>
          <p:nvPr/>
        </p:nvPicPr>
        <p:blipFill>
          <a:blip r:embed="rIdModelTypeAnimation1AddedAddedAdded"/>
          <a:stretch/>
        </p:blipFill>
        <p:spPr>
          <a:xfrm>
            <a:off x="6096000" y="1291383"/>
            <a:ext cx="5486400" cy="3494184"/>
          </a:xfrm>
          <a:prstGeom prst="rect">
            <a:avLst/>
          </a:prstGeom>
        </p:spPr>
      </p:pic>
      <p:sp>
        <p:nvSpPr>
          <p:cNvPr id="5" name="">
            <a:extLst>
              <a:ext uri="{FF2B5EF4-FFF2-40B4-BE49-F238E27FC236}">
                <ns2:creationId id="{86B0D358-BAC1-41F3-A1C3-1C54E66214CB}"/>
              </a:ext>
            </a:extLst>
          </p:cNvPr>
          <p:cNvSpPr>
            <a:spLocks noGrp="1"/>
          </p:cNvSpPr>
          <p:nvPr/>
        </p:nvSpPr>
        <p:spPr>
          <a:xfrm>
            <a:off x="457200" y="5715000"/>
            <a:ext cx="11277600" cy="914400"/>
          </a:xfrm>
          <a:prstGeom prst="rect">
            <a:avLst/>
          </a:prstGeom>
          <a:noFill/>
          <a:ln w="0">
            <a:noFill/>
          </a:ln>
        </p:spPr>
        <p:txBody>
          <a:bodyPr>
            <a:normAutofit fontScale="100000"/>
          </a:bodyPr>
          <a:lstStyle>
            <a:defPPr>
              <a:defRPr sz="1650">
                <a:solidFill>
                  <a:srgbClr val="222222"/>
                </a:solidFill>
                <a:latin typeface="DejaVu Sans"/>
                <a:ea typeface="DejaVu Sans"/>
                <a:cs typeface="DejaVu Sans"/>
              </a:defRPr>
            </a:defPPr>
            <a:lvl1pPr>
              <a:defRPr sz="1650">
                <a:solidFill>
                  <a:srgbClr val="222222"/>
                </a:solidFill>
                <a:latin typeface="DejaVu Sans"/>
                <a:ea typeface="DejaVu Sans"/>
                <a:cs typeface="DejaVu Sans"/>
              </a:defRPr>
            </a:lvl1pPr>
            <a:lvl2pPr>
              <a:defRPr sz="1650">
                <a:solidFill>
                  <a:srgbClr val="222222"/>
                </a:solidFill>
                <a:latin typeface="DejaVu Sans"/>
                <a:ea typeface="DejaVu Sans"/>
                <a:cs typeface="DejaVu Sans"/>
              </a:defRPr>
            </a:lvl2pPr>
            <a:lvl3pPr>
              <a:defRPr sz="1650">
                <a:solidFill>
                  <a:srgbClr val="222222"/>
                </a:solidFill>
                <a:latin typeface="DejaVu Sans"/>
                <a:ea typeface="DejaVu Sans"/>
                <a:cs typeface="DejaVu Sans"/>
              </a:defRPr>
            </a:lvl3pPr>
            <a:lvl4pPr>
              <a:defRPr sz="1650">
                <a:solidFill>
                  <a:srgbClr val="222222"/>
                </a:solidFill>
                <a:latin typeface="DejaVu Sans"/>
                <a:ea typeface="DejaVu Sans"/>
                <a:cs typeface="DejaVu Sans"/>
              </a:defRPr>
            </a:lvl4pPr>
            <a:lvl5pPr>
              <a:defRPr sz="1650">
                <a:solidFill>
                  <a:srgbClr val="222222"/>
                </a:solidFill>
                <a:latin typeface="DejaVu Sans"/>
                <a:ea typeface="DejaVu Sans"/>
                <a:cs typeface="DejaVu Sans"/>
              </a:defRPr>
            </a:lvl5pPr>
            <a:lvl6pPr>
              <a:defRPr sz="1650">
                <a:solidFill>
                  <a:srgbClr val="222222"/>
                </a:solidFill>
                <a:latin typeface="DejaVu Sans"/>
                <a:ea typeface="DejaVu Sans"/>
                <a:cs typeface="DejaVu Sans"/>
              </a:defRPr>
            </a:lvl6pPr>
            <a:lvl7pPr>
              <a:defRPr sz="1650">
                <a:solidFill>
                  <a:srgbClr val="222222"/>
                </a:solidFill>
                <a:latin typeface="DejaVu Sans"/>
                <a:ea typeface="DejaVu Sans"/>
                <a:cs typeface="DejaVu Sans"/>
              </a:defRPr>
            </a:lvl7pPr>
            <a:lvl8pPr>
              <a:defRPr sz="1650">
                <a:solidFill>
                  <a:srgbClr val="222222"/>
                </a:solidFill>
                <a:latin typeface="DejaVu Sans"/>
                <a:ea typeface="DejaVu Sans"/>
                <a:cs typeface="DejaVu Sans"/>
              </a:defRPr>
            </a:lvl8pPr>
            <a:lvl9pPr>
              <a:defRPr sz="1650">
                <a:solidFill>
                  <a:srgbClr val="222222"/>
                </a:solidFill>
                <a:latin typeface="DejaVu Sans"/>
                <a:ea typeface="DejaVu Sans"/>
                <a:cs typeface="DejaVu Sans"/>
              </a:defRPr>
            </a:lvl9pPr>
          </a:lstStyle>
          <a:p>
            <a:pPr>
              <a:defRPr sz="1650">
                <a:solidFill>
                  <a:srgbClr val="222222"/>
                </a:solidFill>
                <a:latin typeface="DejaVu Sans"/>
                <a:ea typeface="DejaVu Sans"/>
                <a:cs typeface="DejaVu Sans"/>
              </a:defRPr>
            </a:pPr>
            <a:r>
              <a:rPr sz="1650">
                <a:solidFill>
                  <a:srgbClr val="222222"/>
                </a:solidFill>
                <a:latin typeface="DejaVu Sans"/>
                <a:ea typeface="DejaVu Sans"/>
                <a:cs typeface="DejaVu Sans"/>
              </a:rPr>
              <a:t>Figure 5. PCA projection of shared-residue distograms. a: cluster labels assigned from UMAP; cluster colors are consistent across projections. b: model type labels; each model type uses its consistent color across workflow runs.</a:t>
            </a:r>
          </a:p>
        </p:txBody>
      </p:sp>
    </p:spTree>
    <p:extLst>
      <p:ext uri="{BB962C8B-B14F-4D97-AF65-F5344CB8AC3E}">
        <ns4:creationId val="65553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27707066-00A0-4AE4-9272-8AB935817ED4}"/>
              </a:ext>
            </a:extLst>
          </p:cNvPr>
          <p:cNvPicPr>
            <a:picLocks xmlns:a="http://schemas.openxmlformats.org/drawingml/2006/main" noChangeAspect="1"/>
          </p:cNvPicPr>
          <p:nvPr/>
        </p:nvPicPr>
        <p:blipFill>
          <a:blip xmlns:r="http://schemas.openxmlformats.org/officeDocument/2006/relationships" xmlns:a="http://schemas.openxmlformats.org/drawingml/2006/main" r:embed="R3b83222a0b7c4cda"/>
          <a:stretch xmlns:a="http://schemas.openxmlformats.org/drawingml/2006/main"/>
        </p:blipFill>
        <p:spPr>
          <a:xfrm xmlns:a="http://schemas.openxmlformats.org/drawingml/2006/main">
            <a:off x="457200" y="255078"/>
            <a:ext cx="5486400" cy="503339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8E08B0B0-BFA4-4379-A8CB-A17E7B2AD3C7}"/>
              </a:ext>
            </a:extLst>
          </p:cNvPr>
          <p:cNvPicPr>
            <a:picLocks xmlns:a="http://schemas.openxmlformats.org/drawingml/2006/main" noChangeAspect="1"/>
          </p:cNvPicPr>
          <p:nvPr/>
        </p:nvPicPr>
        <p:blipFill>
          <a:blip xmlns:r="http://schemas.openxmlformats.org/officeDocument/2006/relationships" xmlns:a="http://schemas.openxmlformats.org/drawingml/2006/main" r:embed="R6af56698b1254190"/>
          <a:stretch xmlns:a="http://schemas.openxmlformats.org/drawingml/2006/main"/>
        </p:blipFill>
        <p:spPr>
          <a:xfrm xmlns:a="http://schemas.openxmlformats.org/drawingml/2006/main">
            <a:off x="6096000" y="273414"/>
            <a:ext cx="5486400" cy="499672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6581352-834A-4A37-9284-B2A8EE7B751C}"/>
              </a:ext>
            </a:extLst>
          </p:cNvPr>
          <p:cNvSpPr>
            <a:spLocks xmlns:a="http://schemas.openxmlformats.org/drawingml/2006/main" noGrp="1"/>
          </p:cNvSpPr>
          <p:nvPr/>
        </p:nvSpPr>
        <p:spPr>
          <a:xfrm xmlns:a="http://schemas.openxmlformats.org/drawingml/2006/main">
            <a:off x="457200" y="5619750"/>
            <a:ext cx="11277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xmlns:a="http://schemas.openxmlformats.org/drawingml/2006/main">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6. UMAP embedding of shared-residue distograms, colored by confidence metrics. a: &lt;pLDDT&gt;; b: pTM. Cluster-colored outlines in panel a identify the selected representative models from each structure cluster ensemble. Gray models do not have this value calculable.</a:t>
            </a:r>
          </a:p>
        </p:txBody>
      </p:sp>
    </p:spTree>
    <p:extLst>
      <p:ext uri="{BB962C8B-B14F-4D97-AF65-F5344CB8AC3E}">
        <p14:creationId xmlns:p14="http://schemas.microsoft.com/office/powerpoint/2010/main" val="46269331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4AC0AAEB-30E9-450D-8A46-BDD82A93581B}"/>
              </a:ext>
            </a:extLst>
          </p:cNvPr>
          <p:cNvPicPr>
            <a:picLocks xmlns:a="http://schemas.openxmlformats.org/drawingml/2006/main" noChangeAspect="1"/>
          </p:cNvPicPr>
          <p:nvPr/>
        </p:nvPicPr>
        <p:blipFill>
          <a:blip xmlns:r="http://schemas.openxmlformats.org/officeDocument/2006/relationships" xmlns:a="http://schemas.openxmlformats.org/drawingml/2006/main" r:embed="R52f750e76efb41e9"/>
          <a:stretch xmlns:a="http://schemas.openxmlformats.org/drawingml/2006/main"/>
        </p:blipFill>
        <p:spPr>
          <a:xfrm xmlns:a="http://schemas.openxmlformats.org/drawingml/2006/main">
            <a:off x="2277794" y="609600"/>
            <a:ext cx="7636411"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3749DDF-7BCE-4DFA-9F28-B86DE2CAF962}"/>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7. UMAP embedding of shared-residue distograms, colored by AIS Method.</a:t>
            </a:r>
          </a:p>
        </p:txBody>
      </p:sp>
    </p:spTree>
    <p:extLst>
      <p:ext uri="{BB962C8B-B14F-4D97-AF65-F5344CB8AC3E}">
        <p14:creationId xmlns:p14="http://schemas.microsoft.com/office/powerpoint/2010/main" val="1554331533"/>
      </p:ext>
    </p:extLst>
  </p:cSld>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6" name="">
            <a:extLst>
              <a:ext uri="{FF2B5EF4-FFF2-40B4-BE49-F238E27FC236}">
                <ns2:creationId id="{D61F95AD-93A6-4435-A708-1D1D44B0C55F}"/>
              </a:ext>
            </a:extLst>
          </p:cNvPr>
          <p:cNvSpPr>
            <a:spLocks noGrp="1"/>
          </p:cNvSpPr>
          <p:nvPr/>
        </p:nvSpPr>
        <p:spPr>
          <a:xfrm>
            <a:off x="4572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a. Cluster labels</a:t>
            </a:r>
          </a:p>
        </p:txBody>
      </p:sp>
      <p:pic>
        <p:nvPicPr>
          <p:cNvPr id="2" name="">
            <a:extLst>
              <a:ext uri="{FF2B5EF4-FFF2-40B4-BE49-F238E27FC236}">
                <ns2:creationId id="{EF492B98-E866-42C0-9102-17B633A0068D}"/>
              </a:ext>
            </a:extLst>
          </p:cNvPr>
          <p:cNvPicPr>
            <a:picLocks noChangeAspect="1"/>
          </p:cNvPicPr>
          <p:nvPr/>
        </p:nvPicPr>
        <p:blipFill>
          <a:blip r:embed="Rbabf26de95d34958"/>
          <a:stretch/>
        </p:blipFill>
        <p:spPr>
          <a:xfrm>
            <a:off x="457200" y="1386354"/>
            <a:ext cx="5486400" cy="3304242"/>
          </a:xfrm>
          <a:prstGeom prst="rect">
            <a:avLst/>
          </a:prstGeom>
        </p:spPr>
      </p:pic>
      <p:sp>
        <p:nvSpPr>
          <p:cNvPr id="3" name="">
            <a:extLst>
              <a:ext uri="{FF2B5EF4-FFF2-40B4-BE49-F238E27FC236}">
                <ns2:creationId id="{12A13160-0DFE-4BE1-ADF3-692B074CBFE1}"/>
              </a:ext>
            </a:extLst>
          </p:cNvPr>
          <p:cNvSpPr>
            <a:spLocks noGrp="1"/>
          </p:cNvSpPr>
          <p:nvPr/>
        </p:nvSpPr>
        <p:spPr>
          <a:xfrm>
            <a:off x="60960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b. Model types</a:t>
            </a:r>
          </a:p>
        </p:txBody>
      </p:sp>
      <p:pic>
        <p:nvPicPr>
          <p:cNvPr id="4" name="" descr="Model types cycle in recorded order; one highlighted type per frame">
            <a:extLst>
              <a:ext uri="{FF2B5EF4-FFF2-40B4-BE49-F238E27FC236}">
                <ns2:creationId id="{3FCAA782-420A-46CA-9676-D23FFE5DA6EC}"/>
              </a:ext>
            </a:extLst>
          </p:cNvPr>
          <p:cNvPicPr>
            <a:picLocks noChangeAspect="1"/>
          </p:cNvPicPr>
          <p:nvPr/>
        </p:nvPicPr>
        <p:blipFill>
          <a:blip r:embed="rIdModelTypeAnimation1AddedAddedAdded"/>
          <a:stretch/>
        </p:blipFill>
        <p:spPr>
          <a:xfrm>
            <a:off x="6096000" y="1253800"/>
            <a:ext cx="5486400" cy="3569350"/>
          </a:xfrm>
          <a:prstGeom prst="rect">
            <a:avLst/>
          </a:prstGeom>
        </p:spPr>
      </p:pic>
      <p:sp>
        <p:nvSpPr>
          <p:cNvPr id="5" name="">
            <a:extLst>
              <a:ext uri="{FF2B5EF4-FFF2-40B4-BE49-F238E27FC236}">
                <ns2:creationId id="{8EB92C60-1198-4F41-B328-B5CCAF57C7F8}"/>
              </a:ext>
            </a:extLst>
          </p:cNvPr>
          <p:cNvSpPr>
            <a:spLocks noGrp="1"/>
          </p:cNvSpPr>
          <p:nvPr/>
        </p:nvSpPr>
        <p:spPr>
          <a:xfrm>
            <a:off x="457200" y="5715000"/>
            <a:ext cx="11277600" cy="914400"/>
          </a:xfrm>
          <a:prstGeom prst="rect">
            <a:avLst/>
          </a:prstGeom>
          <a:noFill/>
          <a:ln w="0">
            <a:noFill/>
          </a:ln>
        </p:spPr>
        <p:txBody>
          <a:bodyPr>
            <a:normAutofit fontScale="100000"/>
          </a:bodyPr>
          <a:lstStyle>
            <a:defPPr>
              <a:defRPr sz="1650">
                <a:solidFill>
                  <a:srgbClr val="222222"/>
                </a:solidFill>
                <a:latin typeface="DejaVu Sans"/>
                <a:ea typeface="DejaVu Sans"/>
                <a:cs typeface="DejaVu Sans"/>
              </a:defRPr>
            </a:defPPr>
            <a:lvl1pPr>
              <a:defRPr sz="1650">
                <a:solidFill>
                  <a:srgbClr val="222222"/>
                </a:solidFill>
                <a:latin typeface="DejaVu Sans"/>
                <a:ea typeface="DejaVu Sans"/>
                <a:cs typeface="DejaVu Sans"/>
              </a:defRPr>
            </a:lvl1pPr>
            <a:lvl2pPr>
              <a:defRPr sz="1650">
                <a:solidFill>
                  <a:srgbClr val="222222"/>
                </a:solidFill>
                <a:latin typeface="DejaVu Sans"/>
                <a:ea typeface="DejaVu Sans"/>
                <a:cs typeface="DejaVu Sans"/>
              </a:defRPr>
            </a:lvl2pPr>
            <a:lvl3pPr>
              <a:defRPr sz="1650">
                <a:solidFill>
                  <a:srgbClr val="222222"/>
                </a:solidFill>
                <a:latin typeface="DejaVu Sans"/>
                <a:ea typeface="DejaVu Sans"/>
                <a:cs typeface="DejaVu Sans"/>
              </a:defRPr>
            </a:lvl3pPr>
            <a:lvl4pPr>
              <a:defRPr sz="1650">
                <a:solidFill>
                  <a:srgbClr val="222222"/>
                </a:solidFill>
                <a:latin typeface="DejaVu Sans"/>
                <a:ea typeface="DejaVu Sans"/>
                <a:cs typeface="DejaVu Sans"/>
              </a:defRPr>
            </a:lvl4pPr>
            <a:lvl5pPr>
              <a:defRPr sz="1650">
                <a:solidFill>
                  <a:srgbClr val="222222"/>
                </a:solidFill>
                <a:latin typeface="DejaVu Sans"/>
                <a:ea typeface="DejaVu Sans"/>
                <a:cs typeface="DejaVu Sans"/>
              </a:defRPr>
            </a:lvl5pPr>
            <a:lvl6pPr>
              <a:defRPr sz="1650">
                <a:solidFill>
                  <a:srgbClr val="222222"/>
                </a:solidFill>
                <a:latin typeface="DejaVu Sans"/>
                <a:ea typeface="DejaVu Sans"/>
                <a:cs typeface="DejaVu Sans"/>
              </a:defRPr>
            </a:lvl6pPr>
            <a:lvl7pPr>
              <a:defRPr sz="1650">
                <a:solidFill>
                  <a:srgbClr val="222222"/>
                </a:solidFill>
                <a:latin typeface="DejaVu Sans"/>
                <a:ea typeface="DejaVu Sans"/>
                <a:cs typeface="DejaVu Sans"/>
              </a:defRPr>
            </a:lvl7pPr>
            <a:lvl8pPr>
              <a:defRPr sz="1650">
                <a:solidFill>
                  <a:srgbClr val="222222"/>
                </a:solidFill>
                <a:latin typeface="DejaVu Sans"/>
                <a:ea typeface="DejaVu Sans"/>
                <a:cs typeface="DejaVu Sans"/>
              </a:defRPr>
            </a:lvl8pPr>
            <a:lvl9pPr>
              <a:defRPr sz="1650">
                <a:solidFill>
                  <a:srgbClr val="222222"/>
                </a:solidFill>
                <a:latin typeface="DejaVu Sans"/>
                <a:ea typeface="DejaVu Sans"/>
                <a:cs typeface="DejaVu Sans"/>
              </a:defRPr>
            </a:lvl9pPr>
          </a:lstStyle>
          <a:p>
            <a:pPr>
              <a:defRPr sz="1650">
                <a:solidFill>
                  <a:srgbClr val="222222"/>
                </a:solidFill>
                <a:latin typeface="DejaVu Sans"/>
                <a:ea typeface="DejaVu Sans"/>
                <a:cs typeface="DejaVu Sans"/>
              </a:defRPr>
            </a:pPr>
            <a:r>
              <a:rPr sz="1650">
                <a:solidFill>
                  <a:srgbClr val="222222"/>
                </a:solidFill>
                <a:latin typeface="DejaVu Sans"/>
                <a:ea typeface="DejaVu Sans"/>
                <a:cs typeface="DejaVu Sans"/>
              </a:rPr>
              <a:t>Figure 8. UMAP projection of shared-residue distograms. a: cluster labels assigned from UMAP; cluster colors are consistent across projections. b: model type labels; each model type uses its consistent color across workflow runs.</a:t>
            </a:r>
          </a:p>
        </p:txBody>
      </p:sp>
    </p:spTree>
    <p:extLst>
      <p:ext uri="{BB962C8B-B14F-4D97-AF65-F5344CB8AC3E}">
        <ns4:creationId val="135056977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1AF17DAE-21C4-48A3-A189-7EBFEB9C27B5}"/>
              </a:ext>
            </a:extLst>
          </p:cNvPr>
          <p:cNvPicPr>
            <a:picLocks xmlns:a="http://schemas.openxmlformats.org/drawingml/2006/main" noChangeAspect="1"/>
          </p:cNvPicPr>
          <p:nvPr/>
        </p:nvPicPr>
        <p:blipFill>
          <a:blip xmlns:r="http://schemas.openxmlformats.org/officeDocument/2006/relationships" xmlns:a="http://schemas.openxmlformats.org/drawingml/2006/main" r:embed="Rab76688ab1e34ff7"/>
          <a:stretch xmlns:a="http://schemas.openxmlformats.org/drawingml/2006/main"/>
        </p:blipFill>
        <p:spPr>
          <a:xfrm xmlns:a="http://schemas.openxmlformats.org/drawingml/2006/main">
            <a:off x="457200" y="311506"/>
            <a:ext cx="5486400" cy="4920538"/>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EB95C655-BA20-4699-8164-663AC2BF23D8}"/>
              </a:ext>
            </a:extLst>
          </p:cNvPr>
          <p:cNvPicPr>
            <a:picLocks xmlns:a="http://schemas.openxmlformats.org/drawingml/2006/main" noChangeAspect="1"/>
          </p:cNvPicPr>
          <p:nvPr/>
        </p:nvPicPr>
        <p:blipFill>
          <a:blip xmlns:r="http://schemas.openxmlformats.org/officeDocument/2006/relationships" xmlns:a="http://schemas.openxmlformats.org/drawingml/2006/main" r:embed="R6d405792820d477e"/>
          <a:stretch xmlns:a="http://schemas.openxmlformats.org/drawingml/2006/main"/>
        </p:blipFill>
        <p:spPr>
          <a:xfrm xmlns:a="http://schemas.openxmlformats.org/drawingml/2006/main">
            <a:off x="6096000" y="329032"/>
            <a:ext cx="5486400" cy="488548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0AACBE1-7C9C-4861-A5B0-CE0480B27B08}"/>
              </a:ext>
            </a:extLst>
          </p:cNvPr>
          <p:cNvSpPr>
            <a:spLocks xmlns:a="http://schemas.openxmlformats.org/drawingml/2006/main" noGrp="1"/>
          </p:cNvSpPr>
          <p:nvPr/>
        </p:nvSpPr>
        <p:spPr>
          <a:xfrm xmlns:a="http://schemas.openxmlformats.org/drawingml/2006/main">
            <a:off x="457200" y="5619750"/>
            <a:ext cx="112776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xmlns:a="http://schemas.openxmlformats.org/drawingml/2006/main">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9. t-SNE embedding of shared-residue distograms, colored by confidence metrics. a: &lt;pLDDT&gt;; b: pTM. Cluster-colored outlines in panel a identify the selected representative models from each structure cluster ensemble. Gray models do not have this value calculable.</a:t>
            </a:r>
          </a:p>
        </p:txBody>
      </p:sp>
    </p:spTree>
    <p:extLst>
      <p:ext uri="{BB962C8B-B14F-4D97-AF65-F5344CB8AC3E}">
        <p14:creationId xmlns:p14="http://schemas.microsoft.com/office/powerpoint/2010/main" val="182715616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2435F55E-D7E4-4035-B769-713CCED34868}"/>
              </a:ext>
            </a:extLst>
          </p:cNvPr>
          <p:cNvPicPr>
            <a:picLocks xmlns:a="http://schemas.openxmlformats.org/drawingml/2006/main" noChangeAspect="1"/>
          </p:cNvPicPr>
          <p:nvPr/>
        </p:nvPicPr>
        <p:blipFill>
          <a:blip xmlns:r="http://schemas.openxmlformats.org/officeDocument/2006/relationships" xmlns:a="http://schemas.openxmlformats.org/drawingml/2006/main" r:embed="R0478aff0d8c34c21"/>
          <a:stretch xmlns:a="http://schemas.openxmlformats.org/drawingml/2006/main"/>
        </p:blipFill>
        <p:spPr>
          <a:xfrm xmlns:a="http://schemas.openxmlformats.org/drawingml/2006/main">
            <a:off x="2232391" y="609600"/>
            <a:ext cx="7727218" cy="4838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82CC833-F14B-472A-8650-9A8DE03D1AD7}"/>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xmlns:a="http://schemas.openxmlformats.org/drawingml/2006/main">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Figure 10. t-SNE embedding of shared-residue distograms, colored by AIS Method.</a:t>
            </a:r>
          </a:p>
        </p:txBody>
      </p:sp>
    </p:spTree>
    <p:extLst>
      <p:ext uri="{BB962C8B-B14F-4D97-AF65-F5344CB8AC3E}">
        <p14:creationId xmlns:p14="http://schemas.microsoft.com/office/powerpoint/2010/main" val="287809882"/>
      </p:ext>
    </p:extLst>
  </p:cSld>
</p:sld>
</file>

<file path=ppt/slides/slide1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6" name="">
            <a:extLst>
              <a:ext uri="{FF2B5EF4-FFF2-40B4-BE49-F238E27FC236}">
                <ns2:creationId id="{1A2F77AF-3322-4AEE-AAB3-74DEA33666EC}"/>
              </a:ext>
            </a:extLst>
          </p:cNvPr>
          <p:cNvSpPr>
            <a:spLocks noGrp="1"/>
          </p:cNvSpPr>
          <p:nvPr/>
        </p:nvSpPr>
        <p:spPr>
          <a:xfrm>
            <a:off x="4572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a. Cluster labels</a:t>
            </a:r>
          </a:p>
        </p:txBody>
      </p:sp>
      <p:pic>
        <p:nvPicPr>
          <p:cNvPr id="2" name="">
            <a:extLst>
              <a:ext uri="{FF2B5EF4-FFF2-40B4-BE49-F238E27FC236}">
                <ns2:creationId id="{03EE08C2-3675-40D6-87C7-1837174FCC2D}"/>
              </a:ext>
            </a:extLst>
          </p:cNvPr>
          <p:cNvPicPr>
            <a:picLocks noChangeAspect="1"/>
          </p:cNvPicPr>
          <p:nvPr/>
        </p:nvPicPr>
        <p:blipFill>
          <a:blip r:embed="Rf717c00b5382429b"/>
          <a:stretch/>
        </p:blipFill>
        <p:spPr>
          <a:xfrm>
            <a:off x="457200" y="1404818"/>
            <a:ext cx="5486400" cy="3267313"/>
          </a:xfrm>
          <a:prstGeom prst="rect">
            <a:avLst/>
          </a:prstGeom>
        </p:spPr>
      </p:pic>
      <p:sp>
        <p:nvSpPr>
          <p:cNvPr id="3" name="">
            <a:extLst>
              <a:ext uri="{FF2B5EF4-FFF2-40B4-BE49-F238E27FC236}">
                <ns2:creationId id="{8EE235F0-0C69-4C0F-BF43-E9C2856C7C0A}"/>
              </a:ext>
            </a:extLst>
          </p:cNvPr>
          <p:cNvSpPr>
            <a:spLocks noGrp="1"/>
          </p:cNvSpPr>
          <p:nvPr/>
        </p:nvSpPr>
        <p:spPr>
          <a:xfrm>
            <a:off x="6096000" y="228600"/>
            <a:ext cx="5486400" cy="323850"/>
          </a:xfrm>
          <a:prstGeom prst="rect">
            <a:avLst/>
          </a:prstGeom>
          <a:noFill/>
          <a:ln w="0">
            <a:noFill/>
          </a:ln>
        </p:spPr>
        <p:txBody>
          <a:bodyPr/>
          <a:lstStyle>
            <a:defPPr>
              <a:defRPr sz="1800">
                <a:solidFill>
                  <a:srgbClr val="222222"/>
                </a:solidFill>
                <a:latin typeface="DejaVu Sans"/>
                <a:ea typeface="DejaVu Sans"/>
                <a:cs typeface="DejaVu Sans"/>
              </a:defRPr>
            </a:defPPr>
            <a:lvl1pPr>
              <a:defRPr sz="1800">
                <a:solidFill>
                  <a:srgbClr val="222222"/>
                </a:solidFill>
                <a:latin typeface="DejaVu Sans"/>
                <a:ea typeface="DejaVu Sans"/>
                <a:cs typeface="DejaVu Sans"/>
              </a:defRPr>
            </a:lvl1pPr>
            <a:lvl2pPr>
              <a:defRPr sz="1800">
                <a:solidFill>
                  <a:srgbClr val="222222"/>
                </a:solidFill>
                <a:latin typeface="DejaVu Sans"/>
                <a:ea typeface="DejaVu Sans"/>
                <a:cs typeface="DejaVu Sans"/>
              </a:defRPr>
            </a:lvl2pPr>
            <a:lvl3pPr>
              <a:defRPr sz="1800">
                <a:solidFill>
                  <a:srgbClr val="222222"/>
                </a:solidFill>
                <a:latin typeface="DejaVu Sans"/>
                <a:ea typeface="DejaVu Sans"/>
                <a:cs typeface="DejaVu Sans"/>
              </a:defRPr>
            </a:lvl3pPr>
            <a:lvl4pPr>
              <a:defRPr sz="1800">
                <a:solidFill>
                  <a:srgbClr val="222222"/>
                </a:solidFill>
                <a:latin typeface="DejaVu Sans"/>
                <a:ea typeface="DejaVu Sans"/>
                <a:cs typeface="DejaVu Sans"/>
              </a:defRPr>
            </a:lvl4pPr>
            <a:lvl5pPr>
              <a:defRPr sz="1800">
                <a:solidFill>
                  <a:srgbClr val="222222"/>
                </a:solidFill>
                <a:latin typeface="DejaVu Sans"/>
                <a:ea typeface="DejaVu Sans"/>
                <a:cs typeface="DejaVu Sans"/>
              </a:defRPr>
            </a:lvl5pPr>
            <a:lvl6pPr>
              <a:defRPr sz="1800">
                <a:solidFill>
                  <a:srgbClr val="222222"/>
                </a:solidFill>
                <a:latin typeface="DejaVu Sans"/>
                <a:ea typeface="DejaVu Sans"/>
                <a:cs typeface="DejaVu Sans"/>
              </a:defRPr>
            </a:lvl6pPr>
            <a:lvl7pPr>
              <a:defRPr sz="1800">
                <a:solidFill>
                  <a:srgbClr val="222222"/>
                </a:solidFill>
                <a:latin typeface="DejaVu Sans"/>
                <a:ea typeface="DejaVu Sans"/>
                <a:cs typeface="DejaVu Sans"/>
              </a:defRPr>
            </a:lvl7pPr>
            <a:lvl8pPr>
              <a:defRPr sz="1800">
                <a:solidFill>
                  <a:srgbClr val="222222"/>
                </a:solidFill>
                <a:latin typeface="DejaVu Sans"/>
                <a:ea typeface="DejaVu Sans"/>
                <a:cs typeface="DejaVu Sans"/>
              </a:defRPr>
            </a:lvl8pPr>
            <a:lvl9pPr>
              <a:defRPr sz="1800">
                <a:solidFill>
                  <a:srgbClr val="222222"/>
                </a:solidFill>
                <a:latin typeface="DejaVu Sans"/>
                <a:ea typeface="DejaVu Sans"/>
                <a:cs typeface="DejaVu Sans"/>
              </a:defRPr>
            </a:lvl9pPr>
          </a:lstStyle>
          <a:p>
            <a:pPr>
              <a:defRPr sz="1800">
                <a:solidFill>
                  <a:srgbClr val="222222"/>
                </a:solidFill>
                <a:latin typeface="DejaVu Sans"/>
                <a:ea typeface="DejaVu Sans"/>
                <a:cs typeface="DejaVu Sans"/>
              </a:defRPr>
            </a:pPr>
            <a:r>
              <a:rPr sz="1800">
                <a:solidFill>
                  <a:srgbClr val="222222"/>
                </a:solidFill>
                <a:latin typeface="DejaVu Sans"/>
                <a:ea typeface="DejaVu Sans"/>
                <a:cs typeface="DejaVu Sans"/>
              </a:rPr>
              <a:t>b. Model types</a:t>
            </a:r>
          </a:p>
        </p:txBody>
      </p:sp>
      <p:pic>
        <p:nvPicPr>
          <p:cNvPr id="4" name="" descr="Model types cycle in recorded order; one highlighted type per frame">
            <a:extLst>
              <a:ext uri="{FF2B5EF4-FFF2-40B4-BE49-F238E27FC236}">
                <ns2:creationId id="{9690177A-3164-43DF-B5DE-E00BF95DEC65}"/>
              </a:ext>
            </a:extLst>
          </p:cNvPr>
          <p:cNvPicPr>
            <a:picLocks noChangeAspect="1"/>
          </p:cNvPicPr>
          <p:nvPr/>
        </p:nvPicPr>
        <p:blipFill>
          <a:blip r:embed="rIdModelTypeAnimation1AddedAddedAdded"/>
          <a:stretch/>
        </p:blipFill>
        <p:spPr>
          <a:xfrm>
            <a:off x="6096000" y="1275327"/>
            <a:ext cx="5486400" cy="3526296"/>
          </a:xfrm>
          <a:prstGeom prst="rect">
            <a:avLst/>
          </a:prstGeom>
        </p:spPr>
      </p:pic>
      <p:sp>
        <p:nvSpPr>
          <p:cNvPr id="5" name="">
            <a:extLst>
              <a:ext uri="{FF2B5EF4-FFF2-40B4-BE49-F238E27FC236}">
                <ns2:creationId id="{1346B80C-D1FF-4F08-9FB9-59E08084E610}"/>
              </a:ext>
            </a:extLst>
          </p:cNvPr>
          <p:cNvSpPr>
            <a:spLocks noGrp="1"/>
          </p:cNvSpPr>
          <p:nvPr/>
        </p:nvSpPr>
        <p:spPr>
          <a:xfrm>
            <a:off x="457200" y="5715000"/>
            <a:ext cx="11277600" cy="914400"/>
          </a:xfrm>
          <a:prstGeom prst="rect">
            <a:avLst/>
          </a:prstGeom>
          <a:noFill/>
          <a:ln w="0">
            <a:noFill/>
          </a:ln>
        </p:spPr>
        <p:txBody>
          <a:bodyPr>
            <a:normAutofit fontScale="100000"/>
          </a:bodyPr>
          <a:lstStyle>
            <a:defPPr>
              <a:defRPr sz="1650">
                <a:solidFill>
                  <a:srgbClr val="222222"/>
                </a:solidFill>
                <a:latin typeface="DejaVu Sans"/>
                <a:ea typeface="DejaVu Sans"/>
                <a:cs typeface="DejaVu Sans"/>
              </a:defRPr>
            </a:defPPr>
            <a:lvl1pPr>
              <a:defRPr sz="1650">
                <a:solidFill>
                  <a:srgbClr val="222222"/>
                </a:solidFill>
                <a:latin typeface="DejaVu Sans"/>
                <a:ea typeface="DejaVu Sans"/>
                <a:cs typeface="DejaVu Sans"/>
              </a:defRPr>
            </a:lvl1pPr>
            <a:lvl2pPr>
              <a:defRPr sz="1650">
                <a:solidFill>
                  <a:srgbClr val="222222"/>
                </a:solidFill>
                <a:latin typeface="DejaVu Sans"/>
                <a:ea typeface="DejaVu Sans"/>
                <a:cs typeface="DejaVu Sans"/>
              </a:defRPr>
            </a:lvl2pPr>
            <a:lvl3pPr>
              <a:defRPr sz="1650">
                <a:solidFill>
                  <a:srgbClr val="222222"/>
                </a:solidFill>
                <a:latin typeface="DejaVu Sans"/>
                <a:ea typeface="DejaVu Sans"/>
                <a:cs typeface="DejaVu Sans"/>
              </a:defRPr>
            </a:lvl3pPr>
            <a:lvl4pPr>
              <a:defRPr sz="1650">
                <a:solidFill>
                  <a:srgbClr val="222222"/>
                </a:solidFill>
                <a:latin typeface="DejaVu Sans"/>
                <a:ea typeface="DejaVu Sans"/>
                <a:cs typeface="DejaVu Sans"/>
              </a:defRPr>
            </a:lvl4pPr>
            <a:lvl5pPr>
              <a:defRPr sz="1650">
                <a:solidFill>
                  <a:srgbClr val="222222"/>
                </a:solidFill>
                <a:latin typeface="DejaVu Sans"/>
                <a:ea typeface="DejaVu Sans"/>
                <a:cs typeface="DejaVu Sans"/>
              </a:defRPr>
            </a:lvl5pPr>
            <a:lvl6pPr>
              <a:defRPr sz="1650">
                <a:solidFill>
                  <a:srgbClr val="222222"/>
                </a:solidFill>
                <a:latin typeface="DejaVu Sans"/>
                <a:ea typeface="DejaVu Sans"/>
                <a:cs typeface="DejaVu Sans"/>
              </a:defRPr>
            </a:lvl6pPr>
            <a:lvl7pPr>
              <a:defRPr sz="1650">
                <a:solidFill>
                  <a:srgbClr val="222222"/>
                </a:solidFill>
                <a:latin typeface="DejaVu Sans"/>
                <a:ea typeface="DejaVu Sans"/>
                <a:cs typeface="DejaVu Sans"/>
              </a:defRPr>
            </a:lvl7pPr>
            <a:lvl8pPr>
              <a:defRPr sz="1650">
                <a:solidFill>
                  <a:srgbClr val="222222"/>
                </a:solidFill>
                <a:latin typeface="DejaVu Sans"/>
                <a:ea typeface="DejaVu Sans"/>
                <a:cs typeface="DejaVu Sans"/>
              </a:defRPr>
            </a:lvl8pPr>
            <a:lvl9pPr>
              <a:defRPr sz="1650">
                <a:solidFill>
                  <a:srgbClr val="222222"/>
                </a:solidFill>
                <a:latin typeface="DejaVu Sans"/>
                <a:ea typeface="DejaVu Sans"/>
                <a:cs typeface="DejaVu Sans"/>
              </a:defRPr>
            </a:lvl9pPr>
          </a:lstStyle>
          <a:p>
            <a:pPr>
              <a:defRPr sz="1650">
                <a:solidFill>
                  <a:srgbClr val="222222"/>
                </a:solidFill>
                <a:latin typeface="DejaVu Sans"/>
                <a:ea typeface="DejaVu Sans"/>
                <a:cs typeface="DejaVu Sans"/>
              </a:defRPr>
            </a:pPr>
            <a:r>
              <a:rPr sz="1650">
                <a:solidFill>
                  <a:srgbClr val="222222"/>
                </a:solidFill>
                <a:latin typeface="DejaVu Sans"/>
                <a:ea typeface="DejaVu Sans"/>
                <a:cs typeface="DejaVu Sans"/>
              </a:rPr>
              <a:t>Figure 11. t-SNE projection of shared-residue distograms. a: cluster labels assigned from UMAP; cluster colors are consistent across projections. b: model type labels; each model type uses its consistent color across workflow runs.</a:t>
            </a:r>
          </a:p>
        </p:txBody>
      </p:sp>
    </p:spTree>
    <p:extLst>
      <p:ext uri="{BB962C8B-B14F-4D97-AF65-F5344CB8AC3E}">
        <ns4:creationId val="965905288"/>
      </p:ext>
    </p:extLst>
  </p:cSld>
</p:sld>
</file>

<file path=ppt/slides/slide12.xml><?xml version="1.0" encoding="utf-8"?>
<p:sld xmlns:ns1="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ns1:solidFill>
          <ns1:srgbClr val="FFFFFF"/>
        </ns1:solidFill>
      </p:bgPr>
    </p:bg>
    <p:spTree>
      <p:nvGrpSpPr>
        <p:cNvPr id="1" name=""/>
        <p:cNvGrpSpPr/>
        <p:nvPr/>
      </p:nvGrpSpPr>
      <p:grpSpPr>
        <ns1:xfrm/>
      </p:grpSpPr>
      <p:pic>
        <p:nvPicPr>
          <p:cNvPr id="3" name="">
            <ns1:extLst>
              <ns1:ext uri="{FF2B5EF4-FFF2-40B4-BE49-F238E27FC236}">
                <ns2:creationId id="{F62BDC95-2D9B-48BF-BDD1-5CBC74EB7C9B}"/>
              </ns1:ext>
            </ns1:extLst>
          </p:cNvPr>
          <p:cNvPicPr>
            <ns1:picLocks noChangeAspect="1"/>
          </p:cNvPicPr>
          <p:nvPr/>
        </p:nvPicPr>
        <p:blipFill>
          <ns1:blip r:embed="R4fca131fd9ad40e4"/>
          <ns1:stretch/>
        </p:blipFill>
        <p:spPr>
          <ns1:xfrm>
            <ns1:off x="3249706" y="609600"/>
            <ns1:ext cx="5692588" cy="4838700"/>
          </ns1:xfrm>
          <ns1:prstGeom prst="rect">
            <ns1:avLst/>
          </ns1:prstGeom>
        </p:spPr>
      </p:pic>
      <p:sp>
        <p:nvSpPr>
          <p:cNvPr id="2" name="">
            <ns1:extLst>
              <ns1:ext uri="{FF2B5EF4-FFF2-40B4-BE49-F238E27FC236}">
                <ns2:creationId id="{DA8D559A-05DE-41DF-B5AC-CBB60850058C}"/>
              </ns1:ext>
            </ns1:extLst>
          </p:cNvPr>
          <p:cNvSpPr>
            <ns1:spLocks noGrp="1"/>
          </p:cNvSpPr>
          <p:nvPr/>
        </p:nvSpPr>
        <p:spPr>
          <ns1:xfrm>
            <ns1:off x="457200" y="5715000"/>
            <ns1:ext cx="11277600" cy="914400"/>
          </ns1:xfrm>
          <ns1:prstGeom prst="rect">
            <ns1:avLst/>
          </ns1:prstGeom>
          <ns1:noFill/>
          <ns1:ln w="0">
            <ns1:noFill/>
          </ns1:ln>
        </p:spPr>
        <p:txBody>
          <ns1:bodyPr>
            <ns1:normAutofit fontScale="100000"/>
          </ns1:bodyPr>
          <ns1:lstStyle>
            <ns1:defPPr>
              <ns1:defRPr sz="1800">
                <ns1:solidFill>
                  <ns1:srgbClr val="222222"/>
                </ns1:solidFill>
                <ns1:latin typeface="DejaVu Sans"/>
                <ns1:ea typeface="DejaVu Sans"/>
                <ns1:cs typeface="DejaVu Sans"/>
              </ns1:defRPr>
            </ns1:defPPr>
            <ns1:lvl1pPr>
              <ns1:defRPr sz="1800">
                <ns1:solidFill>
                  <ns1:srgbClr val="222222"/>
                </ns1:solidFill>
                <ns1:latin typeface="DejaVu Sans"/>
                <ns1:ea typeface="DejaVu Sans"/>
                <ns1:cs typeface="DejaVu Sans"/>
              </ns1:defRPr>
            </ns1:lvl1pPr>
            <ns1:lvl2pPr>
              <ns1:defRPr sz="1800">
                <ns1:solidFill>
                  <ns1:srgbClr val="222222"/>
                </ns1:solidFill>
                <ns1:latin typeface="DejaVu Sans"/>
                <ns1:ea typeface="DejaVu Sans"/>
                <ns1:cs typeface="DejaVu Sans"/>
              </ns1:defRPr>
            </ns1:lvl2pPr>
            <ns1:lvl3pPr>
              <ns1:defRPr sz="1800">
                <ns1:solidFill>
                  <ns1:srgbClr val="222222"/>
                </ns1:solidFill>
                <ns1:latin typeface="DejaVu Sans"/>
                <ns1:ea typeface="DejaVu Sans"/>
                <ns1:cs typeface="DejaVu Sans"/>
              </ns1:defRPr>
            </ns1:lvl3pPr>
            <ns1:lvl4pPr>
              <ns1:defRPr sz="1800">
                <ns1:solidFill>
                  <ns1:srgbClr val="222222"/>
                </ns1:solidFill>
                <ns1:latin typeface="DejaVu Sans"/>
                <ns1:ea typeface="DejaVu Sans"/>
                <ns1:cs typeface="DejaVu Sans"/>
              </ns1:defRPr>
            </ns1:lvl4pPr>
            <ns1:lvl5pPr>
              <ns1:defRPr sz="1800">
                <ns1:solidFill>
                  <ns1:srgbClr val="222222"/>
                </ns1:solidFill>
                <ns1:latin typeface="DejaVu Sans"/>
                <ns1:ea typeface="DejaVu Sans"/>
                <ns1:cs typeface="DejaVu Sans"/>
              </ns1:defRPr>
            </ns1:lvl5pPr>
            <ns1:lvl6pPr>
              <ns1:defRPr sz="1800">
                <ns1:solidFill>
                  <ns1:srgbClr val="222222"/>
                </ns1:solidFill>
                <ns1:latin typeface="DejaVu Sans"/>
                <ns1:ea typeface="DejaVu Sans"/>
                <ns1:cs typeface="DejaVu Sans"/>
              </ns1:defRPr>
            </ns1:lvl6pPr>
            <ns1:lvl7pPr>
              <ns1:defRPr sz="1800">
                <ns1:solidFill>
                  <ns1:srgbClr val="222222"/>
                </ns1:solidFill>
                <ns1:latin typeface="DejaVu Sans"/>
                <ns1:ea typeface="DejaVu Sans"/>
                <ns1:cs typeface="DejaVu Sans"/>
              </ns1:defRPr>
            </ns1:lvl7pPr>
            <ns1:lvl8pPr>
              <ns1:defRPr sz="1800">
                <ns1:solidFill>
                  <ns1:srgbClr val="222222"/>
                </ns1:solidFill>
                <ns1:latin typeface="DejaVu Sans"/>
                <ns1:ea typeface="DejaVu Sans"/>
                <ns1:cs typeface="DejaVu Sans"/>
              </ns1:defRPr>
            </ns1:lvl8pPr>
            <ns1:lvl9pPr>
              <ns1:defRPr sz="1800">
                <ns1:solidFill>
                  <ns1:srgbClr val="222222"/>
                </ns1:solidFill>
                <ns1:latin typeface="DejaVu Sans"/>
                <ns1:ea typeface="DejaVu Sans"/>
                <ns1:cs typeface="DejaVu Sans"/>
              </ns1:defRPr>
            </ns1:lvl9pPr>
          </ns1:lstStyle>
          <ns1:p>
            <ns1:pPr>
              <ns1:defRPr sz="1800">
                <ns1:solidFill>
                  <ns1:srgbClr val="222222"/>
                </ns1:solidFill>
                <ns1:latin typeface="DejaVu Sans"/>
                <ns1:ea typeface="DejaVu Sans"/>
                <ns1:cs typeface="DejaVu Sans"/>
              </ns1:defRPr>
            </ns1:pPr>
            <ns1:r>
              <ns1:rPr sz="1800">
                <ns1:solidFill>
                  <ns1:srgbClr val="222222"/>
                </ns1:solidFill>
                <ns1:latin typeface="DejaVu Sans"/>
                <ns1:ea typeface="DejaVu Sans"/>
                <ns1:cs typeface="DejaVu Sans"/>
              </ns1:rPr>
              <ns1:t>Figure 2. Variance of Cα distances between shared residues across the model ensemble. Colored outlines and membership strips delineate the detected rigid cores, including discontinuous sequence segments.</ns1:t>
            </ns1:r>
          </ns1:p>
        </p:txBody>
      </p:sp>
    </p:spTree>
    <p:extLst>
      <p:ext uri="{BB962C8B-B14F-4D97-AF65-F5344CB8AC3E}">
        <ns4:creationId val="1776276064"/>
      </p:ext>
    </p:extLst>
  </p:cSld>
</p:sld>
</file>

<file path=ppt/slides/slide1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8" name="">
            <a:extLst>
              <a:ext uri="{FF2B5EF4-FFF2-40B4-BE49-F238E27FC236}">
                <ns2:creationId id="{85F1CD9D-2E1F-4542-8FCE-6A86B86CDDEC}"/>
              </a:ext>
            </a:extLst>
          </p:cNvPr>
          <p:cNvSpPr>
            <a:spLocks noGrp="1"/>
          </p:cNvSpPr>
          <p:nvPr/>
        </p:nvSpPr>
        <p:spPr>
          <a:xfrm>
            <a:off x="457200" y="228600"/>
            <a:ext cx="5486400" cy="323850"/>
          </a:xfrm>
          <a:prstGeom prst="rect">
            <a:avLst/>
          </a:prstGeom>
          <a:noFill/>
          <a:ln w="0">
            <a:noFill/>
          </a:ln>
        </p:spPr>
        <p:txBody>
          <a:bodyPr/>
          <a:lstStyle>
            <a:defPPr>
              <a:defRPr sz="1800">
                <a:solidFill>
                  <a:srgbClr val="1F77B4"/>
                </a:solidFill>
                <a:latin typeface="DejaVu Sans"/>
                <a:ea typeface="DejaVu Sans"/>
                <a:cs typeface="DejaVu Sans"/>
              </a:defRPr>
            </a:defPPr>
            <a:lvl1pPr>
              <a:defRPr sz="1800">
                <a:solidFill>
                  <a:srgbClr val="1F77B4"/>
                </a:solidFill>
                <a:latin typeface="DejaVu Sans"/>
                <a:ea typeface="DejaVu Sans"/>
                <a:cs typeface="DejaVu Sans"/>
              </a:defRPr>
            </a:lvl1pPr>
            <a:lvl2pPr>
              <a:defRPr sz="1800">
                <a:solidFill>
                  <a:srgbClr val="1F77B4"/>
                </a:solidFill>
                <a:latin typeface="DejaVu Sans"/>
                <a:ea typeface="DejaVu Sans"/>
                <a:cs typeface="DejaVu Sans"/>
              </a:defRPr>
            </a:lvl2pPr>
            <a:lvl3pPr>
              <a:defRPr sz="1800">
                <a:solidFill>
                  <a:srgbClr val="1F77B4"/>
                </a:solidFill>
                <a:latin typeface="DejaVu Sans"/>
                <a:ea typeface="DejaVu Sans"/>
                <a:cs typeface="DejaVu Sans"/>
              </a:defRPr>
            </a:lvl3pPr>
            <a:lvl4pPr>
              <a:defRPr sz="1800">
                <a:solidFill>
                  <a:srgbClr val="1F77B4"/>
                </a:solidFill>
                <a:latin typeface="DejaVu Sans"/>
                <a:ea typeface="DejaVu Sans"/>
                <a:cs typeface="DejaVu Sans"/>
              </a:defRPr>
            </a:lvl4pPr>
            <a:lvl5pPr>
              <a:defRPr sz="1800">
                <a:solidFill>
                  <a:srgbClr val="1F77B4"/>
                </a:solidFill>
                <a:latin typeface="DejaVu Sans"/>
                <a:ea typeface="DejaVu Sans"/>
                <a:cs typeface="DejaVu Sans"/>
              </a:defRPr>
            </a:lvl5pPr>
            <a:lvl6pPr>
              <a:defRPr sz="1800">
                <a:solidFill>
                  <a:srgbClr val="1F77B4"/>
                </a:solidFill>
                <a:latin typeface="DejaVu Sans"/>
                <a:ea typeface="DejaVu Sans"/>
                <a:cs typeface="DejaVu Sans"/>
              </a:defRPr>
            </a:lvl6pPr>
            <a:lvl7pPr>
              <a:defRPr sz="1800">
                <a:solidFill>
                  <a:srgbClr val="1F77B4"/>
                </a:solidFill>
                <a:latin typeface="DejaVu Sans"/>
                <a:ea typeface="DejaVu Sans"/>
                <a:cs typeface="DejaVu Sans"/>
              </a:defRPr>
            </a:lvl7pPr>
            <a:lvl8pPr>
              <a:defRPr sz="1800">
                <a:solidFill>
                  <a:srgbClr val="1F77B4"/>
                </a:solidFill>
                <a:latin typeface="DejaVu Sans"/>
                <a:ea typeface="DejaVu Sans"/>
                <a:cs typeface="DejaVu Sans"/>
              </a:defRPr>
            </a:lvl8pPr>
            <a:lvl9pPr>
              <a:defRPr sz="1800">
                <a:solidFill>
                  <a:srgbClr val="1F77B4"/>
                </a:solidFill>
                <a:latin typeface="DejaVu Sans"/>
                <a:ea typeface="DejaVu Sans"/>
                <a:cs typeface="DejaVu Sans"/>
              </a:defRPr>
            </a:lvl9pPr>
          </a:lstStyle>
          <a:p>
            <a:pPr>
              <a:defRPr sz="1800">
                <a:solidFill>
                  <a:srgbClr val="1F77B4"/>
                </a:solidFill>
                <a:latin typeface="DejaVu Sans"/>
                <a:ea typeface="DejaVu Sans"/>
                <a:cs typeface="DejaVu Sans"/>
              </a:defRPr>
            </a:pPr>
            <a:r>
              <a:rPr sz="1800">
                <a:solidFill>
                  <a:srgbClr val="1F77B4"/>
                </a:solidFill>
                <a:latin typeface="DejaVu Sans"/>
                <a:ea typeface="DejaVu Sans"/>
                <a:cs typeface="DejaVu Sans"/>
              </a:rPr>
              <a:t>a. C1.1</a:t>
            </a:r>
          </a:p>
        </p:txBody>
      </p:sp>
      <p:pic>
        <p:nvPicPr>
          <p:cNvPr id="2" name="">
            <a:extLst>
              <a:ext uri="{FF2B5EF4-FFF2-40B4-BE49-F238E27FC236}">
                <ns2:creationId id="{B889E710-CC6A-42BC-9EA0-51E558E20B86}"/>
              </a:ext>
            </a:extLst>
          </p:cNvPr>
          <p:cNvPicPr>
            <a:picLocks noChangeAspect="1"/>
          </p:cNvPicPr>
          <p:nvPr/>
        </p:nvPicPr>
        <p:blipFill>
          <a:blip r:embed="Raeb69bc070f445cf"/>
          <a:srcRect l="27889" t="22909" r="20389" b="25636"/>
          <a:stretch/>
        </p:blipFill>
        <p:spPr>
          <a:xfrm>
            <a:off x="1429978" y="590550"/>
            <a:ext cx="3540843" cy="2152650"/>
          </a:xfrm>
          <a:prstGeom prst="rect">
            <a:avLst/>
          </a:prstGeom>
        </p:spPr>
      </p:pic>
      <p:sp>
        <p:nvSpPr>
          <p:cNvPr id="3" name="">
            <a:extLst>
              <a:ext uri="{FF2B5EF4-FFF2-40B4-BE49-F238E27FC236}">
                <ns2:creationId id="{9980A078-A606-4AF2-81F7-954727E9ED8F}"/>
              </a:ext>
            </a:extLst>
          </p:cNvPr>
          <p:cNvSpPr>
            <a:spLocks noGrp="1"/>
          </p:cNvSpPr>
          <p:nvPr/>
        </p:nvSpPr>
        <p:spPr>
          <a:xfrm>
            <a:off x="6096000" y="228600"/>
            <a:ext cx="5486400" cy="323850"/>
          </a:xfrm>
          <a:prstGeom prst="rect">
            <a:avLst/>
          </a:prstGeom>
          <a:noFill/>
          <a:ln w="0">
            <a:noFill/>
          </a:ln>
        </p:spPr>
        <p:txBody>
          <a:bodyPr/>
          <a:lstStyle>
            <a:defPPr>
              <a:defRPr sz="1800">
                <a:solidFill>
                  <a:srgbClr val="FF7F0E"/>
                </a:solidFill>
                <a:latin typeface="DejaVu Sans"/>
                <a:ea typeface="DejaVu Sans"/>
                <a:cs typeface="DejaVu Sans"/>
              </a:defRPr>
            </a:defPPr>
            <a:lvl1pPr>
              <a:defRPr sz="1800">
                <a:solidFill>
                  <a:srgbClr val="FF7F0E"/>
                </a:solidFill>
                <a:latin typeface="DejaVu Sans"/>
                <a:ea typeface="DejaVu Sans"/>
                <a:cs typeface="DejaVu Sans"/>
              </a:defRPr>
            </a:lvl1pPr>
            <a:lvl2pPr>
              <a:defRPr sz="1800">
                <a:solidFill>
                  <a:srgbClr val="FF7F0E"/>
                </a:solidFill>
                <a:latin typeface="DejaVu Sans"/>
                <a:ea typeface="DejaVu Sans"/>
                <a:cs typeface="DejaVu Sans"/>
              </a:defRPr>
            </a:lvl2pPr>
            <a:lvl3pPr>
              <a:defRPr sz="1800">
                <a:solidFill>
                  <a:srgbClr val="FF7F0E"/>
                </a:solidFill>
                <a:latin typeface="DejaVu Sans"/>
                <a:ea typeface="DejaVu Sans"/>
                <a:cs typeface="DejaVu Sans"/>
              </a:defRPr>
            </a:lvl3pPr>
            <a:lvl4pPr>
              <a:defRPr sz="1800">
                <a:solidFill>
                  <a:srgbClr val="FF7F0E"/>
                </a:solidFill>
                <a:latin typeface="DejaVu Sans"/>
                <a:ea typeface="DejaVu Sans"/>
                <a:cs typeface="DejaVu Sans"/>
              </a:defRPr>
            </a:lvl4pPr>
            <a:lvl5pPr>
              <a:defRPr sz="1800">
                <a:solidFill>
                  <a:srgbClr val="FF7F0E"/>
                </a:solidFill>
                <a:latin typeface="DejaVu Sans"/>
                <a:ea typeface="DejaVu Sans"/>
                <a:cs typeface="DejaVu Sans"/>
              </a:defRPr>
            </a:lvl5pPr>
            <a:lvl6pPr>
              <a:defRPr sz="1800">
                <a:solidFill>
                  <a:srgbClr val="FF7F0E"/>
                </a:solidFill>
                <a:latin typeface="DejaVu Sans"/>
                <a:ea typeface="DejaVu Sans"/>
                <a:cs typeface="DejaVu Sans"/>
              </a:defRPr>
            </a:lvl6pPr>
            <a:lvl7pPr>
              <a:defRPr sz="1800">
                <a:solidFill>
                  <a:srgbClr val="FF7F0E"/>
                </a:solidFill>
                <a:latin typeface="DejaVu Sans"/>
                <a:ea typeface="DejaVu Sans"/>
                <a:cs typeface="DejaVu Sans"/>
              </a:defRPr>
            </a:lvl7pPr>
            <a:lvl8pPr>
              <a:defRPr sz="1800">
                <a:solidFill>
                  <a:srgbClr val="FF7F0E"/>
                </a:solidFill>
                <a:latin typeface="DejaVu Sans"/>
                <a:ea typeface="DejaVu Sans"/>
                <a:cs typeface="DejaVu Sans"/>
              </a:defRPr>
            </a:lvl8pPr>
            <a:lvl9pPr>
              <a:defRPr sz="1800">
                <a:solidFill>
                  <a:srgbClr val="FF7F0E"/>
                </a:solidFill>
                <a:latin typeface="DejaVu Sans"/>
                <a:ea typeface="DejaVu Sans"/>
                <a:cs typeface="DejaVu Sans"/>
              </a:defRPr>
            </a:lvl9pPr>
          </a:lstStyle>
          <a:p>
            <a:pPr>
              <a:defRPr sz="1800">
                <a:solidFill>
                  <a:srgbClr val="FF7F0E"/>
                </a:solidFill>
                <a:latin typeface="DejaVu Sans"/>
                <a:ea typeface="DejaVu Sans"/>
                <a:cs typeface="DejaVu Sans"/>
              </a:defRPr>
            </a:pPr>
            <a:r>
              <a:rPr sz="1800">
                <a:solidFill>
                  <a:srgbClr val="FF7F0E"/>
                </a:solidFill>
                <a:latin typeface="DejaVu Sans"/>
                <a:ea typeface="DejaVu Sans"/>
                <a:cs typeface="DejaVu Sans"/>
              </a:rPr>
              <a:t>b. C1.2</a:t>
            </a:r>
          </a:p>
        </p:txBody>
      </p:sp>
      <p:pic>
        <p:nvPicPr>
          <p:cNvPr id="4" name="">
            <a:extLst>
              <a:ext uri="{FF2B5EF4-FFF2-40B4-BE49-F238E27FC236}">
                <ns2:creationId id="{816DECDA-76C9-4A43-B0B9-8010A1C3ED48}"/>
              </a:ext>
            </a:extLst>
          </p:cNvPr>
          <p:cNvPicPr>
            <a:picLocks noChangeAspect="1"/>
          </p:cNvPicPr>
          <p:nvPr/>
        </p:nvPicPr>
        <p:blipFill>
          <a:blip r:embed="Rce383d6990bd4271"/>
          <a:srcRect l="27889" t="22909" r="20389" b="25636"/>
          <a:stretch/>
        </p:blipFill>
        <p:spPr>
          <a:xfrm>
            <a:off x="7068778" y="590550"/>
            <a:ext cx="3540843" cy="2152650"/>
          </a:xfrm>
          <a:prstGeom prst="rect">
            <a:avLst/>
          </a:prstGeom>
        </p:spPr>
      </p:pic>
      <p:sp>
        <p:nvSpPr>
          <p:cNvPr id="5" name="">
            <a:extLst>
              <a:ext uri="{FF2B5EF4-FFF2-40B4-BE49-F238E27FC236}">
                <ns2:creationId id="{8505682A-416C-462D-A5A0-4945122AB0DC}"/>
              </a:ext>
            </a:extLst>
          </p:cNvPr>
          <p:cNvSpPr>
            <a:spLocks noGrp="1"/>
          </p:cNvSpPr>
          <p:nvPr/>
        </p:nvSpPr>
        <p:spPr>
          <a:xfrm>
            <a:off x="457200" y="2838450"/>
            <a:ext cx="5486400" cy="323850"/>
          </a:xfrm>
          <a:prstGeom prst="rect">
            <a:avLst/>
          </a:prstGeom>
          <a:noFill/>
          <a:ln w="0">
            <a:noFill/>
          </a:ln>
        </p:spPr>
        <p:txBody>
          <a:bodyPr/>
          <a:lstStyle>
            <a:defPPr>
              <a:defRPr sz="1800">
                <a:solidFill>
                  <a:srgbClr val="2CA02C"/>
                </a:solidFill>
                <a:latin typeface="DejaVu Sans"/>
                <a:ea typeface="DejaVu Sans"/>
                <a:cs typeface="DejaVu Sans"/>
              </a:defRPr>
            </a:defPPr>
            <a:lvl1pPr>
              <a:defRPr sz="1800">
                <a:solidFill>
                  <a:srgbClr val="2CA02C"/>
                </a:solidFill>
                <a:latin typeface="DejaVu Sans"/>
                <a:ea typeface="DejaVu Sans"/>
                <a:cs typeface="DejaVu Sans"/>
              </a:defRPr>
            </a:lvl1pPr>
            <a:lvl2pPr>
              <a:defRPr sz="1800">
                <a:solidFill>
                  <a:srgbClr val="2CA02C"/>
                </a:solidFill>
                <a:latin typeface="DejaVu Sans"/>
                <a:ea typeface="DejaVu Sans"/>
                <a:cs typeface="DejaVu Sans"/>
              </a:defRPr>
            </a:lvl2pPr>
            <a:lvl3pPr>
              <a:defRPr sz="1800">
                <a:solidFill>
                  <a:srgbClr val="2CA02C"/>
                </a:solidFill>
                <a:latin typeface="DejaVu Sans"/>
                <a:ea typeface="DejaVu Sans"/>
                <a:cs typeface="DejaVu Sans"/>
              </a:defRPr>
            </a:lvl3pPr>
            <a:lvl4pPr>
              <a:defRPr sz="1800">
                <a:solidFill>
                  <a:srgbClr val="2CA02C"/>
                </a:solidFill>
                <a:latin typeface="DejaVu Sans"/>
                <a:ea typeface="DejaVu Sans"/>
                <a:cs typeface="DejaVu Sans"/>
              </a:defRPr>
            </a:lvl4pPr>
            <a:lvl5pPr>
              <a:defRPr sz="1800">
                <a:solidFill>
                  <a:srgbClr val="2CA02C"/>
                </a:solidFill>
                <a:latin typeface="DejaVu Sans"/>
                <a:ea typeface="DejaVu Sans"/>
                <a:cs typeface="DejaVu Sans"/>
              </a:defRPr>
            </a:lvl5pPr>
            <a:lvl6pPr>
              <a:defRPr sz="1800">
                <a:solidFill>
                  <a:srgbClr val="2CA02C"/>
                </a:solidFill>
                <a:latin typeface="DejaVu Sans"/>
                <a:ea typeface="DejaVu Sans"/>
                <a:cs typeface="DejaVu Sans"/>
              </a:defRPr>
            </a:lvl6pPr>
            <a:lvl7pPr>
              <a:defRPr sz="1800">
                <a:solidFill>
                  <a:srgbClr val="2CA02C"/>
                </a:solidFill>
                <a:latin typeface="DejaVu Sans"/>
                <a:ea typeface="DejaVu Sans"/>
                <a:cs typeface="DejaVu Sans"/>
              </a:defRPr>
            </a:lvl7pPr>
            <a:lvl8pPr>
              <a:defRPr sz="1800">
                <a:solidFill>
                  <a:srgbClr val="2CA02C"/>
                </a:solidFill>
                <a:latin typeface="DejaVu Sans"/>
                <a:ea typeface="DejaVu Sans"/>
                <a:cs typeface="DejaVu Sans"/>
              </a:defRPr>
            </a:lvl8pPr>
            <a:lvl9pPr>
              <a:defRPr sz="1800">
                <a:solidFill>
                  <a:srgbClr val="2CA02C"/>
                </a:solidFill>
                <a:latin typeface="DejaVu Sans"/>
                <a:ea typeface="DejaVu Sans"/>
                <a:cs typeface="DejaVu Sans"/>
              </a:defRPr>
            </a:lvl9pPr>
          </a:lstStyle>
          <a:p>
            <a:pPr>
              <a:defRPr sz="1800">
                <a:solidFill>
                  <a:srgbClr val="2CA02C"/>
                </a:solidFill>
                <a:latin typeface="DejaVu Sans"/>
                <a:ea typeface="DejaVu Sans"/>
                <a:cs typeface="DejaVu Sans"/>
              </a:defRPr>
            </a:pPr>
            <a:r>
              <a:rPr sz="1800">
                <a:solidFill>
                  <a:srgbClr val="2CA02C"/>
                </a:solidFill>
                <a:latin typeface="DejaVu Sans"/>
                <a:ea typeface="DejaVu Sans"/>
                <a:cs typeface="DejaVu Sans"/>
              </a:rPr>
              <a:t>c. C1.3</a:t>
            </a:r>
          </a:p>
        </p:txBody>
      </p:sp>
      <p:pic>
        <p:nvPicPr>
          <p:cNvPr id="6" name="">
            <a:extLst>
              <a:ext uri="{FF2B5EF4-FFF2-40B4-BE49-F238E27FC236}">
                <ns2:creationId id="{4C8AD19B-830E-4DDE-8DFD-2A16A9543868}"/>
              </a:ext>
            </a:extLst>
          </p:cNvPr>
          <p:cNvPicPr>
            <a:picLocks noChangeAspect="1"/>
          </p:cNvPicPr>
          <p:nvPr/>
        </p:nvPicPr>
        <p:blipFill>
          <a:blip r:embed="R02feb43b935c420f"/>
          <a:srcRect l="27889" t="22909" r="20389" b="25636"/>
          <a:stretch/>
        </p:blipFill>
        <p:spPr>
          <a:xfrm>
            <a:off x="1429978" y="3200400"/>
            <a:ext cx="3540843" cy="2152650"/>
          </a:xfrm>
          <a:prstGeom prst="rect">
            <a:avLst/>
          </a:prstGeom>
        </p:spPr>
      </p:pic>
      <p:sp>
        <p:nvSpPr>
          <p:cNvPr id="7" name="">
            <a:extLst>
              <a:ext uri="{FF2B5EF4-FFF2-40B4-BE49-F238E27FC236}">
                <ns2:creationId id="{1D7AF5D3-D83F-42F0-ABED-B6A933D4DE09}"/>
              </a:ext>
            </a:extLst>
          </p:cNvPr>
          <p:cNvSpPr>
            <a:spLocks noGrp="1"/>
          </p:cNvSpPr>
          <p:nvPr/>
        </p:nvSpPr>
        <p:spPr>
          <a:xfrm>
            <a:off x="457200" y="5619750"/>
            <a:ext cx="11277600" cy="1009650"/>
          </a:xfrm>
          <a:prstGeom prst="rect">
            <a:avLst/>
          </a:prstGeom>
          <a:noFill/>
          <a:ln w="0">
            <a:noFill/>
          </a:ln>
        </p:spPr>
        <p:txBody>
          <a:bodyPr>
            <a:normAutofit fontScale="100000"/>
          </a:bodyPr>
          <a:lstStyle>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12. Cluster ensembles (up to 5 models each), aligned to each full-cluster Cα RMSD medoid. Eligible models ranked by &lt;pLDDT&gt;; representative selection follows the recorded source scope.</a:t>
            </a:r>
          </a:p>
        </p:txBody>
      </p:sp>
    </p:spTree>
    <p:extLst>
      <p:ext uri="{BB962C8B-B14F-4D97-AF65-F5344CB8AC3E}">
        <ns4:creationId val="963797949"/>
      </p:ext>
    </p:extLst>
  </p:cSld>
</p:sld>
</file>

<file path=ppt/slides/slide14.xml><?xml version="1.0" encoding="utf-8"?>
<p:sld xmlns:a="http://schemas.openxmlformats.org/drawingml/2006/main" xmlns:c="http://schemas.openxmlformats.org/drawingml/2006/chart" xmlns:ns2="http://schemas.microsoft.com/office/drawing/2014/main" xmlns:ns5="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7" name="">
            <a:extLst>
              <a:ext uri="{FF2B5EF4-FFF2-40B4-BE49-F238E27FC236}">
                <ns2:creationId id="{F4AF6BEE-6320-45A7-A48C-809584FFA4C3}"/>
              </a:ext>
            </a:extLst>
          </p:cNvPr>
          <p:cNvSpPr>
            <a:spLocks noGrp="1"/>
          </p:cNvSpPr>
          <p:nvPr/>
        </p:nvSpPr>
        <p:spPr>
          <a:xfrm>
            <a:off x="457200" y="228600"/>
            <a:ext cx="11277600" cy="361950"/>
          </a:xfrm>
          <a:prstGeom prst="rect">
            <a:avLst/>
          </a:prstGeom>
          <a:noFill/>
          <a:ln w="0">
            <a:noFill/>
          </a:ln>
        </p:spPr>
        <p:txBody>
          <a:bodyPr/>
          <a:lstStyle>
            <a:defPPr>
              <a:defRPr sz="2250">
                <a:solidFill>
                  <a:srgbClr val="222222"/>
                </a:solidFill>
                <a:latin typeface="DejaVu Sans"/>
                <a:ea typeface="DejaVu Sans"/>
                <a:cs typeface="DejaVu Sans"/>
              </a:defRPr>
            </a:defPPr>
            <a:lvl1pPr>
              <a:defRPr sz="2250">
                <a:solidFill>
                  <a:srgbClr val="222222"/>
                </a:solidFill>
                <a:latin typeface="DejaVu Sans"/>
                <a:ea typeface="DejaVu Sans"/>
                <a:cs typeface="DejaVu Sans"/>
              </a:defRPr>
            </a:lvl1pPr>
            <a:lvl2pPr>
              <a:defRPr sz="2250">
                <a:solidFill>
                  <a:srgbClr val="222222"/>
                </a:solidFill>
                <a:latin typeface="DejaVu Sans"/>
                <a:ea typeface="DejaVu Sans"/>
                <a:cs typeface="DejaVu Sans"/>
              </a:defRPr>
            </a:lvl2pPr>
            <a:lvl3pPr>
              <a:defRPr sz="2250">
                <a:solidFill>
                  <a:srgbClr val="222222"/>
                </a:solidFill>
                <a:latin typeface="DejaVu Sans"/>
                <a:ea typeface="DejaVu Sans"/>
                <a:cs typeface="DejaVu Sans"/>
              </a:defRPr>
            </a:lvl3pPr>
            <a:lvl4pPr>
              <a:defRPr sz="2250">
                <a:solidFill>
                  <a:srgbClr val="222222"/>
                </a:solidFill>
                <a:latin typeface="DejaVu Sans"/>
                <a:ea typeface="DejaVu Sans"/>
                <a:cs typeface="DejaVu Sans"/>
              </a:defRPr>
            </a:lvl4pPr>
            <a:lvl5pPr>
              <a:defRPr sz="2250">
                <a:solidFill>
                  <a:srgbClr val="222222"/>
                </a:solidFill>
                <a:latin typeface="DejaVu Sans"/>
                <a:ea typeface="DejaVu Sans"/>
                <a:cs typeface="DejaVu Sans"/>
              </a:defRPr>
            </a:lvl5pPr>
            <a:lvl6pPr>
              <a:defRPr sz="2250">
                <a:solidFill>
                  <a:srgbClr val="222222"/>
                </a:solidFill>
                <a:latin typeface="DejaVu Sans"/>
                <a:ea typeface="DejaVu Sans"/>
                <a:cs typeface="DejaVu Sans"/>
              </a:defRPr>
            </a:lvl6pPr>
            <a:lvl7pPr>
              <a:defRPr sz="2250">
                <a:solidFill>
                  <a:srgbClr val="222222"/>
                </a:solidFill>
                <a:latin typeface="DejaVu Sans"/>
                <a:ea typeface="DejaVu Sans"/>
                <a:cs typeface="DejaVu Sans"/>
              </a:defRPr>
            </a:lvl7pPr>
            <a:lvl8pPr>
              <a:defRPr sz="2250">
                <a:solidFill>
                  <a:srgbClr val="222222"/>
                </a:solidFill>
                <a:latin typeface="DejaVu Sans"/>
                <a:ea typeface="DejaVu Sans"/>
                <a:cs typeface="DejaVu Sans"/>
              </a:defRPr>
            </a:lvl8pPr>
            <a:lvl9pPr>
              <a:defRPr sz="2250">
                <a:solidFill>
                  <a:srgbClr val="222222"/>
                </a:solidFill>
                <a:latin typeface="DejaVu Sans"/>
                <a:ea typeface="DejaVu Sans"/>
                <a:cs typeface="DejaVu Sans"/>
              </a:defRPr>
            </a:lvl9pPr>
          </a:lstStyle>
          <a:p>
            <a:pPr>
              <a:defRPr sz="2250">
                <a:solidFill>
                  <a:srgbClr val="222222"/>
                </a:solidFill>
                <a:latin typeface="DejaVu Sans"/>
                <a:ea typeface="DejaVu Sans"/>
                <a:cs typeface="DejaVu Sans"/>
              </a:defRPr>
            </a:pPr>
            <a:r>
              <a:rPr sz="2250">
                <a:solidFill>
                  <a:srgbClr val="222222"/>
                </a:solidFill>
                <a:latin typeface="DejaVu Sans"/>
                <a:ea typeface="DejaVu Sans"/>
                <a:cs typeface="DejaVu Sans"/>
              </a:rPr>
              <a:t>Cluster confidence distributions</a:t>
            </a:r>
          </a:p>
        </p:txBody>
      </p:sp>
      <p:graphicFrame>
        <p:nvGraphicFramePr>
          <p:cNvPr id="2" name="Chart">
            <a:extLst>
              <a:ext uri="{FF2B5EF4-FFF2-40B4-BE49-F238E27FC236}">
                <ns2:creationId id="{B7C8573B-88C0-4A7A-B75F-9B9958BDF61E}"/>
              </a:ext>
            </a:extLst>
          </p:cNvPr>
          <p:cNvGraphicFramePr/>
          <p:nvPr/>
        </p:nvGraphicFramePr>
        <p:xfrm>
          <a:off x="457200" y="666750"/>
          <a:ext cx="11277600" cy="4572000"/>
        </p:xfrm>
        <a:graphic>
          <a:graphicData uri="http://schemas.openxmlformats.org/drawingml/2006/chart">
            <c:chart r:id="R649782043c914d11"/>
          </a:graphicData>
        </a:graphic>
      </p:graphicFrame>
      <p:sp>
        <p:nvSpPr>
          <p:cNvPr id="3" name="">
            <a:extLst>
              <a:ext uri="{FF2B5EF4-FFF2-40B4-BE49-F238E27FC236}">
                <ns2:creationId id="{AB622AA7-532A-4BD2-899F-E46D286D4749}"/>
              </a:ext>
            </a:extLst>
          </p:cNvPr>
          <p:cNvSpPr>
            <a:spLocks noGrp="1"/>
          </p:cNvSpPr>
          <p:nvPr/>
        </p:nvSpPr>
        <p:spPr>
          <a:xfrm>
            <a:off x="2829144" y="5276850"/>
            <a:ext cx="990600" cy="285750"/>
          </a:xfrm>
          <a:prstGeom prst="rect">
            <a:avLst/>
          </a:prstGeom>
          <a:noFill/>
          <a:ln w="0">
            <a:noFill/>
          </a:ln>
        </p:spPr>
        <p:txBody>
          <a:bodyPr/>
          <a:lstStyle>
            <a:defPPr algn="ctr">
              <a:defRPr sz="1425">
                <a:solidFill>
                  <a:srgbClr val="222222"/>
                </a:solidFill>
                <a:latin typeface="DejaVu Sans"/>
                <a:ea typeface="DejaVu Sans"/>
                <a:cs typeface="DejaVu Sans"/>
              </a:defRPr>
            </a:defPPr>
            <a:lvl1pPr algn="ctr">
              <a:defRPr sz="1425">
                <a:solidFill>
                  <a:srgbClr val="222222"/>
                </a:solidFill>
                <a:latin typeface="DejaVu Sans"/>
                <a:ea typeface="DejaVu Sans"/>
                <a:cs typeface="DejaVu Sans"/>
              </a:defRPr>
            </a:lvl1pPr>
            <a:lvl2pPr algn="ctr">
              <a:defRPr sz="1425">
                <a:solidFill>
                  <a:srgbClr val="222222"/>
                </a:solidFill>
                <a:latin typeface="DejaVu Sans"/>
                <a:ea typeface="DejaVu Sans"/>
                <a:cs typeface="DejaVu Sans"/>
              </a:defRPr>
            </a:lvl2pPr>
            <a:lvl3pPr algn="ctr">
              <a:defRPr sz="1425">
                <a:solidFill>
                  <a:srgbClr val="222222"/>
                </a:solidFill>
                <a:latin typeface="DejaVu Sans"/>
                <a:ea typeface="DejaVu Sans"/>
                <a:cs typeface="DejaVu Sans"/>
              </a:defRPr>
            </a:lvl3pPr>
            <a:lvl4pPr algn="ctr">
              <a:defRPr sz="1425">
                <a:solidFill>
                  <a:srgbClr val="222222"/>
                </a:solidFill>
                <a:latin typeface="DejaVu Sans"/>
                <a:ea typeface="DejaVu Sans"/>
                <a:cs typeface="DejaVu Sans"/>
              </a:defRPr>
            </a:lvl4pPr>
            <a:lvl5pPr algn="ctr">
              <a:defRPr sz="1425">
                <a:solidFill>
                  <a:srgbClr val="222222"/>
                </a:solidFill>
                <a:latin typeface="DejaVu Sans"/>
                <a:ea typeface="DejaVu Sans"/>
                <a:cs typeface="DejaVu Sans"/>
              </a:defRPr>
            </a:lvl5pPr>
            <a:lvl6pPr algn="ctr">
              <a:defRPr sz="1425">
                <a:solidFill>
                  <a:srgbClr val="222222"/>
                </a:solidFill>
                <a:latin typeface="DejaVu Sans"/>
                <a:ea typeface="DejaVu Sans"/>
                <a:cs typeface="DejaVu Sans"/>
              </a:defRPr>
            </a:lvl6pPr>
            <a:lvl7pPr algn="ctr">
              <a:defRPr sz="1425">
                <a:solidFill>
                  <a:srgbClr val="222222"/>
                </a:solidFill>
                <a:latin typeface="DejaVu Sans"/>
                <a:ea typeface="DejaVu Sans"/>
                <a:cs typeface="DejaVu Sans"/>
              </a:defRPr>
            </a:lvl7pPr>
            <a:lvl8pPr algn="ctr">
              <a:defRPr sz="1425">
                <a:solidFill>
                  <a:srgbClr val="222222"/>
                </a:solidFill>
                <a:latin typeface="DejaVu Sans"/>
                <a:ea typeface="DejaVu Sans"/>
                <a:cs typeface="DejaVu Sans"/>
              </a:defRPr>
            </a:lvl8pPr>
            <a:lvl9pPr algn="ctr">
              <a:defRPr sz="1425">
                <a:solidFill>
                  <a:srgbClr val="222222"/>
                </a:solidFill>
                <a:latin typeface="DejaVu Sans"/>
                <a:ea typeface="DejaVu Sans"/>
                <a:cs typeface="DejaVu Sans"/>
              </a:defRPr>
            </a:lvl9pPr>
          </a:lstStyle>
          <a:p>
            <a:pPr algn="ctr">
              <a:defRPr sz="1425">
                <a:solidFill>
                  <a:srgbClr val="222222"/>
                </a:solidFill>
                <a:latin typeface="DejaVu Sans"/>
                <a:ea typeface="DejaVu Sans"/>
                <a:cs typeface="DejaVu Sans"/>
              </a:defRPr>
            </a:pPr>
            <a:r>
              <a:rPr sz="1425">
                <a:solidFill>
                  <a:srgbClr val="222222"/>
                </a:solidFill>
                <a:latin typeface="DejaVu Sans"/>
                <a:ea typeface="DejaVu Sans"/>
                <a:cs typeface="DejaVu Sans"/>
              </a:rPr>
              <a:t>C1.1</a:t>
            </a:r>
          </a:p>
        </p:txBody>
      </p:sp>
      <p:sp>
        <p:nvSpPr>
          <p:cNvPr id="4" name="">
            <a:extLst>
              <a:ext uri="{FF2B5EF4-FFF2-40B4-BE49-F238E27FC236}">
                <ns2:creationId id="{56B494DF-1C82-4EBA-9E98-54358F002127}"/>
              </a:ext>
            </a:extLst>
          </p:cNvPr>
          <p:cNvSpPr>
            <a:spLocks noGrp="1"/>
          </p:cNvSpPr>
          <p:nvPr/>
        </p:nvSpPr>
        <p:spPr>
          <a:xfrm>
            <a:off x="5939028" y="5276850"/>
            <a:ext cx="990600" cy="285750"/>
          </a:xfrm>
          <a:prstGeom prst="rect">
            <a:avLst/>
          </a:prstGeom>
          <a:noFill/>
          <a:ln w="0">
            <a:noFill/>
          </a:ln>
        </p:spPr>
        <p:txBody>
          <a:bodyPr/>
          <a:lstStyle>
            <a:defPPr algn="ctr">
              <a:defRPr sz="1425">
                <a:solidFill>
                  <a:srgbClr val="222222"/>
                </a:solidFill>
                <a:latin typeface="DejaVu Sans"/>
                <a:ea typeface="DejaVu Sans"/>
                <a:cs typeface="DejaVu Sans"/>
              </a:defRPr>
            </a:defPPr>
            <a:lvl1pPr algn="ctr">
              <a:defRPr sz="1425">
                <a:solidFill>
                  <a:srgbClr val="222222"/>
                </a:solidFill>
                <a:latin typeface="DejaVu Sans"/>
                <a:ea typeface="DejaVu Sans"/>
                <a:cs typeface="DejaVu Sans"/>
              </a:defRPr>
            </a:lvl1pPr>
            <a:lvl2pPr algn="ctr">
              <a:defRPr sz="1425">
                <a:solidFill>
                  <a:srgbClr val="222222"/>
                </a:solidFill>
                <a:latin typeface="DejaVu Sans"/>
                <a:ea typeface="DejaVu Sans"/>
                <a:cs typeface="DejaVu Sans"/>
              </a:defRPr>
            </a:lvl2pPr>
            <a:lvl3pPr algn="ctr">
              <a:defRPr sz="1425">
                <a:solidFill>
                  <a:srgbClr val="222222"/>
                </a:solidFill>
                <a:latin typeface="DejaVu Sans"/>
                <a:ea typeface="DejaVu Sans"/>
                <a:cs typeface="DejaVu Sans"/>
              </a:defRPr>
            </a:lvl3pPr>
            <a:lvl4pPr algn="ctr">
              <a:defRPr sz="1425">
                <a:solidFill>
                  <a:srgbClr val="222222"/>
                </a:solidFill>
                <a:latin typeface="DejaVu Sans"/>
                <a:ea typeface="DejaVu Sans"/>
                <a:cs typeface="DejaVu Sans"/>
              </a:defRPr>
            </a:lvl4pPr>
            <a:lvl5pPr algn="ctr">
              <a:defRPr sz="1425">
                <a:solidFill>
                  <a:srgbClr val="222222"/>
                </a:solidFill>
                <a:latin typeface="DejaVu Sans"/>
                <a:ea typeface="DejaVu Sans"/>
                <a:cs typeface="DejaVu Sans"/>
              </a:defRPr>
            </a:lvl5pPr>
            <a:lvl6pPr algn="ctr">
              <a:defRPr sz="1425">
                <a:solidFill>
                  <a:srgbClr val="222222"/>
                </a:solidFill>
                <a:latin typeface="DejaVu Sans"/>
                <a:ea typeface="DejaVu Sans"/>
                <a:cs typeface="DejaVu Sans"/>
              </a:defRPr>
            </a:lvl6pPr>
            <a:lvl7pPr algn="ctr">
              <a:defRPr sz="1425">
                <a:solidFill>
                  <a:srgbClr val="222222"/>
                </a:solidFill>
                <a:latin typeface="DejaVu Sans"/>
                <a:ea typeface="DejaVu Sans"/>
                <a:cs typeface="DejaVu Sans"/>
              </a:defRPr>
            </a:lvl7pPr>
            <a:lvl8pPr algn="ctr">
              <a:defRPr sz="1425">
                <a:solidFill>
                  <a:srgbClr val="222222"/>
                </a:solidFill>
                <a:latin typeface="DejaVu Sans"/>
                <a:ea typeface="DejaVu Sans"/>
                <a:cs typeface="DejaVu Sans"/>
              </a:defRPr>
            </a:lvl8pPr>
            <a:lvl9pPr algn="ctr">
              <a:defRPr sz="1425">
                <a:solidFill>
                  <a:srgbClr val="222222"/>
                </a:solidFill>
                <a:latin typeface="DejaVu Sans"/>
                <a:ea typeface="DejaVu Sans"/>
                <a:cs typeface="DejaVu Sans"/>
              </a:defRPr>
            </a:lvl9pPr>
          </a:lstStyle>
          <a:p>
            <a:pPr algn="ctr">
              <a:defRPr sz="1425">
                <a:solidFill>
                  <a:srgbClr val="222222"/>
                </a:solidFill>
                <a:latin typeface="DejaVu Sans"/>
                <a:ea typeface="DejaVu Sans"/>
                <a:cs typeface="DejaVu Sans"/>
              </a:defRPr>
            </a:pPr>
            <a:r>
              <a:rPr sz="1425">
                <a:solidFill>
                  <a:srgbClr val="222222"/>
                </a:solidFill>
                <a:latin typeface="DejaVu Sans"/>
                <a:ea typeface="DejaVu Sans"/>
                <a:cs typeface="DejaVu Sans"/>
              </a:rPr>
              <a:t>C1.2</a:t>
            </a:r>
          </a:p>
        </p:txBody>
      </p:sp>
      <p:sp>
        <p:nvSpPr>
          <p:cNvPr id="5" name="">
            <a:extLst>
              <a:ext uri="{FF2B5EF4-FFF2-40B4-BE49-F238E27FC236}">
                <ns2:creationId id="{0FEECB7F-50C2-48D6-9E64-8445EE93C020}"/>
              </a:ext>
            </a:extLst>
          </p:cNvPr>
          <p:cNvSpPr>
            <a:spLocks noGrp="1"/>
          </p:cNvSpPr>
          <p:nvPr/>
        </p:nvSpPr>
        <p:spPr>
          <a:xfrm>
            <a:off x="9048912" y="5276850"/>
            <a:ext cx="990600" cy="285750"/>
          </a:xfrm>
          <a:prstGeom prst="rect">
            <a:avLst/>
          </a:prstGeom>
          <a:noFill/>
          <a:ln w="0">
            <a:noFill/>
          </a:ln>
        </p:spPr>
        <p:txBody>
          <a:bodyPr/>
          <a:lstStyle>
            <a:defPPr algn="ctr">
              <a:defRPr sz="1425">
                <a:solidFill>
                  <a:srgbClr val="222222"/>
                </a:solidFill>
                <a:latin typeface="DejaVu Sans"/>
                <a:ea typeface="DejaVu Sans"/>
                <a:cs typeface="DejaVu Sans"/>
              </a:defRPr>
            </a:defPPr>
            <a:lvl1pPr algn="ctr">
              <a:defRPr sz="1425">
                <a:solidFill>
                  <a:srgbClr val="222222"/>
                </a:solidFill>
                <a:latin typeface="DejaVu Sans"/>
                <a:ea typeface="DejaVu Sans"/>
                <a:cs typeface="DejaVu Sans"/>
              </a:defRPr>
            </a:lvl1pPr>
            <a:lvl2pPr algn="ctr">
              <a:defRPr sz="1425">
                <a:solidFill>
                  <a:srgbClr val="222222"/>
                </a:solidFill>
                <a:latin typeface="DejaVu Sans"/>
                <a:ea typeface="DejaVu Sans"/>
                <a:cs typeface="DejaVu Sans"/>
              </a:defRPr>
            </a:lvl2pPr>
            <a:lvl3pPr algn="ctr">
              <a:defRPr sz="1425">
                <a:solidFill>
                  <a:srgbClr val="222222"/>
                </a:solidFill>
                <a:latin typeface="DejaVu Sans"/>
                <a:ea typeface="DejaVu Sans"/>
                <a:cs typeface="DejaVu Sans"/>
              </a:defRPr>
            </a:lvl3pPr>
            <a:lvl4pPr algn="ctr">
              <a:defRPr sz="1425">
                <a:solidFill>
                  <a:srgbClr val="222222"/>
                </a:solidFill>
                <a:latin typeface="DejaVu Sans"/>
                <a:ea typeface="DejaVu Sans"/>
                <a:cs typeface="DejaVu Sans"/>
              </a:defRPr>
            </a:lvl4pPr>
            <a:lvl5pPr algn="ctr">
              <a:defRPr sz="1425">
                <a:solidFill>
                  <a:srgbClr val="222222"/>
                </a:solidFill>
                <a:latin typeface="DejaVu Sans"/>
                <a:ea typeface="DejaVu Sans"/>
                <a:cs typeface="DejaVu Sans"/>
              </a:defRPr>
            </a:lvl5pPr>
            <a:lvl6pPr algn="ctr">
              <a:defRPr sz="1425">
                <a:solidFill>
                  <a:srgbClr val="222222"/>
                </a:solidFill>
                <a:latin typeface="DejaVu Sans"/>
                <a:ea typeface="DejaVu Sans"/>
                <a:cs typeface="DejaVu Sans"/>
              </a:defRPr>
            </a:lvl6pPr>
            <a:lvl7pPr algn="ctr">
              <a:defRPr sz="1425">
                <a:solidFill>
                  <a:srgbClr val="222222"/>
                </a:solidFill>
                <a:latin typeface="DejaVu Sans"/>
                <a:ea typeface="DejaVu Sans"/>
                <a:cs typeface="DejaVu Sans"/>
              </a:defRPr>
            </a:lvl7pPr>
            <a:lvl8pPr algn="ctr">
              <a:defRPr sz="1425">
                <a:solidFill>
                  <a:srgbClr val="222222"/>
                </a:solidFill>
                <a:latin typeface="DejaVu Sans"/>
                <a:ea typeface="DejaVu Sans"/>
                <a:cs typeface="DejaVu Sans"/>
              </a:defRPr>
            </a:lvl8pPr>
            <a:lvl9pPr algn="ctr">
              <a:defRPr sz="1425">
                <a:solidFill>
                  <a:srgbClr val="222222"/>
                </a:solidFill>
                <a:latin typeface="DejaVu Sans"/>
                <a:ea typeface="DejaVu Sans"/>
                <a:cs typeface="DejaVu Sans"/>
              </a:defRPr>
            </a:lvl9pPr>
          </a:lstStyle>
          <a:p>
            <a:pPr algn="ctr">
              <a:defRPr sz="1425">
                <a:solidFill>
                  <a:srgbClr val="222222"/>
                </a:solidFill>
                <a:latin typeface="DejaVu Sans"/>
                <a:ea typeface="DejaVu Sans"/>
                <a:cs typeface="DejaVu Sans"/>
              </a:defRPr>
            </a:pPr>
            <a:r>
              <a:rPr sz="1425">
                <a:solidFill>
                  <a:srgbClr val="222222"/>
                </a:solidFill>
                <a:latin typeface="DejaVu Sans"/>
                <a:ea typeface="DejaVu Sans"/>
                <a:cs typeface="DejaVu Sans"/>
              </a:rPr>
              <a:t>C1.3</a:t>
            </a:r>
          </a:p>
        </p:txBody>
      </p:sp>
      <p:sp>
        <p:nvSpPr>
          <p:cNvPr id="6" name="">
            <a:extLst>
              <a:ext uri="{FF2B5EF4-FFF2-40B4-BE49-F238E27FC236}">
                <ns2:creationId id="{0F6ABA2B-6271-4A27-A755-0043F0733DEE}"/>
              </a:ext>
            </a:extLst>
          </p:cNvPr>
          <p:cNvSpPr>
            <a:spLocks noGrp="1"/>
          </p:cNvSpPr>
          <p:nvPr/>
        </p:nvSpPr>
        <p:spPr>
          <a:xfrm>
            <a:off x="457200" y="5715000"/>
            <a:ext cx="11277600" cy="914400"/>
          </a:xfrm>
          <a:prstGeom prst="rect">
            <a:avLst/>
          </a:prstGeom>
          <a:noFill/>
          <a:ln w="0">
            <a:noFill/>
          </a:ln>
        </p:spPr>
        <p:txBody>
          <a:bodyPr>
            <a:normAutofit fontScale="100000"/>
          </a:bodyPr>
          <a:lstStyle>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13. Cluster confidence distributions. Colored outlines show eligible cluster members with confidence scores; black dots mark the displayed models. Eligible models ranked by &lt;pLDDT&gt;; representative selection follows the recorded source scope.</a:t>
            </a:r>
          </a:p>
        </p:txBody>
      </p:sp>
    </p:spTree>
    <p:extLst>
      <p:ext uri="{BB962C8B-B14F-4D97-AF65-F5344CB8AC3E}">
        <ns5:creationId val="177905546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D0488D5-1243-4917-8569-FB6928B97CAB}"/>
              </a:ext>
            </a:extLst>
          </p:cNvPr>
          <p:cNvSpPr>
            <a:spLocks xmlns:a="http://schemas.openxmlformats.org/drawingml/2006/main" noGrp="1"/>
          </p:cNvSpPr>
          <p:nvPr/>
        </p:nvSpPr>
        <p:spPr>
          <a:xfrm xmlns:a="http://schemas.openxmlformats.org/drawingml/2006/main">
            <a:off x="457200" y="266700"/>
            <a:ext cx="11277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a:solidFill>
                  <a:srgbClr val="222222"/>
                </a:solidFill>
                <a:latin typeface="Helvetica Neue"/>
                <a:ea typeface="Helvetica Neue"/>
                <a:cs typeface="Helvetica Neue"/>
              </a:defRPr>
            </a:defPPr>
            <a:lvl1pPr>
              <a:defRPr sz="2250">
                <a:solidFill>
                  <a:srgbClr val="222222"/>
                </a:solidFill>
                <a:latin typeface="Helvetica Neue"/>
                <a:ea typeface="Helvetica Neue"/>
                <a:cs typeface="Helvetica Neue"/>
              </a:defRPr>
            </a:lvl1pPr>
            <a:lvl2pPr>
              <a:defRPr sz="2250">
                <a:solidFill>
                  <a:srgbClr val="222222"/>
                </a:solidFill>
                <a:latin typeface="Helvetica Neue"/>
                <a:ea typeface="Helvetica Neue"/>
                <a:cs typeface="Helvetica Neue"/>
              </a:defRPr>
            </a:lvl2pPr>
            <a:lvl3pPr>
              <a:defRPr sz="2250">
                <a:solidFill>
                  <a:srgbClr val="222222"/>
                </a:solidFill>
                <a:latin typeface="Helvetica Neue"/>
                <a:ea typeface="Helvetica Neue"/>
                <a:cs typeface="Helvetica Neue"/>
              </a:defRPr>
            </a:lvl3pPr>
            <a:lvl4pPr>
              <a:defRPr sz="2250">
                <a:solidFill>
                  <a:srgbClr val="222222"/>
                </a:solidFill>
                <a:latin typeface="Helvetica Neue"/>
                <a:ea typeface="Helvetica Neue"/>
                <a:cs typeface="Helvetica Neue"/>
              </a:defRPr>
            </a:lvl4pPr>
            <a:lvl5pPr>
              <a:defRPr sz="2250">
                <a:solidFill>
                  <a:srgbClr val="222222"/>
                </a:solidFill>
                <a:latin typeface="Helvetica Neue"/>
                <a:ea typeface="Helvetica Neue"/>
                <a:cs typeface="Helvetica Neue"/>
              </a:defRPr>
            </a:lvl5pPr>
            <a:lvl6pPr>
              <a:defRPr sz="2250">
                <a:solidFill>
                  <a:srgbClr val="222222"/>
                </a:solidFill>
                <a:latin typeface="Helvetica Neue"/>
                <a:ea typeface="Helvetica Neue"/>
                <a:cs typeface="Helvetica Neue"/>
              </a:defRPr>
            </a:lvl6pPr>
            <a:lvl7pPr>
              <a:defRPr sz="2250">
                <a:solidFill>
                  <a:srgbClr val="222222"/>
                </a:solidFill>
                <a:latin typeface="Helvetica Neue"/>
                <a:ea typeface="Helvetica Neue"/>
                <a:cs typeface="Helvetica Neue"/>
              </a:defRPr>
            </a:lvl7pPr>
            <a:lvl8pPr>
              <a:defRPr sz="2250">
                <a:solidFill>
                  <a:srgbClr val="222222"/>
                </a:solidFill>
                <a:latin typeface="Helvetica Neue"/>
                <a:ea typeface="Helvetica Neue"/>
                <a:cs typeface="Helvetica Neue"/>
              </a:defRPr>
            </a:lvl8pPr>
            <a:lvl9pPr>
              <a:defRPr sz="2250">
                <a:solidFill>
                  <a:srgbClr val="222222"/>
                </a:solidFill>
                <a:latin typeface="Helvetica Neue"/>
                <a:ea typeface="Helvetica Neue"/>
                <a:cs typeface="Helvetica Neue"/>
              </a:defRPr>
            </a:lvl9pPr>
          </a:lstStyle>
          <a:p xmlns:a="http://schemas.openxmlformats.org/drawingml/2006/main">
            <a:pPr>
              <a:defRPr sz="2250">
                <a:solidFill>
                  <a:srgbClr val="222222"/>
                </a:solidFill>
                <a:latin typeface="Helvetica Neue"/>
                <a:ea typeface="Helvetica Neue"/>
                <a:cs typeface="Helvetica Neue"/>
              </a:defRPr>
            </a:pPr>
            <a:r>
              <a:rPr sz="2250">
                <a:solidFill>
                  <a:srgbClr val="222222"/>
                </a:solidFill>
                <a:latin typeface="Helvetica Neue"/>
                <a:ea typeface="Helvetica Neue"/>
                <a:cs typeface="Helvetica Neue"/>
              </a:rPr>
              <a:t>Selected-model medoid TM-scores</a:t>
            </a:r>
          </a:p>
        </p:txBody>
      </p:sp>
      <p:sp>
        <p:nvSpPr>
          <p:cNvPr id="2" name="">
            <a:extLst xmlns:a="http://schemas.openxmlformats.org/drawingml/2006/main">
              <a:ext uri="{FF2B5EF4-FFF2-40B4-BE49-F238E27FC236}">
                <a16:creationId xmlns:a16="http://schemas.microsoft.com/office/drawing/2014/main" id="{B134E556-9413-4117-9516-7D57D451AB37}"/>
              </a:ext>
            </a:extLst>
          </p:cNvPr>
          <p:cNvSpPr>
            <a:spLocks xmlns:a="http://schemas.openxmlformats.org/drawingml/2006/main" noGrp="1"/>
          </p:cNvSpPr>
          <p:nvPr/>
        </p:nvSpPr>
        <p:spPr>
          <a:xfrm xmlns:a="http://schemas.openxmlformats.org/drawingml/2006/main">
            <a:off x="952500" y="7239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a:solidFill>
                  <a:srgbClr val="222222"/>
                </a:solidFill>
                <a:latin typeface="Helvetica Neue"/>
                <a:ea typeface="Helvetica Neue"/>
                <a:cs typeface="Helvetica Neue"/>
              </a:defRPr>
            </a:defPPr>
            <a:lvl1pPr>
              <a:defRPr sz="1500">
                <a:solidFill>
                  <a:srgbClr val="222222"/>
                </a:solidFill>
                <a:latin typeface="Helvetica Neue"/>
                <a:ea typeface="Helvetica Neue"/>
                <a:cs typeface="Helvetica Neue"/>
              </a:defRPr>
            </a:lvl1pPr>
            <a:lvl2pPr>
              <a:defRPr sz="1500">
                <a:solidFill>
                  <a:srgbClr val="222222"/>
                </a:solidFill>
                <a:latin typeface="Helvetica Neue"/>
                <a:ea typeface="Helvetica Neue"/>
                <a:cs typeface="Helvetica Neue"/>
              </a:defRPr>
            </a:lvl2pPr>
            <a:lvl3pPr>
              <a:defRPr sz="1500">
                <a:solidFill>
                  <a:srgbClr val="222222"/>
                </a:solidFill>
                <a:latin typeface="Helvetica Neue"/>
                <a:ea typeface="Helvetica Neue"/>
                <a:cs typeface="Helvetica Neue"/>
              </a:defRPr>
            </a:lvl3pPr>
            <a:lvl4pPr>
              <a:defRPr sz="1500">
                <a:solidFill>
                  <a:srgbClr val="222222"/>
                </a:solidFill>
                <a:latin typeface="Helvetica Neue"/>
                <a:ea typeface="Helvetica Neue"/>
                <a:cs typeface="Helvetica Neue"/>
              </a:defRPr>
            </a:lvl4pPr>
            <a:lvl5pPr>
              <a:defRPr sz="1500">
                <a:solidFill>
                  <a:srgbClr val="222222"/>
                </a:solidFill>
                <a:latin typeface="Helvetica Neue"/>
                <a:ea typeface="Helvetica Neue"/>
                <a:cs typeface="Helvetica Neue"/>
              </a:defRPr>
            </a:lvl5pPr>
            <a:lvl6pPr>
              <a:defRPr sz="1500">
                <a:solidFill>
                  <a:srgbClr val="222222"/>
                </a:solidFill>
                <a:latin typeface="Helvetica Neue"/>
                <a:ea typeface="Helvetica Neue"/>
                <a:cs typeface="Helvetica Neue"/>
              </a:defRPr>
            </a:lvl6pPr>
            <a:lvl7pPr>
              <a:defRPr sz="1500">
                <a:solidFill>
                  <a:srgbClr val="222222"/>
                </a:solidFill>
                <a:latin typeface="Helvetica Neue"/>
                <a:ea typeface="Helvetica Neue"/>
                <a:cs typeface="Helvetica Neue"/>
              </a:defRPr>
            </a:lvl7pPr>
            <a:lvl8pPr>
              <a:defRPr sz="1500">
                <a:solidFill>
                  <a:srgbClr val="222222"/>
                </a:solidFill>
                <a:latin typeface="Helvetica Neue"/>
                <a:ea typeface="Helvetica Neue"/>
                <a:cs typeface="Helvetica Neue"/>
              </a:defRPr>
            </a:lvl8pPr>
            <a:lvl9pPr>
              <a:defRPr sz="1500">
                <a:solidFill>
                  <a:srgbClr val="222222"/>
                </a:solidFill>
                <a:latin typeface="Helvetica Neue"/>
                <a:ea typeface="Helvetica Neue"/>
                <a:cs typeface="Helvetica Neue"/>
              </a:defRPr>
            </a:lvl9pPr>
          </a:lstStyle>
          <a:p xmlns:a="http://schemas.openxmlformats.org/drawingml/2006/main">
            <a:pPr>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Rows and columns identify the same clusters</a:t>
            </a:r>
          </a:p>
        </p:txBody>
      </p:sp>
      <p:graphicFrame>
        <p:nvGraphicFramePr>
          <p:cNvPr id="3" name="">
            <a:extLst xmlns:a="http://schemas.openxmlformats.org/drawingml/2006/main">
              <a:ext uri="{FF2B5EF4-FFF2-40B4-BE49-F238E27FC236}">
                <a16:creationId xmlns:a16="http://schemas.microsoft.com/office/drawing/2014/main" id="{EF7E4CAE-CECC-4707-A6AF-FBEEE750C335}"/>
              </a:ext>
            </a:extLst>
          </p:cNvPr>
          <p:cNvGraphicFramePr/>
          <p:nvPr/>
        </p:nvGraphicFramePr>
        <p:xfrm>
          <a:off xmlns:a="http://schemas.openxmlformats.org/drawingml/2006/main" x="952500" y="1066800"/>
          <a:ext xmlns:a="http://schemas.openxmlformats.org/drawingml/2006/main" cx="7239000" cy="4476750"/>
        </p:xfrm>
        <a:graphic xmlns:a="http://schemas.openxmlformats.org/drawingml/2006/main">
          <a:graphicData uri="http://schemas.openxmlformats.org/drawingml/2006/table">
            <a:tbl>
              <a:tblPr firstRow="0" firstCol="0" bandRow="0" bandCol="0"/>
              <a:tblGrid>
                <a:gridCol w="1809750"/>
                <a:gridCol w="1809750"/>
                <a:gridCol w="1809750"/>
                <a:gridCol w="1809750"/>
              </a:tblGrid>
              <a:tr h="1119188">
                <a:tc>
                  <a:txBody>
                    <a:bodyPr/>
                    <a:lstStyle/>
                    <a:p>
                      <a:pPr algn="ctr"/>
                      <a:r>
                        <a:rPr sz="1275">
                          <a:solidFill>
                            <a:srgbClr val="222222"/>
                          </a:solidFill>
                          <a:latin typeface="Helvetica Neue"/>
                          <a:ea typeface="Helvetica Neue"/>
                          <a:cs typeface="Helvetica Neue"/>
                        </a:rPr>
                        <a:t/>
                      </a:r>
                    </a:p>
                  </a:txBody>
                  <a:tcPr marL="0" marR="0" marT="0" marB="0" anchor="ctr">
                    <a:solidFill>
                      <a:srgbClr val="FFFFFF"/>
                    </a:solidFill>
                  </a:tcPr>
                </a:tc>
                <a:tc>
                  <a:txBody>
                    <a:bodyPr/>
                    <a:lstStyle/>
                    <a:p>
                      <a:pPr algn="ctr"/>
                      <a:r>
                        <a:rPr sz="1275">
                          <a:solidFill>
                            <a:srgbClr val="222222"/>
                          </a:solidFill>
                          <a:latin typeface="Helvetica Neue"/>
                          <a:ea typeface="Helvetica Neue"/>
                          <a:cs typeface="Helvetica Neue"/>
                        </a:rPr>
                        <a:t>C1.1</a:t>
                      </a:r>
                    </a:p>
                  </a:txBody>
                  <a:tcPr marL="0" marR="0" marT="0" marB="0" anchor="ctr">
                    <a:solidFill>
                      <a:srgbClr val="FFFFFF"/>
                    </a:solidFill>
                  </a:tcPr>
                </a:tc>
                <a:tc>
                  <a:txBody>
                    <a:bodyPr/>
                    <a:lstStyle/>
                    <a:p>
                      <a:pPr algn="ctr"/>
                      <a:r>
                        <a:rPr sz="1275">
                          <a:solidFill>
                            <a:srgbClr val="222222"/>
                          </a:solidFill>
                          <a:latin typeface="Helvetica Neue"/>
                          <a:ea typeface="Helvetica Neue"/>
                          <a:cs typeface="Helvetica Neue"/>
                        </a:rPr>
                        <a:t>C1.2</a:t>
                      </a:r>
                    </a:p>
                  </a:txBody>
                  <a:tcPr marL="0" marR="0" marT="0" marB="0" anchor="ctr">
                    <a:solidFill>
                      <a:srgbClr val="FFFFFF"/>
                    </a:solidFill>
                  </a:tcPr>
                </a:tc>
                <a:tc>
                  <a:txBody>
                    <a:bodyPr/>
                    <a:lstStyle/>
                    <a:p>
                      <a:pPr algn="ctr"/>
                      <a:r>
                        <a:rPr sz="1275">
                          <a:solidFill>
                            <a:srgbClr val="222222"/>
                          </a:solidFill>
                          <a:latin typeface="Helvetica Neue"/>
                          <a:ea typeface="Helvetica Neue"/>
                          <a:cs typeface="Helvetica Neue"/>
                        </a:rPr>
                        <a:t>C1.3</a:t>
                      </a:r>
                    </a:p>
                  </a:txBody>
                  <a:tcPr marL="0" marR="0" marT="0" marB="0" anchor="ctr">
                    <a:solidFill>
                      <a:srgbClr val="FFFFFF"/>
                    </a:solidFill>
                  </a:tcPr>
                </a:tc>
              </a:tr>
              <a:tr h="1119188">
                <a:tc>
                  <a:txBody>
                    <a:bodyPr/>
                    <a:lstStyle/>
                    <a:p>
                      <a:pPr algn="ctr"/>
                      <a:r>
                        <a:rPr sz="1275">
                          <a:solidFill>
                            <a:srgbClr val="222222"/>
                          </a:solidFill>
                          <a:latin typeface="Helvetica Neue"/>
                          <a:ea typeface="Helvetica Neue"/>
                          <a:cs typeface="Helvetica Neue"/>
                        </a:rPr>
                        <a:t>C1.1</a:t>
                      </a:r>
                    </a:p>
                  </a:txBody>
                  <a:tcPr marL="0" marR="0" marT="0" marB="0" anchor="ctr">
                    <a:solidFill>
                      <a:srgbClr val="FFFFFF"/>
                    </a:solidFill>
                  </a:tcPr>
                </a:tc>
                <a:tc>
                  <a:txBody>
                    <a:bodyPr/>
                    <a:lstStyle/>
                    <a:p>
                      <a:pPr algn="ctr"/>
                      <a:r>
                        <a:rPr sz="1125">
                          <a:solidFill>
                            <a:srgbClr val="FFFFFF"/>
                          </a:solidFill>
                          <a:latin typeface="Helvetica Neue"/>
                          <a:ea typeface="Helvetica Neue"/>
                          <a:cs typeface="Helvetica Neue"/>
                        </a:rPr>
                        <a:t>1.00</a:t>
                      </a:r>
                    </a:p>
                  </a:txBody>
                  <a:tcPr marL="0" marR="0" marT="0" marB="0" anchor="ctr">
                    <a:solidFill>
                      <a:srgbClr val="08306B"/>
                    </a:solidFill>
                  </a:tcPr>
                </a:tc>
                <a:tc>
                  <a:txBody>
                    <a:bodyPr/>
                    <a:lstStyle/>
                    <a:p>
                      <a:pPr algn="ctr"/>
                      <a:r>
                        <a:rPr sz="1125">
                          <a:solidFill>
                            <a:srgbClr val="FFFFFF"/>
                          </a:solidFill>
                          <a:latin typeface="Helvetica Neue"/>
                          <a:ea typeface="Helvetica Neue"/>
                          <a:cs typeface="Helvetica Neue"/>
                        </a:rPr>
                        <a:t>0.91</a:t>
                      </a:r>
                    </a:p>
                  </a:txBody>
                  <a:tcPr marL="0" marR="0" marT="0" marB="0" anchor="ctr">
                    <a:solidFill>
                      <a:srgbClr val="1A477E"/>
                    </a:solidFill>
                  </a:tcPr>
                </a:tc>
                <a:tc>
                  <a:txBody>
                    <a:bodyPr/>
                    <a:lstStyle/>
                    <a:p>
                      <a:pPr algn="ctr"/>
                      <a:r>
                        <a:rPr sz="1125">
                          <a:solidFill>
                            <a:srgbClr val="FFFFFF"/>
                          </a:solidFill>
                          <a:latin typeface="Helvetica Neue"/>
                          <a:ea typeface="Helvetica Neue"/>
                          <a:cs typeface="Helvetica Neue"/>
                        </a:rPr>
                        <a:t>0.91</a:t>
                      </a:r>
                    </a:p>
                  </a:txBody>
                  <a:tcPr marL="0" marR="0" marT="0" marB="0" anchor="ctr">
                    <a:solidFill>
                      <a:srgbClr val="1A487F"/>
                    </a:solidFill>
                  </a:tcPr>
                </a:tc>
              </a:tr>
              <a:tr h="1119188">
                <a:tc>
                  <a:txBody>
                    <a:bodyPr/>
                    <a:lstStyle/>
                    <a:p>
                      <a:pPr algn="ctr"/>
                      <a:r>
                        <a:rPr sz="1275">
                          <a:solidFill>
                            <a:srgbClr val="222222"/>
                          </a:solidFill>
                          <a:latin typeface="Helvetica Neue"/>
                          <a:ea typeface="Helvetica Neue"/>
                          <a:cs typeface="Helvetica Neue"/>
                        </a:rPr>
                        <a:t>C1.2</a:t>
                      </a:r>
                    </a:p>
                  </a:txBody>
                  <a:tcPr marL="0" marR="0" marT="0" marB="0" anchor="ctr">
                    <a:solidFill>
                      <a:srgbClr val="FFFFFF"/>
                    </a:solidFill>
                  </a:tcPr>
                </a:tc>
                <a:tc>
                  <a:txBody>
                    <a:bodyPr/>
                    <a:lstStyle/>
                    <a:p>
                      <a:pPr algn="ctr"/>
                      <a:r>
                        <a:rPr sz="1125">
                          <a:solidFill>
                            <a:srgbClr val="FFFFFF"/>
                          </a:solidFill>
                          <a:latin typeface="Helvetica Neue"/>
                          <a:ea typeface="Helvetica Neue"/>
                          <a:cs typeface="Helvetica Neue"/>
                        </a:rPr>
                        <a:t>0.91</a:t>
                      </a:r>
                    </a:p>
                  </a:txBody>
                  <a:tcPr marL="0" marR="0" marT="0" marB="0" anchor="ctr">
                    <a:solidFill>
                      <a:srgbClr val="1A477E"/>
                    </a:solidFill>
                  </a:tcPr>
                </a:tc>
                <a:tc>
                  <a:txBody>
                    <a:bodyPr/>
                    <a:lstStyle/>
                    <a:p>
                      <a:pPr algn="ctr"/>
                      <a:r>
                        <a:rPr sz="1125">
                          <a:solidFill>
                            <a:srgbClr val="FFFFFF"/>
                          </a:solidFill>
                          <a:latin typeface="Helvetica Neue"/>
                          <a:ea typeface="Helvetica Neue"/>
                          <a:cs typeface="Helvetica Neue"/>
                        </a:rPr>
                        <a:t>1.00</a:t>
                      </a:r>
                    </a:p>
                  </a:txBody>
                  <a:tcPr marL="0" marR="0" marT="0" marB="0" anchor="ctr">
                    <a:solidFill>
                      <a:srgbClr val="08306B"/>
                    </a:solidFill>
                  </a:tcPr>
                </a:tc>
                <a:tc>
                  <a:txBody>
                    <a:bodyPr/>
                    <a:lstStyle/>
                    <a:p>
                      <a:pPr algn="ctr"/>
                      <a:r>
                        <a:rPr sz="1125">
                          <a:solidFill>
                            <a:srgbClr val="FFFFFF"/>
                          </a:solidFill>
                          <a:latin typeface="Helvetica Neue"/>
                          <a:ea typeface="Helvetica Neue"/>
                          <a:cs typeface="Helvetica Neue"/>
                        </a:rPr>
                        <a:t>0.98</a:t>
                      </a:r>
                    </a:p>
                  </a:txBody>
                  <a:tcPr marL="0" marR="0" marT="0" marB="0" anchor="ctr">
                    <a:solidFill>
                      <a:srgbClr val="0C356F"/>
                    </a:solidFill>
                  </a:tcPr>
                </a:tc>
              </a:tr>
              <a:tr h="1119188">
                <a:tc>
                  <a:txBody>
                    <a:bodyPr/>
                    <a:lstStyle/>
                    <a:p>
                      <a:pPr algn="ctr"/>
                      <a:r>
                        <a:rPr sz="1275">
                          <a:solidFill>
                            <a:srgbClr val="222222"/>
                          </a:solidFill>
                          <a:latin typeface="Helvetica Neue"/>
                          <a:ea typeface="Helvetica Neue"/>
                          <a:cs typeface="Helvetica Neue"/>
                        </a:rPr>
                        <a:t>C1.3</a:t>
                      </a:r>
                    </a:p>
                  </a:txBody>
                  <a:tcPr marL="0" marR="0" marT="0" marB="0" anchor="ctr">
                    <a:solidFill>
                      <a:srgbClr val="FFFFFF"/>
                    </a:solidFill>
                  </a:tcPr>
                </a:tc>
                <a:tc>
                  <a:txBody>
                    <a:bodyPr/>
                    <a:lstStyle/>
                    <a:p>
                      <a:pPr algn="ctr"/>
                      <a:r>
                        <a:rPr sz="1125">
                          <a:solidFill>
                            <a:srgbClr val="FFFFFF"/>
                          </a:solidFill>
                          <a:latin typeface="Helvetica Neue"/>
                          <a:ea typeface="Helvetica Neue"/>
                          <a:cs typeface="Helvetica Neue"/>
                        </a:rPr>
                        <a:t>0.91</a:t>
                      </a:r>
                    </a:p>
                  </a:txBody>
                  <a:tcPr marL="0" marR="0" marT="0" marB="0" anchor="ctr">
                    <a:solidFill>
                      <a:srgbClr val="1A487F"/>
                    </a:solidFill>
                  </a:tcPr>
                </a:tc>
                <a:tc>
                  <a:txBody>
                    <a:bodyPr/>
                    <a:lstStyle/>
                    <a:p>
                      <a:pPr algn="ctr"/>
                      <a:r>
                        <a:rPr sz="1125">
                          <a:solidFill>
                            <a:srgbClr val="FFFFFF"/>
                          </a:solidFill>
                          <a:latin typeface="Helvetica Neue"/>
                          <a:ea typeface="Helvetica Neue"/>
                          <a:cs typeface="Helvetica Neue"/>
                        </a:rPr>
                        <a:t>0.98</a:t>
                      </a:r>
                    </a:p>
                  </a:txBody>
                  <a:tcPr marL="0" marR="0" marT="0" marB="0" anchor="ctr">
                    <a:solidFill>
                      <a:srgbClr val="0C356F"/>
                    </a:solidFill>
                  </a:tcPr>
                </a:tc>
                <a:tc>
                  <a:txBody>
                    <a:bodyPr/>
                    <a:lstStyle/>
                    <a:p>
                      <a:pPr algn="ctr"/>
                      <a:r>
                        <a:rPr sz="1125">
                          <a:solidFill>
                            <a:srgbClr val="FFFFFF"/>
                          </a:solidFill>
                          <a:latin typeface="Helvetica Neue"/>
                          <a:ea typeface="Helvetica Neue"/>
                          <a:cs typeface="Helvetica Neue"/>
                        </a:rPr>
                        <a:t>1.00</a:t>
                      </a:r>
                    </a:p>
                  </a:txBody>
                  <a:tcPr marL="0" marR="0" marT="0" marB="0" anchor="ctr">
                    <a:solidFill>
                      <a:srgbClr val="08306B"/>
                    </a:solidFill>
                  </a:tcPr>
                </a:tc>
              </a:tr>
            </a:tbl>
          </a:graphicData>
        </a:graphic>
      </p:graphicFrame>
      <p:sp>
        <p:nvSpPr>
          <p:cNvPr id="4" name="">
            <a:extLst xmlns:a="http://schemas.openxmlformats.org/drawingml/2006/main">
              <a:ext uri="{FF2B5EF4-FFF2-40B4-BE49-F238E27FC236}">
                <a16:creationId xmlns:a16="http://schemas.microsoft.com/office/drawing/2014/main" id="{C8FCE560-880E-4A5A-93EF-538C150E385E}"/>
              </a:ext>
            </a:extLst>
          </p:cNvPr>
          <p:cNvSpPr>
            <a:spLocks xmlns:a="http://schemas.openxmlformats.org/drawingml/2006/main" noGrp="1"/>
          </p:cNvSpPr>
          <p:nvPr/>
        </p:nvSpPr>
        <p:spPr>
          <a:xfrm xmlns:a="http://schemas.openxmlformats.org/drawingml/2006/main">
            <a:off x="8429625" y="72390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a:solidFill>
                  <a:srgbClr val="222222"/>
                </a:solidFill>
                <a:latin typeface="Helvetica Neue"/>
                <a:ea typeface="Helvetica Neue"/>
                <a:cs typeface="Helvetica Neue"/>
              </a:defRPr>
            </a:defPPr>
            <a:lvl1pPr>
              <a:defRPr sz="1500">
                <a:solidFill>
                  <a:srgbClr val="222222"/>
                </a:solidFill>
                <a:latin typeface="Helvetica Neue"/>
                <a:ea typeface="Helvetica Neue"/>
                <a:cs typeface="Helvetica Neue"/>
              </a:defRPr>
            </a:lvl1pPr>
            <a:lvl2pPr>
              <a:defRPr sz="1500">
                <a:solidFill>
                  <a:srgbClr val="222222"/>
                </a:solidFill>
                <a:latin typeface="Helvetica Neue"/>
                <a:ea typeface="Helvetica Neue"/>
                <a:cs typeface="Helvetica Neue"/>
              </a:defRPr>
            </a:lvl2pPr>
            <a:lvl3pPr>
              <a:defRPr sz="1500">
                <a:solidFill>
                  <a:srgbClr val="222222"/>
                </a:solidFill>
                <a:latin typeface="Helvetica Neue"/>
                <a:ea typeface="Helvetica Neue"/>
                <a:cs typeface="Helvetica Neue"/>
              </a:defRPr>
            </a:lvl3pPr>
            <a:lvl4pPr>
              <a:defRPr sz="1500">
                <a:solidFill>
                  <a:srgbClr val="222222"/>
                </a:solidFill>
                <a:latin typeface="Helvetica Neue"/>
                <a:ea typeface="Helvetica Neue"/>
                <a:cs typeface="Helvetica Neue"/>
              </a:defRPr>
            </a:lvl4pPr>
            <a:lvl5pPr>
              <a:defRPr sz="1500">
                <a:solidFill>
                  <a:srgbClr val="222222"/>
                </a:solidFill>
                <a:latin typeface="Helvetica Neue"/>
                <a:ea typeface="Helvetica Neue"/>
                <a:cs typeface="Helvetica Neue"/>
              </a:defRPr>
            </a:lvl5pPr>
            <a:lvl6pPr>
              <a:defRPr sz="1500">
                <a:solidFill>
                  <a:srgbClr val="222222"/>
                </a:solidFill>
                <a:latin typeface="Helvetica Neue"/>
                <a:ea typeface="Helvetica Neue"/>
                <a:cs typeface="Helvetica Neue"/>
              </a:defRPr>
            </a:lvl6pPr>
            <a:lvl7pPr>
              <a:defRPr sz="1500">
                <a:solidFill>
                  <a:srgbClr val="222222"/>
                </a:solidFill>
                <a:latin typeface="Helvetica Neue"/>
                <a:ea typeface="Helvetica Neue"/>
                <a:cs typeface="Helvetica Neue"/>
              </a:defRPr>
            </a:lvl7pPr>
            <a:lvl8pPr>
              <a:defRPr sz="1500">
                <a:solidFill>
                  <a:srgbClr val="222222"/>
                </a:solidFill>
                <a:latin typeface="Helvetica Neue"/>
                <a:ea typeface="Helvetica Neue"/>
                <a:cs typeface="Helvetica Neue"/>
              </a:defRPr>
            </a:lvl8pPr>
            <a:lvl9pPr>
              <a:defRPr sz="1500">
                <a:solidFill>
                  <a:srgbClr val="222222"/>
                </a:solidFill>
                <a:latin typeface="Helvetica Neue"/>
                <a:ea typeface="Helvetica Neue"/>
                <a:cs typeface="Helvetica Neue"/>
              </a:defRPr>
            </a:lvl9pPr>
          </a:lstStyle>
          <a:p xmlns:a="http://schemas.openxmlformats.org/drawingml/2006/main">
            <a:pPr>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TM-score</a:t>
            </a:r>
          </a:p>
        </p:txBody>
      </p:sp>
      <p:graphicFrame>
        <p:nvGraphicFramePr>
          <p:cNvPr id="5" name="">
            <a:extLst xmlns:a="http://schemas.openxmlformats.org/drawingml/2006/main">
              <a:ext uri="{FF2B5EF4-FFF2-40B4-BE49-F238E27FC236}">
                <a16:creationId xmlns:a16="http://schemas.microsoft.com/office/drawing/2014/main" id="{B29CBED4-B59F-461B-80C1-2EFB45F57B34}"/>
              </a:ext>
            </a:extLst>
          </p:cNvPr>
          <p:cNvGraphicFramePr/>
          <p:nvPr/>
        </p:nvGraphicFramePr>
        <p:xfrm>
          <a:off xmlns:a="http://schemas.openxmlformats.org/drawingml/2006/main" x="8429625" y="1066800"/>
          <a:ext xmlns:a="http://schemas.openxmlformats.org/drawingml/2006/main" cx="714375" cy="4476750"/>
        </p:xfrm>
        <a:graphic xmlns:a="http://schemas.openxmlformats.org/drawingml/2006/main">
          <a:graphicData uri="http://schemas.openxmlformats.org/drawingml/2006/table">
            <a:tbl>
              <a:tblPr firstRow="0" bandRow="0"/>
              <a:tblGrid>
                <a:gridCol w="714375"/>
              </a:tblGrid>
              <a:tr h="406977">
                <a:tc>
                  <a:txBody>
                    <a:bodyPr/>
                    <a:lstStyle/>
                    <a:p>
                      <a:pPr algn="ctr"/>
                      <a:r>
                        <a:rPr sz="1350">
                          <a:solidFill>
                            <a:srgbClr val="FFFFFF"/>
                          </a:solidFill>
                          <a:latin typeface="Helvetica Neue"/>
                          <a:ea typeface="Helvetica Neue"/>
                          <a:cs typeface="Helvetica Neue"/>
                        </a:rPr>
                        <a:t>1.0</a:t>
                      </a:r>
                    </a:p>
                  </a:txBody>
                  <a:tcPr marL="0" marR="0" marT="0" marB="0" anchor="ctr">
                    <a:solidFill>
                      <a:srgbClr val="08306B"/>
                    </a:solidFill>
                  </a:tcPr>
                </a:tc>
              </a:tr>
              <a:tr h="406977">
                <a:tc>
                  <a:txBody>
                    <a:bodyPr/>
                    <a:lstStyle/>
                    <a:p>
                      <a:pPr algn="ctr"/>
                      <a:r>
                        <a:rPr sz="1350">
                          <a:solidFill>
                            <a:srgbClr val="FFFFFF"/>
                          </a:solidFill>
                          <a:latin typeface="Helvetica Neue"/>
                          <a:ea typeface="Helvetica Neue"/>
                          <a:cs typeface="Helvetica Neue"/>
                        </a:rPr>
                        <a:t>0.9</a:t>
                      </a:r>
                    </a:p>
                  </a:txBody>
                  <a:tcPr marL="0" marR="0" marT="0" marB="0" anchor="ctr">
                    <a:solidFill>
                      <a:srgbClr val="1C4980"/>
                    </a:solidFill>
                  </a:tcPr>
                </a:tc>
              </a:tr>
              <a:tr h="406977">
                <a:tc>
                  <a:txBody>
                    <a:bodyPr/>
                    <a:lstStyle/>
                    <a:p>
                      <a:pPr algn="ctr"/>
                      <a:r>
                        <a:rPr sz="1350">
                          <a:solidFill>
                            <a:srgbClr val="FFFFFF"/>
                          </a:solidFill>
                          <a:latin typeface="Helvetica Neue"/>
                          <a:ea typeface="Helvetica Neue"/>
                          <a:cs typeface="Helvetica Neue"/>
                        </a:rPr>
                        <a:t>0.8</a:t>
                      </a:r>
                    </a:p>
                  </a:txBody>
                  <a:tcPr marL="0" marR="0" marT="0" marB="0" anchor="ctr">
                    <a:solidFill>
                      <a:srgbClr val="306296"/>
                    </a:solidFill>
                  </a:tcPr>
                </a:tc>
              </a:tr>
              <a:tr h="406977">
                <a:tc>
                  <a:txBody>
                    <a:bodyPr/>
                    <a:lstStyle/>
                    <a:p>
                      <a:pPr algn="ctr"/>
                      <a:r>
                        <a:rPr sz="1350">
                          <a:solidFill>
                            <a:srgbClr val="FFFFFF"/>
                          </a:solidFill>
                          <a:latin typeface="Helvetica Neue"/>
                          <a:ea typeface="Helvetica Neue"/>
                          <a:cs typeface="Helvetica Neue"/>
                        </a:rPr>
                        <a:t>0.7</a:t>
                      </a:r>
                    </a:p>
                  </a:txBody>
                  <a:tcPr marL="0" marR="0" marT="0" marB="0" anchor="ctr">
                    <a:solidFill>
                      <a:srgbClr val="437CAB"/>
                    </a:solidFill>
                  </a:tcPr>
                </a:tc>
              </a:tr>
              <a:tr h="406977">
                <a:tc>
                  <a:txBody>
                    <a:bodyPr/>
                    <a:lstStyle/>
                    <a:p>
                      <a:pPr algn="ctr"/>
                      <a:r>
                        <a:rPr sz="1350">
                          <a:solidFill>
                            <a:srgbClr val="172435"/>
                          </a:solidFill>
                          <a:latin typeface="Helvetica Neue"/>
                          <a:ea typeface="Helvetica Neue"/>
                          <a:cs typeface="Helvetica Neue"/>
                        </a:rPr>
                        <a:t>0.6</a:t>
                      </a:r>
                    </a:p>
                  </a:txBody>
                  <a:tcPr marL="0" marR="0" marT="0" marB="0" anchor="ctr">
                    <a:solidFill>
                      <a:srgbClr val="5795C1"/>
                    </a:solidFill>
                  </a:tcPr>
                </a:tc>
              </a:tr>
              <a:tr h="406977">
                <a:tc>
                  <a:txBody>
                    <a:bodyPr/>
                    <a:lstStyle/>
                    <a:p>
                      <a:pPr algn="ctr"/>
                      <a:r>
                        <a:rPr sz="1350">
                          <a:solidFill>
                            <a:srgbClr val="172435"/>
                          </a:solidFill>
                          <a:latin typeface="Helvetica Neue"/>
                          <a:ea typeface="Helvetica Neue"/>
                          <a:cs typeface="Helvetica Neue"/>
                        </a:rPr>
                        <a:t>0.5</a:t>
                      </a:r>
                    </a:p>
                  </a:txBody>
                  <a:tcPr marL="0" marR="0" marT="0" marB="0" anchor="ctr">
                    <a:solidFill>
                      <a:srgbClr val="6BAED6"/>
                    </a:solidFill>
                  </a:tcPr>
                </a:tc>
              </a:tr>
              <a:tr h="406977">
                <a:tc>
                  <a:txBody>
                    <a:bodyPr/>
                    <a:lstStyle/>
                    <a:p>
                      <a:pPr algn="ctr"/>
                      <a:r>
                        <a:rPr sz="1350">
                          <a:solidFill>
                            <a:srgbClr val="172435"/>
                          </a:solidFill>
                          <a:latin typeface="Helvetica Neue"/>
                          <a:ea typeface="Helvetica Neue"/>
                          <a:cs typeface="Helvetica Neue"/>
                        </a:rPr>
                        <a:t>0.4</a:t>
                      </a:r>
                    </a:p>
                  </a:txBody>
                  <a:tcPr marL="0" marR="0" marT="0" marB="0" anchor="ctr">
                    <a:solidFill>
                      <a:srgbClr val="87BDDE"/>
                    </a:solidFill>
                  </a:tcPr>
                </a:tc>
              </a:tr>
              <a:tr h="406977">
                <a:tc>
                  <a:txBody>
                    <a:bodyPr/>
                    <a:lstStyle/>
                    <a:p>
                      <a:pPr algn="ctr"/>
                      <a:r>
                        <a:rPr sz="1350">
                          <a:solidFill>
                            <a:srgbClr val="172435"/>
                          </a:solidFill>
                          <a:latin typeface="Helvetica Neue"/>
                          <a:ea typeface="Helvetica Neue"/>
                          <a:cs typeface="Helvetica Neue"/>
                        </a:rPr>
                        <a:t>0.3</a:t>
                      </a:r>
                    </a:p>
                  </a:txBody>
                  <a:tcPr marL="0" marR="0" marT="0" marB="0" anchor="ctr">
                    <a:solidFill>
                      <a:srgbClr val="A3CDE6"/>
                    </a:solidFill>
                  </a:tcPr>
                </a:tc>
              </a:tr>
              <a:tr h="406977">
                <a:tc>
                  <a:txBody>
                    <a:bodyPr/>
                    <a:lstStyle/>
                    <a:p>
                      <a:pPr algn="ctr"/>
                      <a:r>
                        <a:rPr sz="1350">
                          <a:solidFill>
                            <a:srgbClr val="172435"/>
                          </a:solidFill>
                          <a:latin typeface="Helvetica Neue"/>
                          <a:ea typeface="Helvetica Neue"/>
                          <a:cs typeface="Helvetica Neue"/>
                        </a:rPr>
                        <a:t>0.2</a:t>
                      </a:r>
                    </a:p>
                  </a:txBody>
                  <a:tcPr marL="0" marR="0" marT="0" marB="0" anchor="ctr">
                    <a:solidFill>
                      <a:srgbClr val="BFDCEF"/>
                    </a:solidFill>
                  </a:tcPr>
                </a:tc>
              </a:tr>
              <a:tr h="406977">
                <a:tc>
                  <a:txBody>
                    <a:bodyPr/>
                    <a:lstStyle/>
                    <a:p>
                      <a:pPr algn="ctr"/>
                      <a:r>
                        <a:rPr sz="1350">
                          <a:solidFill>
                            <a:srgbClr val="172435"/>
                          </a:solidFill>
                          <a:latin typeface="Helvetica Neue"/>
                          <a:ea typeface="Helvetica Neue"/>
                          <a:cs typeface="Helvetica Neue"/>
                        </a:rPr>
                        <a:t>0.1</a:t>
                      </a:r>
                    </a:p>
                  </a:txBody>
                  <a:tcPr marL="0" marR="0" marT="0" marB="0" anchor="ctr">
                    <a:solidFill>
                      <a:srgbClr val="DBECF7"/>
                    </a:solidFill>
                  </a:tcPr>
                </a:tc>
              </a:tr>
              <a:tr h="406977">
                <a:tc>
                  <a:txBody>
                    <a:bodyPr/>
                    <a:lstStyle/>
                    <a:p>
                      <a:pPr algn="ctr"/>
                      <a:r>
                        <a:rPr sz="1350">
                          <a:solidFill>
                            <a:srgbClr val="172435"/>
                          </a:solidFill>
                          <a:latin typeface="Helvetica Neue"/>
                          <a:ea typeface="Helvetica Neue"/>
                          <a:cs typeface="Helvetica Neue"/>
                        </a:rPr>
                        <a:t>0.0</a:t>
                      </a:r>
                    </a:p>
                  </a:txBody>
                  <a:tcPr marL="0" marR="0" marT="0" marB="0" anchor="ctr">
                    <a:solidFill>
                      <a:srgbClr val="F7FBFF"/>
                    </a:solidFill>
                  </a:tcPr>
                </a:tc>
              </a:tr>
            </a:tbl>
          </a:graphicData>
        </a:graphic>
      </p:graphicFrame>
      <p:sp>
        <p:nvSpPr>
          <p:cNvPr id="6" name="">
            <a:extLst xmlns:a="http://schemas.openxmlformats.org/drawingml/2006/main">
              <a:ext uri="{FF2B5EF4-FFF2-40B4-BE49-F238E27FC236}">
                <a16:creationId xmlns:a16="http://schemas.microsoft.com/office/drawing/2014/main" id="{F65EBADE-969D-4C03-9379-B70C3AA9AD45}"/>
              </a:ext>
            </a:extLst>
          </p:cNvPr>
          <p:cNvSpPr>
            <a:spLocks xmlns:a="http://schemas.openxmlformats.org/drawingml/2006/main" noGrp="1"/>
          </p:cNvSpPr>
          <p:nvPr/>
        </p:nvSpPr>
        <p:spPr>
          <a:xfrm xmlns:a="http://schemas.openxmlformats.org/drawingml/2006/main">
            <a:off x="9525000" y="723900"/>
            <a:ext cx="2209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a:solidFill>
                  <a:srgbClr val="222222"/>
                </a:solidFill>
                <a:latin typeface="Helvetica Neue"/>
                <a:ea typeface="Helvetica Neue"/>
                <a:cs typeface="Helvetica Neue"/>
              </a:defRPr>
            </a:defPPr>
            <a:lvl1pPr>
              <a:defRPr sz="1500">
                <a:solidFill>
                  <a:srgbClr val="222222"/>
                </a:solidFill>
                <a:latin typeface="Helvetica Neue"/>
                <a:ea typeface="Helvetica Neue"/>
                <a:cs typeface="Helvetica Neue"/>
              </a:defRPr>
            </a:lvl1pPr>
            <a:lvl2pPr>
              <a:defRPr sz="1500">
                <a:solidFill>
                  <a:srgbClr val="222222"/>
                </a:solidFill>
                <a:latin typeface="Helvetica Neue"/>
                <a:ea typeface="Helvetica Neue"/>
                <a:cs typeface="Helvetica Neue"/>
              </a:defRPr>
            </a:lvl2pPr>
            <a:lvl3pPr>
              <a:defRPr sz="1500">
                <a:solidFill>
                  <a:srgbClr val="222222"/>
                </a:solidFill>
                <a:latin typeface="Helvetica Neue"/>
                <a:ea typeface="Helvetica Neue"/>
                <a:cs typeface="Helvetica Neue"/>
              </a:defRPr>
            </a:lvl3pPr>
            <a:lvl4pPr>
              <a:defRPr sz="1500">
                <a:solidFill>
                  <a:srgbClr val="222222"/>
                </a:solidFill>
                <a:latin typeface="Helvetica Neue"/>
                <a:ea typeface="Helvetica Neue"/>
                <a:cs typeface="Helvetica Neue"/>
              </a:defRPr>
            </a:lvl4pPr>
            <a:lvl5pPr>
              <a:defRPr sz="1500">
                <a:solidFill>
                  <a:srgbClr val="222222"/>
                </a:solidFill>
                <a:latin typeface="Helvetica Neue"/>
                <a:ea typeface="Helvetica Neue"/>
                <a:cs typeface="Helvetica Neue"/>
              </a:defRPr>
            </a:lvl5pPr>
            <a:lvl6pPr>
              <a:defRPr sz="1500">
                <a:solidFill>
                  <a:srgbClr val="222222"/>
                </a:solidFill>
                <a:latin typeface="Helvetica Neue"/>
                <a:ea typeface="Helvetica Neue"/>
                <a:cs typeface="Helvetica Neue"/>
              </a:defRPr>
            </a:lvl6pPr>
            <a:lvl7pPr>
              <a:defRPr sz="1500">
                <a:solidFill>
                  <a:srgbClr val="222222"/>
                </a:solidFill>
                <a:latin typeface="Helvetica Neue"/>
                <a:ea typeface="Helvetica Neue"/>
                <a:cs typeface="Helvetica Neue"/>
              </a:defRPr>
            </a:lvl7pPr>
            <a:lvl8pPr>
              <a:defRPr sz="1500">
                <a:solidFill>
                  <a:srgbClr val="222222"/>
                </a:solidFill>
                <a:latin typeface="Helvetica Neue"/>
                <a:ea typeface="Helvetica Neue"/>
                <a:cs typeface="Helvetica Neue"/>
              </a:defRPr>
            </a:lvl8pPr>
            <a:lvl9pPr>
              <a:defRPr sz="1500">
                <a:solidFill>
                  <a:srgbClr val="222222"/>
                </a:solidFill>
                <a:latin typeface="Helvetica Neue"/>
                <a:ea typeface="Helvetica Neue"/>
                <a:cs typeface="Helvetica Neue"/>
              </a:defRPr>
            </a:lvl9pPr>
          </a:lstStyle>
          <a:p xmlns:a="http://schemas.openxmlformats.org/drawingml/2006/main">
            <a:pPr>
              <a:defRPr sz="1500">
                <a:solidFill>
                  <a:srgbClr val="222222"/>
                </a:solidFill>
                <a:latin typeface="Helvetica Neue"/>
                <a:ea typeface="Helvetica Neue"/>
                <a:cs typeface="Helvetica Neue"/>
              </a:defRPr>
            </a:pPr>
            <a:r>
              <a:rPr sz="1500">
                <a:solidFill>
                  <a:srgbClr val="222222"/>
                </a:solidFill>
                <a:latin typeface="Helvetica Neue"/>
                <a:ea typeface="Helvetica Neue"/>
                <a:cs typeface="Helvetica Neue"/>
              </a:rPr>
              <a:t>Cluster groups</a:t>
            </a:r>
          </a:p>
        </p:txBody>
      </p:sp>
      <p:sp>
        <p:nvSpPr>
          <p:cNvPr id="7" name="">
            <a:extLst xmlns:a="http://schemas.openxmlformats.org/drawingml/2006/main">
              <a:ext uri="{FF2B5EF4-FFF2-40B4-BE49-F238E27FC236}">
                <a16:creationId xmlns:a16="http://schemas.microsoft.com/office/drawing/2014/main" id="{4ABF46C5-9412-46F9-B0AA-64720B36B87B}"/>
              </a:ext>
            </a:extLst>
          </p:cNvPr>
          <p:cNvSpPr>
            <a:spLocks xmlns:a="http://schemas.openxmlformats.org/drawingml/2006/main" noGrp="1"/>
          </p:cNvSpPr>
          <p:nvPr/>
        </p:nvSpPr>
        <p:spPr>
          <a:xfrm xmlns:a="http://schemas.openxmlformats.org/drawingml/2006/main">
            <a:off x="9525000" y="1066800"/>
            <a:ext cx="22098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a:solidFill>
                  <a:srgbClr val="222222"/>
                </a:solidFill>
                <a:latin typeface="Helvetica Neue"/>
                <a:ea typeface="Helvetica Neue"/>
                <a:cs typeface="Helvetica Neue"/>
              </a:defRPr>
            </a:defPPr>
            <a:lvl1pPr>
              <a:defRPr sz="1350">
                <a:solidFill>
                  <a:srgbClr val="222222"/>
                </a:solidFill>
                <a:latin typeface="Helvetica Neue"/>
                <a:ea typeface="Helvetica Neue"/>
                <a:cs typeface="Helvetica Neue"/>
              </a:defRPr>
            </a:lvl1pPr>
            <a:lvl2pPr>
              <a:defRPr sz="1350">
                <a:solidFill>
                  <a:srgbClr val="222222"/>
                </a:solidFill>
                <a:latin typeface="Helvetica Neue"/>
                <a:ea typeface="Helvetica Neue"/>
                <a:cs typeface="Helvetica Neue"/>
              </a:defRPr>
            </a:lvl2pPr>
            <a:lvl3pPr>
              <a:defRPr sz="1350">
                <a:solidFill>
                  <a:srgbClr val="222222"/>
                </a:solidFill>
                <a:latin typeface="Helvetica Neue"/>
                <a:ea typeface="Helvetica Neue"/>
                <a:cs typeface="Helvetica Neue"/>
              </a:defRPr>
            </a:lvl3pPr>
            <a:lvl4pPr>
              <a:defRPr sz="1350">
                <a:solidFill>
                  <a:srgbClr val="222222"/>
                </a:solidFill>
                <a:latin typeface="Helvetica Neue"/>
                <a:ea typeface="Helvetica Neue"/>
                <a:cs typeface="Helvetica Neue"/>
              </a:defRPr>
            </a:lvl4pPr>
            <a:lvl5pPr>
              <a:defRPr sz="1350">
                <a:solidFill>
                  <a:srgbClr val="222222"/>
                </a:solidFill>
                <a:latin typeface="Helvetica Neue"/>
                <a:ea typeface="Helvetica Neue"/>
                <a:cs typeface="Helvetica Neue"/>
              </a:defRPr>
            </a:lvl5pPr>
            <a:lvl6pPr>
              <a:defRPr sz="1350">
                <a:solidFill>
                  <a:srgbClr val="222222"/>
                </a:solidFill>
                <a:latin typeface="Helvetica Neue"/>
                <a:ea typeface="Helvetica Neue"/>
                <a:cs typeface="Helvetica Neue"/>
              </a:defRPr>
            </a:lvl6pPr>
            <a:lvl7pPr>
              <a:defRPr sz="1350">
                <a:solidFill>
                  <a:srgbClr val="222222"/>
                </a:solidFill>
                <a:latin typeface="Helvetica Neue"/>
                <a:ea typeface="Helvetica Neue"/>
                <a:cs typeface="Helvetica Neue"/>
              </a:defRPr>
            </a:lvl7pPr>
            <a:lvl8pPr>
              <a:defRPr sz="1350">
                <a:solidFill>
                  <a:srgbClr val="222222"/>
                </a:solidFill>
                <a:latin typeface="Helvetica Neue"/>
                <a:ea typeface="Helvetica Neue"/>
                <a:cs typeface="Helvetica Neue"/>
              </a:defRPr>
            </a:lvl8pPr>
            <a:lvl9pPr>
              <a:defRPr sz="1350">
                <a:solidFill>
                  <a:srgbClr val="222222"/>
                </a:solidFill>
                <a:latin typeface="Helvetica Neue"/>
                <a:ea typeface="Helvetica Neue"/>
                <a:cs typeface="Helvetica Neue"/>
              </a:defRPr>
            </a:lvl9pPr>
          </a:lstStyle>
          <a:p xmlns:a="http://schemas.openxmlformats.org/drawingml/2006/main">
            <a:pPr>
              <a:defRPr sz="1350">
                <a:solidFill>
                  <a:srgbClr val="222222"/>
                </a:solidFill>
                <a:latin typeface="Helvetica Neue"/>
                <a:ea typeface="Helvetica Neue"/>
                <a:cs typeface="Helvetica Neue"/>
              </a:defRPr>
            </a:pPr>
            <a:r>
              <a:rPr sz="1350">
                <a:solidFill>
                  <a:srgbClr val="222222"/>
                </a:solidFill>
                <a:latin typeface="Helvetica Neue"/>
                <a:ea typeface="Helvetica Neue"/>
                <a:cs typeface="Helvetica Neue"/>
              </a:rPr>
              <a:t>Group 1: C1.1, C1.2, C1.3</a:t>
            </a:r>
          </a:p>
        </p:txBody>
      </p:sp>
      <p:sp>
        <p:nvSpPr>
          <p:cNvPr id="8" name="">
            <a:extLst xmlns:a="http://schemas.openxmlformats.org/drawingml/2006/main">
              <a:ext uri="{FF2B5EF4-FFF2-40B4-BE49-F238E27FC236}">
                <a16:creationId xmlns:a16="http://schemas.microsoft.com/office/drawing/2014/main" id="{5AC4AE26-32C4-4EDD-8D74-CAB83E3E14A7}"/>
              </a:ext>
            </a:extLst>
          </p:cNvPr>
          <p:cNvSpPr>
            <a:spLocks xmlns:a="http://schemas.openxmlformats.org/drawingml/2006/main" noGrp="1"/>
          </p:cNvSpPr>
          <p:nvPr/>
        </p:nvSpPr>
        <p:spPr>
          <a:xfrm xmlns:a="http://schemas.openxmlformats.org/drawingml/2006/main">
            <a:off x="9525000" y="4972050"/>
            <a:ext cx="220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a:solidFill>
                  <a:srgbClr val="222222"/>
                </a:solidFill>
                <a:latin typeface="Helvetica Neue"/>
                <a:ea typeface="Helvetica Neue"/>
                <a:cs typeface="Helvetica Neue"/>
              </a:defRPr>
            </a:defPPr>
            <a:lvl1pPr>
              <a:defRPr sz="1200">
                <a:solidFill>
                  <a:srgbClr val="222222"/>
                </a:solidFill>
                <a:latin typeface="Helvetica Neue"/>
                <a:ea typeface="Helvetica Neue"/>
                <a:cs typeface="Helvetica Neue"/>
              </a:defRPr>
            </a:lvl1pPr>
            <a:lvl2pPr>
              <a:defRPr sz="1200">
                <a:solidFill>
                  <a:srgbClr val="222222"/>
                </a:solidFill>
                <a:latin typeface="Helvetica Neue"/>
                <a:ea typeface="Helvetica Neue"/>
                <a:cs typeface="Helvetica Neue"/>
              </a:defRPr>
            </a:lvl2pPr>
            <a:lvl3pPr>
              <a:defRPr sz="1200">
                <a:solidFill>
                  <a:srgbClr val="222222"/>
                </a:solidFill>
                <a:latin typeface="Helvetica Neue"/>
                <a:ea typeface="Helvetica Neue"/>
                <a:cs typeface="Helvetica Neue"/>
              </a:defRPr>
            </a:lvl3pPr>
            <a:lvl4pPr>
              <a:defRPr sz="1200">
                <a:solidFill>
                  <a:srgbClr val="222222"/>
                </a:solidFill>
                <a:latin typeface="Helvetica Neue"/>
                <a:ea typeface="Helvetica Neue"/>
                <a:cs typeface="Helvetica Neue"/>
              </a:defRPr>
            </a:lvl4pPr>
            <a:lvl5pPr>
              <a:defRPr sz="1200">
                <a:solidFill>
                  <a:srgbClr val="222222"/>
                </a:solidFill>
                <a:latin typeface="Helvetica Neue"/>
                <a:ea typeface="Helvetica Neue"/>
                <a:cs typeface="Helvetica Neue"/>
              </a:defRPr>
            </a:lvl5pPr>
            <a:lvl6pPr>
              <a:defRPr sz="1200">
                <a:solidFill>
                  <a:srgbClr val="222222"/>
                </a:solidFill>
                <a:latin typeface="Helvetica Neue"/>
                <a:ea typeface="Helvetica Neue"/>
                <a:cs typeface="Helvetica Neue"/>
              </a:defRPr>
            </a:lvl6pPr>
            <a:lvl7pPr>
              <a:defRPr sz="1200">
                <a:solidFill>
                  <a:srgbClr val="222222"/>
                </a:solidFill>
                <a:latin typeface="Helvetica Neue"/>
                <a:ea typeface="Helvetica Neue"/>
                <a:cs typeface="Helvetica Neue"/>
              </a:defRPr>
            </a:lvl7pPr>
            <a:lvl8pPr>
              <a:defRPr sz="1200">
                <a:solidFill>
                  <a:srgbClr val="222222"/>
                </a:solidFill>
                <a:latin typeface="Helvetica Neue"/>
                <a:ea typeface="Helvetica Neue"/>
                <a:cs typeface="Helvetica Neue"/>
              </a:defRPr>
            </a:lvl8pPr>
            <a:lvl9pPr>
              <a:defRPr sz="1200">
                <a:solidFill>
                  <a:srgbClr val="222222"/>
                </a:solidFill>
                <a:latin typeface="Helvetica Neue"/>
                <a:ea typeface="Helvetica Neue"/>
                <a:cs typeface="Helvetica Neue"/>
              </a:defRPr>
            </a:lvl9pPr>
          </a:lstStyle>
          <a:p xmlns:a="http://schemas.openxmlformats.org/drawingml/2006/main">
            <a:pPr>
              <a:defRPr sz="1200">
                <a:solidFill>
                  <a:srgbClr val="222222"/>
                </a:solidFill>
                <a:latin typeface="Helvetica Neue"/>
                <a:ea typeface="Helvetica Neue"/>
                <a:cs typeface="Helvetica Neue"/>
              </a:defRPr>
            </a:pPr>
            <a:r>
              <a:rPr sz="1200">
                <a:solidFill>
                  <a:srgbClr val="222222"/>
                </a:solidFill>
                <a:latin typeface="Helvetica Neue"/>
                <a:ea typeface="Helvetica Neue"/>
                <a:cs typeface="Helvetica Neue"/>
              </a:rPr>
              <a:t>All pairs ≥ 0.80</a:t>
            </a:r>
          </a:p>
          <a:p xmlns:a="http://schemas.openxmlformats.org/drawingml/2006/main">
            <a:pPr>
              <a:defRPr sz="1200">
                <a:solidFill>
                  <a:srgbClr val="222222"/>
                </a:solidFill>
                <a:latin typeface="Helvetica Neue"/>
                <a:ea typeface="Helvetica Neue"/>
                <a:cs typeface="Helvetica Neue"/>
              </a:defRPr>
            </a:pPr>
            <a:r>
              <a:rPr sz="1200">
                <a:solidFill>
                  <a:srgbClr val="222222"/>
                </a:solidFill>
                <a:latin typeface="Helvetica Neue"/>
                <a:ea typeface="Helvetica Neue"/>
                <a:cs typeface="Helvetica Neue"/>
              </a:rPr>
              <a:t>Groups may overlap</a:t>
            </a:r>
          </a:p>
        </p:txBody>
      </p:sp>
      <p:sp>
        <p:nvSpPr>
          <p:cNvPr id="9" name="">
            <a:extLst xmlns:a="http://schemas.openxmlformats.org/drawingml/2006/main">
              <a:ext uri="{FF2B5EF4-FFF2-40B4-BE49-F238E27FC236}">
                <a16:creationId xmlns:a16="http://schemas.microsoft.com/office/drawing/2014/main" id="{49E9608B-3A5E-4BD5-ABC8-EFC2FEBF8A76}"/>
              </a:ext>
            </a:extLst>
          </p:cNvPr>
          <p:cNvSpPr>
            <a:spLocks xmlns:a="http://schemas.openxmlformats.org/drawingml/2006/main" noGrp="1"/>
          </p:cNvSpPr>
          <p:nvPr/>
        </p:nvSpPr>
        <p:spPr>
          <a:xfrm xmlns:a="http://schemas.openxmlformats.org/drawingml/2006/main">
            <a:off x="457200" y="571500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a:solidFill>
                  <a:srgbClr val="222222"/>
                </a:solidFill>
                <a:latin typeface="Helvetica Neue"/>
                <a:ea typeface="Helvetica Neue"/>
                <a:cs typeface="Helvetica Neue"/>
              </a:defRPr>
            </a:defPPr>
            <a:lvl1pPr>
              <a:defRPr sz="1575">
                <a:solidFill>
                  <a:srgbClr val="222222"/>
                </a:solidFill>
                <a:latin typeface="Helvetica Neue"/>
                <a:ea typeface="Helvetica Neue"/>
                <a:cs typeface="Helvetica Neue"/>
              </a:defRPr>
            </a:lvl1pPr>
            <a:lvl2pPr>
              <a:defRPr sz="1575">
                <a:solidFill>
                  <a:srgbClr val="222222"/>
                </a:solidFill>
                <a:latin typeface="Helvetica Neue"/>
                <a:ea typeface="Helvetica Neue"/>
                <a:cs typeface="Helvetica Neue"/>
              </a:defRPr>
            </a:lvl2pPr>
            <a:lvl3pPr>
              <a:defRPr sz="1575">
                <a:solidFill>
                  <a:srgbClr val="222222"/>
                </a:solidFill>
                <a:latin typeface="Helvetica Neue"/>
                <a:ea typeface="Helvetica Neue"/>
                <a:cs typeface="Helvetica Neue"/>
              </a:defRPr>
            </a:lvl3pPr>
            <a:lvl4pPr>
              <a:defRPr sz="1575">
                <a:solidFill>
                  <a:srgbClr val="222222"/>
                </a:solidFill>
                <a:latin typeface="Helvetica Neue"/>
                <a:ea typeface="Helvetica Neue"/>
                <a:cs typeface="Helvetica Neue"/>
              </a:defRPr>
            </a:lvl4pPr>
            <a:lvl5pPr>
              <a:defRPr sz="1575">
                <a:solidFill>
                  <a:srgbClr val="222222"/>
                </a:solidFill>
                <a:latin typeface="Helvetica Neue"/>
                <a:ea typeface="Helvetica Neue"/>
                <a:cs typeface="Helvetica Neue"/>
              </a:defRPr>
            </a:lvl5pPr>
            <a:lvl6pPr>
              <a:defRPr sz="1575">
                <a:solidFill>
                  <a:srgbClr val="222222"/>
                </a:solidFill>
                <a:latin typeface="Helvetica Neue"/>
                <a:ea typeface="Helvetica Neue"/>
                <a:cs typeface="Helvetica Neue"/>
              </a:defRPr>
            </a:lvl6pPr>
            <a:lvl7pPr>
              <a:defRPr sz="1575">
                <a:solidFill>
                  <a:srgbClr val="222222"/>
                </a:solidFill>
                <a:latin typeface="Helvetica Neue"/>
                <a:ea typeface="Helvetica Neue"/>
                <a:cs typeface="Helvetica Neue"/>
              </a:defRPr>
            </a:lvl7pPr>
            <a:lvl8pPr>
              <a:defRPr sz="1575">
                <a:solidFill>
                  <a:srgbClr val="222222"/>
                </a:solidFill>
                <a:latin typeface="Helvetica Neue"/>
                <a:ea typeface="Helvetica Neue"/>
                <a:cs typeface="Helvetica Neue"/>
              </a:defRPr>
            </a:lvl8pPr>
            <a:lvl9pPr>
              <a:defRPr sz="1575">
                <a:solidFill>
                  <a:srgbClr val="222222"/>
                </a:solidFill>
                <a:latin typeface="Helvetica Neue"/>
                <a:ea typeface="Helvetica Neue"/>
                <a:cs typeface="Helvetica Neue"/>
              </a:defRPr>
            </a:lvl9pPr>
          </a:lstStyle>
          <a:p xmlns:a="http://schemas.openxmlformats.org/drawingml/2006/main">
            <a:pPr>
              <a:defRPr sz="1575">
                <a:solidFill>
                  <a:srgbClr val="222222"/>
                </a:solidFill>
                <a:latin typeface="Helvetica Neue"/>
                <a:ea typeface="Helvetica Neue"/>
                <a:cs typeface="Helvetica Neue"/>
              </a:defRPr>
            </a:pPr>
            <a:r>
              <a:rPr sz="1575">
                <a:solidFill>
                  <a:srgbClr val="222222"/>
                </a:solidFill>
                <a:latin typeface="Helvetica Neue"/>
                <a:ea typeface="Helvetica Neue"/>
                <a:cs typeface="Helvetica Neue"/>
              </a:rPr>
              <a:t>Figure 14. Whole-chain TM-scores between medoids of the selected models in each cluster.</a:t>
            </a:r>
          </a:p>
          <a:p xmlns:a="http://schemas.openxmlformats.org/drawingml/2006/main">
            <a:pPr>
              <a:defRPr sz="1575">
                <a:solidFill>
                  <a:srgbClr val="222222"/>
                </a:solidFill>
                <a:latin typeface="Helvetica Neue"/>
                <a:ea typeface="Helvetica Neue"/>
                <a:cs typeface="Helvetica Neue"/>
              </a:defRPr>
            </a:pPr>
            <a:r>
              <a:rPr sz="1575">
                <a:solidFill>
                  <a:srgbClr val="222222"/>
                </a:solidFill>
                <a:latin typeface="Helvetica Neue"/>
                <a:ea typeface="Helvetica Neue"/>
                <a:cs typeface="Helvetica Neue"/>
              </a:rPr>
              <a:t>Average-length normalization, mean of both directions. Higher scores indicate greater structural similarity.</a:t>
            </a:r>
          </a:p>
        </p:txBody>
      </p:sp>
    </p:spTree>
    <p:extLst>
      <p:ext uri="{BB962C8B-B14F-4D97-AF65-F5344CB8AC3E}">
        <p14:creationId xmlns:p14="http://schemas.microsoft.com/office/powerpoint/2010/main" val="1209628650"/>
      </p:ext>
    </p:extLst>
  </p:cSld>
</p:sld>
</file>

<file path=ppt/slides/slide16.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TextBox 1"/>
          <p:cNvSpPr txBox="1"/>
          <p:nvPr/>
        </p:nvSpPr>
        <p:spPr>
          <a:xfrm>
            <a:off x="457200" y="228600"/>
            <a:ext cx="11277600" cy="381000"/>
          </a:xfrm>
          <a:prstGeom prst="rect">
            <a:avLst/>
          </a:prstGeom>
          <a:noFill/>
        </p:spPr>
        <p:txBody>
          <a:bodyPr wrap="none" lIns="0" rIns="0" tIns="0" bIns="0">
            <a:noAutofit/>
          </a:bodyPr>
          <a:lstStyle/>
          <a:p>
            <a:pPr>
              <a:lnSpc>
                <a:spcPts val="2475"/>
              </a:lnSpc>
              <a:spcBef>
                <a:spcPts val="0"/>
              </a:spcBef>
              <a:spcAft>
                <a:spcPts val="0"/>
              </a:spcAft>
              <a:defRPr sz="2250">
                <a:solidFill>
                  <a:srgbClr val="222222"/>
                </a:solidFill>
                <a:latin typeface="Arial"/>
              </a:defRPr>
            </a:pPr>
            <a:r>
              <a:rPr sz="2250">
                <a:solidFill>
                  <a:srgbClr val="245BA7"/>
                </a:solidFill>
                <a:latin typeface="Arial"/>
                <a:hlinkClick r:id="rIdBonsaiSource"/>
              </a:rPr>
              <a:t>Bonsai · selected cluster ensembles (native engine b16ef6f)</a:t>
            </a:r>
          </a:p>
        </p:txBody>
      </p:sp>
      <p:pic>
        <p:nvPicPr>
          <p:cNvPr id="2" name="">
            <a:extLst>
              <a:ext uri="{FF2B5EF4-FFF2-40B4-BE49-F238E27FC236}">
                <ns3:creationId id="{B4718DCC-5F19-47DA-9806-DB221B76DBBA}"/>
              </a:ext>
            </a:extLst>
          </p:cNvPr>
          <p:cNvPicPr>
            <a:picLocks noChangeAspect="1"/>
          </p:cNvPicPr>
          <p:nvPr/>
        </p:nvPicPr>
        <p:blipFill>
          <a:blip r:embed="Rfe9bd64ca2254973"/>
          <a:stretch/>
        </p:blipFill>
        <p:spPr>
          <a:xfrm>
            <a:off x="816049" y="723900"/>
            <a:ext cx="2939902" cy="4572000"/>
          </a:xfrm>
          <a:prstGeom prst="rect">
            <a:avLst/>
          </a:prstGeom>
        </p:spPr>
      </p:pic>
      <p:pic>
        <p:nvPicPr>
          <p:cNvPr id="3" name="">
            <a:extLst>
              <a:ext uri="{FF2B5EF4-FFF2-40B4-BE49-F238E27FC236}">
                <ns3:creationId id="{FCCA9BEE-C386-4770-8FD0-EC3B455DE39E}"/>
              </a:ext>
            </a:extLst>
          </p:cNvPr>
          <p:cNvPicPr>
            <a:picLocks noChangeAspect="1"/>
          </p:cNvPicPr>
          <p:nvPr/>
        </p:nvPicPr>
        <p:blipFill>
          <a:blip r:embed="R32285b54f766419a"/>
          <a:stretch/>
        </p:blipFill>
        <p:spPr>
          <a:xfrm>
            <a:off x="4283149" y="723900"/>
            <a:ext cx="3625702" cy="4572000"/>
          </a:xfrm>
          <a:prstGeom prst="rect">
            <a:avLst/>
          </a:prstGeom>
        </p:spPr>
      </p:pic>
      <p:pic>
        <p:nvPicPr>
          <p:cNvPr id="4" name="">
            <a:extLst>
              <a:ext uri="{FF2B5EF4-FFF2-40B4-BE49-F238E27FC236}">
                <ns3:creationId id="{2D9FA82A-961E-47C0-92F0-A1FA9844FFA1}"/>
              </a:ext>
            </a:extLst>
          </p:cNvPr>
          <p:cNvPicPr>
            <a:picLocks noChangeAspect="1"/>
          </p:cNvPicPr>
          <p:nvPr/>
        </p:nvPicPr>
        <p:blipFill>
          <a:blip r:embed="R4a44bbbec5cd43b1"/>
          <a:stretch/>
        </p:blipFill>
        <p:spPr>
          <a:xfrm>
            <a:off x="8077200" y="1386816"/>
            <a:ext cx="3657600" cy="3246167"/>
          </a:xfrm>
          <a:prstGeom prst="rect">
            <a:avLst/>
          </a:prstGeom>
        </p:spPr>
      </p:pic>
      <p:sp>
        <p:nvSpPr>
          <p:cNvPr id="5" name="">
            <a:extLst>
              <a:ext uri="{FF2B5EF4-FFF2-40B4-BE49-F238E27FC236}">
                <ns3:creationId id="{B4B35EA3-2DB2-4E20-97B4-99AB3955084B}"/>
              </a:ext>
            </a:extLst>
          </p:cNvPr>
          <p:cNvSpPr>
            <a:spLocks noGrp="1"/>
          </p:cNvSpPr>
          <p:nvPr/>
        </p:nvSpPr>
        <p:spPr>
          <a:xfrm>
            <a:off x="457200" y="5314950"/>
            <a:ext cx="1123950" cy="228600"/>
          </a:xfrm>
          <a:prstGeom prst="rect">
            <a:avLst/>
          </a:prstGeom>
          <a:noFill/>
          <a:ln w="0">
            <a:noFill/>
          </a:ln>
        </p:spPr>
        <p:txBody>
          <a:bodyPr>
            <a:normAutofit fontScale="75000"/>
          </a:bodyPr>
          <a:lstStyle>
            <a:defPPr>
              <a:defRPr sz="1200">
                <a:solidFill>
                  <a:srgbClr val="0072B2"/>
                </a:solidFill>
                <a:latin typeface="DejaVu Sans"/>
                <a:ea typeface="DejaVu Sans"/>
                <a:cs typeface="DejaVu Sans"/>
              </a:defRPr>
            </a:defPPr>
            <a:lvl1pPr>
              <a:defRPr sz="1200">
                <a:solidFill>
                  <a:srgbClr val="0072B2"/>
                </a:solidFill>
                <a:latin typeface="DejaVu Sans"/>
                <a:ea typeface="DejaVu Sans"/>
                <a:cs typeface="DejaVu Sans"/>
              </a:defRPr>
            </a:lvl1pPr>
            <a:lvl2pPr>
              <a:defRPr sz="1200">
                <a:solidFill>
                  <a:srgbClr val="0072B2"/>
                </a:solidFill>
                <a:latin typeface="DejaVu Sans"/>
                <a:ea typeface="DejaVu Sans"/>
                <a:cs typeface="DejaVu Sans"/>
              </a:defRPr>
            </a:lvl2pPr>
            <a:lvl3pPr>
              <a:defRPr sz="1200">
                <a:solidFill>
                  <a:srgbClr val="0072B2"/>
                </a:solidFill>
                <a:latin typeface="DejaVu Sans"/>
                <a:ea typeface="DejaVu Sans"/>
                <a:cs typeface="DejaVu Sans"/>
              </a:defRPr>
            </a:lvl3pPr>
            <a:lvl4pPr>
              <a:defRPr sz="1200">
                <a:solidFill>
                  <a:srgbClr val="0072B2"/>
                </a:solidFill>
                <a:latin typeface="DejaVu Sans"/>
                <a:ea typeface="DejaVu Sans"/>
                <a:cs typeface="DejaVu Sans"/>
              </a:defRPr>
            </a:lvl4pPr>
            <a:lvl5pPr>
              <a:defRPr sz="1200">
                <a:solidFill>
                  <a:srgbClr val="0072B2"/>
                </a:solidFill>
                <a:latin typeface="DejaVu Sans"/>
                <a:ea typeface="DejaVu Sans"/>
                <a:cs typeface="DejaVu Sans"/>
              </a:defRPr>
            </a:lvl5pPr>
            <a:lvl6pPr>
              <a:defRPr sz="1200">
                <a:solidFill>
                  <a:srgbClr val="0072B2"/>
                </a:solidFill>
                <a:latin typeface="DejaVu Sans"/>
                <a:ea typeface="DejaVu Sans"/>
                <a:cs typeface="DejaVu Sans"/>
              </a:defRPr>
            </a:lvl6pPr>
            <a:lvl7pPr>
              <a:defRPr sz="1200">
                <a:solidFill>
                  <a:srgbClr val="0072B2"/>
                </a:solidFill>
                <a:latin typeface="DejaVu Sans"/>
                <a:ea typeface="DejaVu Sans"/>
                <a:cs typeface="DejaVu Sans"/>
              </a:defRPr>
            </a:lvl7pPr>
            <a:lvl8pPr>
              <a:defRPr sz="1200">
                <a:solidFill>
                  <a:srgbClr val="0072B2"/>
                </a:solidFill>
                <a:latin typeface="DejaVu Sans"/>
                <a:ea typeface="DejaVu Sans"/>
                <a:cs typeface="DejaVu Sans"/>
              </a:defRPr>
            </a:lvl8pPr>
            <a:lvl9pPr>
              <a:defRPr sz="1200">
                <a:solidFill>
                  <a:srgbClr val="0072B2"/>
                </a:solidFill>
                <a:latin typeface="DejaVu Sans"/>
                <a:ea typeface="DejaVu Sans"/>
                <a:cs typeface="DejaVu Sans"/>
              </a:defRPr>
            </a:lvl9pPr>
          </a:lstStyle>
          <a:p>
            <a:pPr>
              <a:defRPr sz="1200">
                <a:solidFill>
                  <a:srgbClr val="0072B2"/>
                </a:solidFill>
                <a:latin typeface="DejaVu Sans"/>
                <a:ea typeface="DejaVu Sans"/>
                <a:cs typeface="DejaVu Sans"/>
              </a:defRPr>
            </a:pPr>
            <a:r>
              <a:rPr sz="1200">
                <a:solidFill>
                  <a:srgbClr val="0072B2"/>
                </a:solidFill>
                <a:latin typeface="DejaVu Sans"/>
                <a:ea typeface="DejaVu Sans"/>
                <a:cs typeface="DejaVu Sans"/>
              </a:rPr>
              <a:t>B1</a:t>
            </a:r>
          </a:p>
        </p:txBody>
      </p:sp>
      <p:sp>
        <p:nvSpPr>
          <p:cNvPr id="6" name="">
            <a:extLst>
              <a:ext uri="{FF2B5EF4-FFF2-40B4-BE49-F238E27FC236}">
                <ns3:creationId id="{FAAC9BF0-58A1-4A98-880E-CC2BD40C782F}"/>
              </a:ext>
            </a:extLst>
          </p:cNvPr>
          <p:cNvSpPr>
            <a:spLocks noGrp="1"/>
          </p:cNvSpPr>
          <p:nvPr/>
        </p:nvSpPr>
        <p:spPr>
          <a:xfrm>
            <a:off x="1584960" y="5314950"/>
            <a:ext cx="1123950" cy="228600"/>
          </a:xfrm>
          <a:prstGeom prst="rect">
            <a:avLst/>
          </a:prstGeom>
          <a:noFill/>
          <a:ln w="0">
            <a:noFill/>
          </a:ln>
        </p:spPr>
        <p:txBody>
          <a:bodyPr>
            <a:normAutofit fontScale="75000"/>
          </a:bodyPr>
          <a:lstStyle>
            <a:defPPr>
              <a:defRPr sz="1200">
                <a:solidFill>
                  <a:srgbClr val="D55E00"/>
                </a:solidFill>
                <a:latin typeface="DejaVu Sans"/>
                <a:ea typeface="DejaVu Sans"/>
                <a:cs typeface="DejaVu Sans"/>
              </a:defRPr>
            </a:defPPr>
            <a:lvl1pPr>
              <a:defRPr sz="1200">
                <a:solidFill>
                  <a:srgbClr val="D55E00"/>
                </a:solidFill>
                <a:latin typeface="DejaVu Sans"/>
                <a:ea typeface="DejaVu Sans"/>
                <a:cs typeface="DejaVu Sans"/>
              </a:defRPr>
            </a:lvl1pPr>
            <a:lvl2pPr>
              <a:defRPr sz="1200">
                <a:solidFill>
                  <a:srgbClr val="D55E00"/>
                </a:solidFill>
                <a:latin typeface="DejaVu Sans"/>
                <a:ea typeface="DejaVu Sans"/>
                <a:cs typeface="DejaVu Sans"/>
              </a:defRPr>
            </a:lvl2pPr>
            <a:lvl3pPr>
              <a:defRPr sz="1200">
                <a:solidFill>
                  <a:srgbClr val="D55E00"/>
                </a:solidFill>
                <a:latin typeface="DejaVu Sans"/>
                <a:ea typeface="DejaVu Sans"/>
                <a:cs typeface="DejaVu Sans"/>
              </a:defRPr>
            </a:lvl3pPr>
            <a:lvl4pPr>
              <a:defRPr sz="1200">
                <a:solidFill>
                  <a:srgbClr val="D55E00"/>
                </a:solidFill>
                <a:latin typeface="DejaVu Sans"/>
                <a:ea typeface="DejaVu Sans"/>
                <a:cs typeface="DejaVu Sans"/>
              </a:defRPr>
            </a:lvl4pPr>
            <a:lvl5pPr>
              <a:defRPr sz="1200">
                <a:solidFill>
                  <a:srgbClr val="D55E00"/>
                </a:solidFill>
                <a:latin typeface="DejaVu Sans"/>
                <a:ea typeface="DejaVu Sans"/>
                <a:cs typeface="DejaVu Sans"/>
              </a:defRPr>
            </a:lvl5pPr>
            <a:lvl6pPr>
              <a:defRPr sz="1200">
                <a:solidFill>
                  <a:srgbClr val="D55E00"/>
                </a:solidFill>
                <a:latin typeface="DejaVu Sans"/>
                <a:ea typeface="DejaVu Sans"/>
                <a:cs typeface="DejaVu Sans"/>
              </a:defRPr>
            </a:lvl6pPr>
            <a:lvl7pPr>
              <a:defRPr sz="1200">
                <a:solidFill>
                  <a:srgbClr val="D55E00"/>
                </a:solidFill>
                <a:latin typeface="DejaVu Sans"/>
                <a:ea typeface="DejaVu Sans"/>
                <a:cs typeface="DejaVu Sans"/>
              </a:defRPr>
            </a:lvl7pPr>
            <a:lvl8pPr>
              <a:defRPr sz="1200">
                <a:solidFill>
                  <a:srgbClr val="D55E00"/>
                </a:solidFill>
                <a:latin typeface="DejaVu Sans"/>
                <a:ea typeface="DejaVu Sans"/>
                <a:cs typeface="DejaVu Sans"/>
              </a:defRPr>
            </a:lvl8pPr>
            <a:lvl9pPr>
              <a:defRPr sz="1200">
                <a:solidFill>
                  <a:srgbClr val="D55E00"/>
                </a:solidFill>
                <a:latin typeface="DejaVu Sans"/>
                <a:ea typeface="DejaVu Sans"/>
                <a:cs typeface="DejaVu Sans"/>
              </a:defRPr>
            </a:lvl9pPr>
          </a:lstStyle>
          <a:p>
            <a:pPr>
              <a:defRPr sz="1200">
                <a:solidFill>
                  <a:srgbClr val="D55E00"/>
                </a:solidFill>
                <a:latin typeface="DejaVu Sans"/>
                <a:ea typeface="DejaVu Sans"/>
                <a:cs typeface="DejaVu Sans"/>
              </a:defRPr>
            </a:pPr>
            <a:r>
              <a:rPr sz="1200">
                <a:solidFill>
                  <a:srgbClr val="D55E00"/>
                </a:solidFill>
                <a:latin typeface="DejaVu Sans"/>
                <a:ea typeface="DejaVu Sans"/>
                <a:cs typeface="DejaVu Sans"/>
              </a:rPr>
              <a:t>B2</a:t>
            </a:r>
          </a:p>
        </p:txBody>
      </p:sp>
      <p:sp>
        <p:nvSpPr>
          <p:cNvPr id="7" name="">
            <a:extLst>
              <a:ext uri="{FF2B5EF4-FFF2-40B4-BE49-F238E27FC236}">
                <ns3:creationId id="{DC5FA6EE-2500-475C-95C4-36816C3AB147}"/>
              </a:ext>
            </a:extLst>
          </p:cNvPr>
          <p:cNvSpPr>
            <a:spLocks noGrp="1"/>
          </p:cNvSpPr>
          <p:nvPr/>
        </p:nvSpPr>
        <p:spPr>
          <a:xfrm>
            <a:off x="457200" y="5829300"/>
            <a:ext cx="11277600" cy="800100"/>
          </a:xfrm>
          <a:prstGeom prst="rect">
            <a:avLst/>
          </a:prstGeom>
          <a:noFill/>
          <a:ln w="0">
            <a:noFill/>
          </a:ln>
        </p:spPr>
        <p:txBody>
          <a:bodyPr>
            <a:normAutofit fontScale="95387"/>
          </a:bodyPr>
          <a:lstStyle>
            <a:defPPr>
              <a:defRPr sz="1500">
                <a:solidFill>
                  <a:srgbClr val="222222"/>
                </a:solidFill>
                <a:latin typeface="DejaVu Sans"/>
                <a:ea typeface="DejaVu Sans"/>
                <a:cs typeface="DejaVu Sans"/>
              </a:defRPr>
            </a:defPPr>
            <a:lvl1pPr>
              <a:defRPr sz="1500">
                <a:solidFill>
                  <a:srgbClr val="222222"/>
                </a:solidFill>
                <a:latin typeface="DejaVu Sans"/>
                <a:ea typeface="DejaVu Sans"/>
                <a:cs typeface="DejaVu Sans"/>
              </a:defRPr>
            </a:lvl1pPr>
            <a:lvl2pPr>
              <a:defRPr sz="1500">
                <a:solidFill>
                  <a:srgbClr val="222222"/>
                </a:solidFill>
                <a:latin typeface="DejaVu Sans"/>
                <a:ea typeface="DejaVu Sans"/>
                <a:cs typeface="DejaVu Sans"/>
              </a:defRPr>
            </a:lvl2pPr>
            <a:lvl3pPr>
              <a:defRPr sz="1500">
                <a:solidFill>
                  <a:srgbClr val="222222"/>
                </a:solidFill>
                <a:latin typeface="DejaVu Sans"/>
                <a:ea typeface="DejaVu Sans"/>
                <a:cs typeface="DejaVu Sans"/>
              </a:defRPr>
            </a:lvl3pPr>
            <a:lvl4pPr>
              <a:defRPr sz="1500">
                <a:solidFill>
                  <a:srgbClr val="222222"/>
                </a:solidFill>
                <a:latin typeface="DejaVu Sans"/>
                <a:ea typeface="DejaVu Sans"/>
                <a:cs typeface="DejaVu Sans"/>
              </a:defRPr>
            </a:lvl4pPr>
            <a:lvl5pPr>
              <a:defRPr sz="1500">
                <a:solidFill>
                  <a:srgbClr val="222222"/>
                </a:solidFill>
                <a:latin typeface="DejaVu Sans"/>
                <a:ea typeface="DejaVu Sans"/>
                <a:cs typeface="DejaVu Sans"/>
              </a:defRPr>
            </a:lvl5pPr>
            <a:lvl6pPr>
              <a:defRPr sz="1500">
                <a:solidFill>
                  <a:srgbClr val="222222"/>
                </a:solidFill>
                <a:latin typeface="DejaVu Sans"/>
                <a:ea typeface="DejaVu Sans"/>
                <a:cs typeface="DejaVu Sans"/>
              </a:defRPr>
            </a:lvl6pPr>
            <a:lvl7pPr>
              <a:defRPr sz="1500">
                <a:solidFill>
                  <a:srgbClr val="222222"/>
                </a:solidFill>
                <a:latin typeface="DejaVu Sans"/>
                <a:ea typeface="DejaVu Sans"/>
                <a:cs typeface="DejaVu Sans"/>
              </a:defRPr>
            </a:lvl7pPr>
            <a:lvl8pPr>
              <a:defRPr sz="1500">
                <a:solidFill>
                  <a:srgbClr val="222222"/>
                </a:solidFill>
                <a:latin typeface="DejaVu Sans"/>
                <a:ea typeface="DejaVu Sans"/>
                <a:cs typeface="DejaVu Sans"/>
              </a:defRPr>
            </a:lvl8pPr>
            <a:lvl9pPr>
              <a:defRPr sz="1500">
                <a:solidFill>
                  <a:srgbClr val="222222"/>
                </a:solidFill>
                <a:latin typeface="DejaVu Sans"/>
                <a:ea typeface="DejaVu Sans"/>
                <a:cs typeface="DejaVu Sans"/>
              </a:defRPr>
            </a:lvl9pPr>
          </a:lstStyle>
          <a:p>
            <a:pPr>
              <a:defRPr sz="1500">
                <a:solidFill>
                  <a:srgbClr val="222222"/>
                </a:solidFill>
                <a:latin typeface="DejaVu Sans"/>
                <a:ea typeface="DejaVu Sans"/>
                <a:cs typeface="DejaVu Sans"/>
              </a:defRPr>
            </a:pPr>
            <a:r>
              <a:rPr sz="1500">
                <a:solidFill>
                  <a:srgbClr val="222222"/>
                </a:solidFill>
                <a:latin typeface="DejaVu Sans"/>
                <a:ea typeface="DejaVu Sans"/>
                <a:cs typeface="DejaVu Sans"/>
              </a:rPr>
              <a:t>Figure 15. Bonsai of 11 representatives; 10 nonzero PCs, variance scaling off. a: equal-angle; b: equal-daylight; c: dendrogram. Bonsai-derived groups: native edge cuts, k=2 (tree-distance silhouette 0.467). Cx.y retains original identity; B groups apply only to selected models. Other slides retain UMAP labels. Paths encode distance; root is arbitrary.</a:t>
            </a:r>
          </a:p>
        </p:txBody>
      </p:sp>
    </p:spTree>
    <p:extLst>
      <p:ext uri="{BB962C8B-B14F-4D97-AF65-F5344CB8AC3E}">
        <ns4:creationId val="1702371937"/>
      </p:ext>
    </p:extLst>
  </p:cSld>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24125"/>
            <a:ext cx="11277600" cy="609600"/>
          </a:xfrm>
          <a:prstGeom prst="rect">
            <a:avLst/>
          </a:prstGeom>
          <a:noFill/>
        </p:spPr>
        <p:txBody>
          <a:bodyPr wrap="square" lIns="0" rIns="0" tIns="0" bIns="0">
            <a:noAutofit/>
          </a:bodyPr>
          <a:lstStyle/>
          <a:p>
            <a:pPr algn="ctr">
              <a:defRPr sz="3600">
                <a:solidFill>
                  <a:srgbClr val="222222"/>
                </a:solidFill>
                <a:latin typeface="Arial"/>
              </a:defRPr>
            </a:pPr>
            <a:r>
              <a:t>CmR116 bmr17022 largest child</a:t>
            </a:r>
          </a:p>
        </p:txBody>
      </p:sp>
      <p:sp>
        <p:nvSpPr>
          <p:cNvPr id="3" name="TextBox 2"/>
          <p:cNvSpPr txBox="1"/>
          <p:nvPr/>
        </p:nvSpPr>
        <p:spPr>
          <a:xfrm>
            <a:off x="457200" y="3209925"/>
            <a:ext cx="11277600" cy="609600"/>
          </a:xfrm>
          <a:prstGeom prst="rect">
            <a:avLst/>
          </a:prstGeom>
          <a:noFill/>
        </p:spPr>
        <p:txBody>
          <a:bodyPr wrap="square" lIns="0" rIns="0" tIns="0" bIns="0">
            <a:noAutofit/>
          </a:bodyPr>
          <a:lstStyle/>
          <a:p>
            <a:pPr algn="ctr">
              <a:defRPr sz="2550">
                <a:solidFill>
                  <a:srgbClr val="222222"/>
                </a:solidFill>
                <a:latin typeface="Arial"/>
              </a:defRPr>
            </a:pPr>
            <a:r>
              <a:t>11 AIS methods · 8,669 selected models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77600" cy="381000"/>
          </a:xfrm>
          <a:prstGeom prst="rect">
            <a:avLst/>
          </a:prstGeom>
          <a:noFill/>
        </p:spPr>
        <p:txBody>
          <a:bodyPr wrap="square" lIns="0" rIns="0" tIns="0" bIns="0">
            <a:normAutofit/>
          </a:bodyPr>
          <a:lstStyle/>
          <a:p>
            <a:pPr>
              <a:defRPr sz="2250">
                <a:solidFill>
                  <a:srgbClr val="222222"/>
                </a:solidFill>
                <a:latin typeface="Arial"/>
              </a:defRPr>
            </a:pPr>
            <a:r>
              <a:t>Methodology</a:t>
            </a:r>
          </a:p>
        </p:txBody>
      </p:sp>
      <p:sp>
        <p:nvSpPr>
          <p:cNvPr id="3" name="TextBox 2"/>
          <p:cNvSpPr txBox="1"/>
          <p:nvPr/>
        </p:nvSpPr>
        <p:spPr>
          <a:xfrm>
            <a:off x="457200" y="838200"/>
            <a:ext cx="5410200" cy="285750"/>
          </a:xfrm>
          <a:prstGeom prst="rect">
            <a:avLst/>
          </a:prstGeom>
          <a:noFill/>
        </p:spPr>
        <p:txBody>
          <a:bodyPr wrap="square" lIns="0" rIns="0" tIns="0" bIns="0">
            <a:normAutofit/>
          </a:bodyPr>
          <a:lstStyle/>
          <a:p>
            <a:pPr>
              <a:defRPr sz="1650">
                <a:solidFill>
                  <a:srgbClr val="222222"/>
                </a:solidFill>
                <a:latin typeface="Arial"/>
              </a:defRPr>
            </a:pPr>
            <a:r>
              <a:t>Sampling methods analyzed</a:t>
            </a:r>
          </a:p>
        </p:txBody>
      </p:sp>
      <p:sp>
        <p:nvSpPr>
          <p:cNvPr id="4" name="TextBox 3"/>
          <p:cNvSpPr txBox="1"/>
          <p:nvPr/>
        </p:nvSpPr>
        <p:spPr>
          <a:xfrm>
            <a:off x="457200" y="1181100"/>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22222"/>
                </a:solidFill>
                <a:latin typeface="Arial"/>
              </a:rPr>
              <a:t>11 AIS methods; 8,669 selected models.</a:t>
            </a:r>
          </a:p>
          <a:p>
            <a:pPr>
              <a:lnSpc>
                <a:spcPts val="1650"/>
              </a:lnSpc>
              <a:spcBef>
                <a:spcPts val="0"/>
              </a:spcBef>
              <a:spcAft>
                <a:spcPts val="0"/>
              </a:spcAft>
              <a:defRPr sz="1500">
                <a:solidFill>
                  <a:srgbClr val="222222"/>
                </a:solidFill>
                <a:latin typeface="Arial"/>
              </a:defRPr>
            </a:pPr>
            <a:r>
              <a:rPr sz="1500">
                <a:solidFill>
                  <a:srgbClr val="222222"/>
                </a:solidFill>
                <a:latin typeface="Arial"/>
              </a:rPr>
              <a:t>AFSample2; AFSample3; Boltz2; OpenDDE.</a:t>
            </a:r>
          </a:p>
          <a:p>
            <a:pPr>
              <a:lnSpc>
                <a:spcPts val="1650"/>
              </a:lnSpc>
              <a:spcBef>
                <a:spcPts val="0"/>
              </a:spcBef>
              <a:spcAft>
                <a:spcPts val="0"/>
              </a:spcAft>
              <a:defRPr sz="1500">
                <a:solidFill>
                  <a:srgbClr val="222222"/>
                </a:solidFill>
                <a:latin typeface="Arial"/>
              </a:defRPr>
            </a:pPr>
            <a:r>
              <a:rPr sz="1500">
                <a:solidFill>
                  <a:srgbClr val="222222"/>
                </a:solidFill>
                <a:latin typeface="Arial"/>
              </a:rPr>
              <a:t>BioEMU; BioEMU2; AFCluster; SPEACH_AF.</a:t>
            </a:r>
          </a:p>
          <a:p>
            <a:pPr>
              <a:lnSpc>
                <a:spcPts val="1650"/>
              </a:lnSpc>
              <a:spcBef>
                <a:spcPts val="0"/>
              </a:spcBef>
              <a:spcAft>
                <a:spcPts val="0"/>
              </a:spcAft>
              <a:defRPr sz="1500">
                <a:solidFill>
                  <a:srgbClr val="222222"/>
                </a:solidFill>
                <a:latin typeface="Arial"/>
              </a:defRPr>
            </a:pPr>
            <a:r>
              <a:rPr sz="1500">
                <a:solidFill>
                  <a:srgbClr val="222222"/>
                </a:solidFill>
                <a:latin typeface="Arial"/>
              </a:rPr>
              <a:t>AlphaFlow MD; AlphaFlow PDB; ESMFlow PDB.</a:t>
            </a:r>
          </a:p>
        </p:txBody>
      </p:sp>
      <p:sp>
        <p:nvSpPr>
          <p:cNvPr id="5" name="TextBox 4"/>
          <p:cNvSpPr txBox="1"/>
          <p:nvPr/>
        </p:nvSpPr>
        <p:spPr>
          <a:xfrm>
            <a:off x="457200" y="2543175"/>
            <a:ext cx="5410200" cy="285750"/>
          </a:xfrm>
          <a:prstGeom prst="rect">
            <a:avLst/>
          </a:prstGeom>
          <a:noFill/>
        </p:spPr>
        <p:txBody>
          <a:bodyPr wrap="square" lIns="0" rIns="0" tIns="0" bIns="0">
            <a:normAutofit/>
          </a:bodyPr>
          <a:lstStyle/>
          <a:p>
            <a:pPr>
              <a:defRPr sz="1650">
                <a:solidFill>
                  <a:srgbClr val="222222"/>
                </a:solidFill>
                <a:latin typeface="Arial"/>
              </a:defRPr>
            </a:pPr>
            <a:r>
              <a:t>Shared structural feature input</a:t>
            </a:r>
          </a:p>
        </p:txBody>
      </p:sp>
      <p:sp>
        <p:nvSpPr>
          <p:cNvPr id="6" name="TextBox 5"/>
          <p:cNvSpPr txBox="1"/>
          <p:nvPr/>
        </p:nvSpPr>
        <p:spPr>
          <a:xfrm>
            <a:off x="457200" y="2886075"/>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22222"/>
                </a:solidFill>
                <a:latin typeface="Arial"/>
              </a:rPr>
              <a:t>Second pass: only primary Cluster 1 models.</a:t>
            </a:r>
          </a:p>
          <a:p>
            <a:pPr>
              <a:lnSpc>
                <a:spcPts val="1650"/>
              </a:lnSpc>
              <a:spcBef>
                <a:spcPts val="0"/>
              </a:spcBef>
              <a:spcAft>
                <a:spcPts val="0"/>
              </a:spcAft>
              <a:defRPr sz="1500">
                <a:solidFill>
                  <a:srgbClr val="222222"/>
                </a:solidFill>
                <a:latin typeface="Arial"/>
              </a:defRPr>
            </a:pPr>
            <a:r>
              <a:rPr sz="1500">
                <a:solidFill>
                  <a:srgbClr val="222222"/>
                </a:solidFill>
                <a:latin typeface="Arial"/>
              </a:rPr>
              <a:t>Use the frozen parent residue/pair mask.</a:t>
            </a:r>
          </a:p>
          <a:p>
            <a:pPr>
              <a:lnSpc>
                <a:spcPts val="1650"/>
              </a:lnSpc>
              <a:spcBef>
                <a:spcPts val="0"/>
              </a:spcBef>
              <a:spcAft>
                <a:spcPts val="0"/>
              </a:spcAft>
              <a:defRPr sz="1500">
                <a:solidFill>
                  <a:srgbClr val="222222"/>
                </a:solidFill>
                <a:latin typeface="Arial"/>
              </a:defRPr>
            </a:pPr>
            <a:r>
              <a:rPr sz="1500">
                <a:solidFill>
                  <a:srgbClr val="222222"/>
                </a:solidFill>
                <a:latin typeface="Arial"/>
              </a:rPr>
              <a:t>131 retained residues; 8,515 Cα distance pairs.</a:t>
            </a:r>
          </a:p>
          <a:p>
            <a:pPr>
              <a:lnSpc>
                <a:spcPts val="1650"/>
              </a:lnSpc>
              <a:spcBef>
                <a:spcPts val="0"/>
              </a:spcBef>
              <a:spcAft>
                <a:spcPts val="0"/>
              </a:spcAft>
              <a:defRPr sz="1500">
                <a:solidFill>
                  <a:srgbClr val="222222"/>
                </a:solidFill>
                <a:latin typeface="Arial"/>
              </a:defRPr>
            </a:pPr>
            <a:r>
              <a:rPr sz="1500">
                <a:solidFill>
                  <a:srgbClr val="222222"/>
                </a:solidFill>
                <a:latin typeface="Arial"/>
              </a:rPr>
              <a:t>Fresh PCA, UMAP and t-SNE fit this subset.</a:t>
            </a:r>
          </a:p>
          <a:p>
            <a:pPr>
              <a:lnSpc>
                <a:spcPts val="1650"/>
              </a:lnSpc>
              <a:spcBef>
                <a:spcPts val="0"/>
              </a:spcBef>
              <a:spcAft>
                <a:spcPts val="0"/>
              </a:spcAft>
              <a:defRPr sz="1500">
                <a:solidFill>
                  <a:srgbClr val="222222"/>
                </a:solidFill>
                <a:latin typeface="Arial"/>
              </a:defRPr>
            </a:pPr>
            <a:r>
              <a:rPr sz="1500">
                <a:solidFill>
                  <a:srgbClr val="222222"/>
                </a:solidFill>
                <a:latin typeface="Arial"/>
              </a:rPr>
              <a:t>Primary labels and native structures are preserved.</a:t>
            </a:r>
          </a:p>
          <a:p>
            <a:pPr>
              <a:lnSpc>
                <a:spcPts val="1650"/>
              </a:lnSpc>
              <a:spcBef>
                <a:spcPts val="0"/>
              </a:spcBef>
              <a:spcAft>
                <a:spcPts val="0"/>
              </a:spcAft>
              <a:defRPr sz="1500">
                <a:solidFill>
                  <a:srgbClr val="222222"/>
                </a:solidFill>
                <a:latin typeface="Arial"/>
              </a:defRPr>
            </a:pPr>
            <a:r>
              <a:rPr sz="1500">
                <a:solidFill>
                  <a:srgbClr val="222222"/>
                </a:solidFill>
                <a:latin typeface="Arial"/>
              </a:rPr>
              <a:t>Final child-count review remains open.</a:t>
            </a:r>
          </a:p>
        </p:txBody>
      </p:sp>
      <p:sp>
        <p:nvSpPr>
          <p:cNvPr id="7" name="TextBox 6"/>
          <p:cNvSpPr txBox="1"/>
          <p:nvPr/>
        </p:nvSpPr>
        <p:spPr>
          <a:xfrm>
            <a:off x="457200" y="4248150"/>
            <a:ext cx="5410200" cy="285750"/>
          </a:xfrm>
          <a:prstGeom prst="rect">
            <a:avLst/>
          </a:prstGeom>
          <a:noFill/>
        </p:spPr>
        <p:txBody>
          <a:bodyPr wrap="square" lIns="0" rIns="0" tIns="0" bIns="0">
            <a:normAutofit/>
          </a:bodyPr>
          <a:lstStyle/>
          <a:p>
            <a:pPr>
              <a:defRPr sz="1650">
                <a:solidFill>
                  <a:srgbClr val="222222"/>
                </a:solidFill>
                <a:latin typeface="Arial"/>
              </a:defRPr>
            </a:pPr>
            <a:r>
              <a:t>Two-dimensional projections</a:t>
            </a:r>
          </a:p>
        </p:txBody>
      </p:sp>
      <p:sp>
        <p:nvSpPr>
          <p:cNvPr id="8" name="TextBox 7"/>
          <p:cNvSpPr txBox="1"/>
          <p:nvPr/>
        </p:nvSpPr>
        <p:spPr>
          <a:xfrm>
            <a:off x="457200" y="4591050"/>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45BA7"/>
                </a:solidFill>
                <a:latin typeface="Arial"/>
                <a:hlinkClick r:id="rId5"/>
              </a:rPr>
              <a:t>PCA: scikit-learn 1.7.1</a:t>
            </a:r>
            <a:r>
              <a:rPr sz="1500">
                <a:solidFill>
                  <a:srgbClr val="222222"/>
                </a:solidFill>
                <a:latin typeface="Arial"/>
              </a:rPr>
              <a:t>; centered SVD.</a:t>
            </a:r>
          </a:p>
          <a:p>
            <a:pPr>
              <a:lnSpc>
                <a:spcPts val="1650"/>
              </a:lnSpc>
              <a:spcBef>
                <a:spcPts val="0"/>
              </a:spcBef>
              <a:spcAft>
                <a:spcPts val="0"/>
              </a:spcAft>
            </a:pPr>
            <a:r>
              <a:rPr sz="1500">
                <a:solidFill>
                  <a:srgbClr val="245BA7"/>
                </a:solidFill>
                <a:latin typeface="Arial"/>
                <a:hlinkClick r:id="rId6"/>
              </a:rPr>
              <a:t>t-SNE: scikit-learn 1.7.1</a:t>
            </a:r>
            <a:r>
              <a:rPr sz="1500">
                <a:solidFill>
                  <a:srgbClr val="222222"/>
                </a:solidFill>
                <a:latin typeface="Arial"/>
              </a:rPr>
              <a:t>; Barnes–Hut,</a:t>
            </a:r>
          </a:p>
          <a:p>
            <a:pPr>
              <a:lnSpc>
                <a:spcPts val="1650"/>
              </a:lnSpc>
              <a:spcBef>
                <a:spcPts val="0"/>
              </a:spcBef>
              <a:spcAft>
                <a:spcPts val="0"/>
              </a:spcAft>
            </a:pPr>
            <a:r>
              <a:rPr sz="1500">
                <a:solidFill>
                  <a:srgbClr val="222222"/>
                </a:solidFill>
                <a:latin typeface="Arial"/>
              </a:rPr>
              <a:t>perplexity 30; the workflow uses Python t-SNE.</a:t>
            </a:r>
          </a:p>
          <a:p>
            <a:pPr>
              <a:lnSpc>
                <a:spcPts val="1650"/>
              </a:lnSpc>
              <a:spcBef>
                <a:spcPts val="0"/>
              </a:spcBef>
              <a:spcAft>
                <a:spcPts val="0"/>
              </a:spcAft>
            </a:pPr>
            <a:r>
              <a:rPr sz="1500">
                <a:solidFill>
                  <a:srgbClr val="245BA7"/>
                </a:solidFill>
                <a:latin typeface="Arial"/>
                <a:hlinkClick r:id="rId7"/>
              </a:rPr>
              <a:t>UMAP: umap-learn 0.5.11</a:t>
            </a:r>
            <a:r>
              <a:rPr sz="1500">
                <a:solidFill>
                  <a:srgbClr val="222222"/>
                </a:solidFill>
                <a:latin typeface="Arial"/>
              </a:rPr>
              <a:t>; neighbors 15,</a:t>
            </a:r>
          </a:p>
          <a:p>
            <a:pPr>
              <a:lnSpc>
                <a:spcPts val="1650"/>
              </a:lnSpc>
              <a:spcBef>
                <a:spcPts val="0"/>
              </a:spcBef>
              <a:spcAft>
                <a:spcPts val="0"/>
              </a:spcAft>
            </a:pPr>
            <a:r>
              <a:rPr sz="1500">
                <a:solidFill>
                  <a:srgbClr val="222222"/>
                </a:solidFill>
                <a:latin typeface="Arial"/>
              </a:rPr>
              <a:t>min_dist 0.1; Euclidean distance. Random seed 42.</a:t>
            </a:r>
          </a:p>
        </p:txBody>
      </p:sp>
      <p:sp>
        <p:nvSpPr>
          <p:cNvPr id="9" name="TextBox 8"/>
          <p:cNvSpPr txBox="1"/>
          <p:nvPr/>
        </p:nvSpPr>
        <p:spPr>
          <a:xfrm>
            <a:off x="6324600" y="838200"/>
            <a:ext cx="5410200" cy="285750"/>
          </a:xfrm>
          <a:prstGeom prst="rect">
            <a:avLst/>
          </a:prstGeom>
          <a:noFill/>
        </p:spPr>
        <p:txBody>
          <a:bodyPr wrap="square" lIns="0" rIns="0" tIns="0" bIns="0">
            <a:normAutofit/>
          </a:bodyPr>
          <a:lstStyle/>
          <a:p>
            <a:pPr>
              <a:defRPr sz="1650">
                <a:solidFill>
                  <a:srgbClr val="222222"/>
                </a:solidFill>
                <a:latin typeface="Arial"/>
              </a:defRPr>
            </a:pPr>
            <a:r>
              <a:t>Clusters and displayed representatives</a:t>
            </a:r>
          </a:p>
        </p:txBody>
      </p:sp>
      <p:sp>
        <p:nvSpPr>
          <p:cNvPr id="10" name="TextBox 9"/>
          <p:cNvSpPr txBox="1"/>
          <p:nvPr/>
        </p:nvSpPr>
        <p:spPr>
          <a:xfrm>
            <a:off x="6324600" y="1181100"/>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22222"/>
                </a:solidFill>
                <a:latin typeface="Arial"/>
              </a:rPr>
              <a:t>Preserve UMAP components; seeds 42/7/123.</a:t>
            </a:r>
          </a:p>
          <a:p>
            <a:pPr>
              <a:lnSpc>
                <a:spcPts val="1650"/>
              </a:lnSpc>
              <a:spcBef>
                <a:spcPts val="0"/>
              </a:spcBef>
              <a:spcAft>
                <a:spcPts val="0"/>
              </a:spcAft>
              <a:defRPr sz="1500">
                <a:solidFill>
                  <a:srgbClr val="222222"/>
                </a:solidFill>
                <a:latin typeface="Arial"/>
              </a:defRPr>
            </a:pPr>
            <a:r>
              <a:rPr sz="1500">
                <a:solidFill>
                  <a:srgbClr val="222222"/>
                </a:solidFill>
                <a:latin typeface="Arial"/>
              </a:rPr>
              <a:t>Ward splits: feature silhouette ≥0.15; ARI ≥0.80.</a:t>
            </a:r>
          </a:p>
          <a:p>
            <a:pPr>
              <a:lnSpc>
                <a:spcPts val="1650"/>
              </a:lnSpc>
              <a:spcBef>
                <a:spcPts val="0"/>
              </a:spcBef>
              <a:spcAft>
                <a:spcPts val="0"/>
              </a:spcAft>
              <a:defRPr sz="1500">
                <a:solidFill>
                  <a:srgbClr val="222222"/>
                </a:solidFill>
                <a:latin typeface="Arial"/>
              </a:defRPr>
            </a:pPr>
            <a:r>
              <a:rPr sz="1500">
                <a:solidFill>
                  <a:srgbClr val="222222"/>
                </a:solidFill>
                <a:latin typeface="Arial"/>
              </a:rPr>
              <a:t>Up to 5 models per cluster by mean pLDDT.</a:t>
            </a:r>
          </a:p>
          <a:p>
            <a:pPr>
              <a:lnSpc>
                <a:spcPts val="1650"/>
              </a:lnSpc>
              <a:spcBef>
                <a:spcPts val="0"/>
              </a:spcBef>
              <a:spcAft>
                <a:spcPts val="0"/>
              </a:spcAft>
              <a:defRPr sz="1500">
                <a:solidFill>
                  <a:srgbClr val="222222"/>
                </a:solidFill>
                <a:latin typeface="Arial"/>
              </a:defRPr>
            </a:pPr>
            <a:r>
              <a:rPr sz="1500">
                <a:solidFill>
                  <a:srgbClr val="222222"/>
                </a:solidFill>
                <a:latin typeface="Arial"/>
              </a:rPr>
              <a:t>6,729 selected models have native confidence.</a:t>
            </a:r>
          </a:p>
          <a:p>
            <a:pPr>
              <a:lnSpc>
                <a:spcPts val="1650"/>
              </a:lnSpc>
              <a:spcBef>
                <a:spcPts val="0"/>
              </a:spcBef>
              <a:spcAft>
                <a:spcPts val="0"/>
              </a:spcAft>
              <a:defRPr sz="1500">
                <a:solidFill>
                  <a:srgbClr val="222222"/>
                </a:solidFill>
                <a:latin typeface="Arial"/>
              </a:defRPr>
            </a:pPr>
            <a:r>
              <a:rPr sz="1500">
                <a:solidFill>
                  <a:srgbClr val="222222"/>
                </a:solidFill>
                <a:latin typeface="Arial"/>
              </a:rPr>
              <a:t>BioEMU/BioEMU2 stay unscored in clustering.</a:t>
            </a:r>
          </a:p>
          <a:p>
            <a:pPr>
              <a:lnSpc>
                <a:spcPts val="1650"/>
              </a:lnSpc>
              <a:spcBef>
                <a:spcPts val="0"/>
              </a:spcBef>
              <a:spcAft>
                <a:spcPts val="0"/>
              </a:spcAft>
              <a:defRPr sz="1500">
                <a:solidFill>
                  <a:srgbClr val="222222"/>
                </a:solidFill>
                <a:latin typeface="Arial"/>
              </a:defRPr>
            </a:pPr>
            <a:r>
              <a:rPr sz="1500">
                <a:solidFill>
                  <a:srgbClr val="222222"/>
                </a:solidFill>
                <a:latin typeface="Arial"/>
              </a:rPr>
              <a:t>Unscored-only clusters use structural medoids.</a:t>
            </a:r>
          </a:p>
        </p:txBody>
      </p:sp>
      <p:sp>
        <p:nvSpPr>
          <p:cNvPr id="11" name="TextBox 10"/>
          <p:cNvSpPr txBox="1"/>
          <p:nvPr/>
        </p:nvSpPr>
        <p:spPr>
          <a:xfrm>
            <a:off x="6324600" y="2543175"/>
            <a:ext cx="5410200" cy="285750"/>
          </a:xfrm>
          <a:prstGeom prst="rect">
            <a:avLst/>
          </a:prstGeom>
          <a:noFill/>
        </p:spPr>
        <p:txBody>
          <a:bodyPr wrap="square" lIns="0" rIns="0" tIns="0" bIns="0">
            <a:normAutofit/>
          </a:bodyPr>
          <a:lstStyle/>
          <a:p>
            <a:pPr>
              <a:defRPr sz="1650">
                <a:solidFill>
                  <a:srgbClr val="222222"/>
                </a:solidFill>
                <a:latin typeface="Arial"/>
              </a:defRPr>
            </a:pPr>
            <a:r>
              <a:t>Medoid TM-similarity grid</a:t>
            </a:r>
          </a:p>
        </p:txBody>
      </p:sp>
      <p:sp>
        <p:nvSpPr>
          <p:cNvPr id="12" name="TextBox 11"/>
          <p:cNvSpPr txBox="1"/>
          <p:nvPr/>
        </p:nvSpPr>
        <p:spPr>
          <a:xfrm>
            <a:off x="6324600" y="2886075"/>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22222"/>
                </a:solidFill>
                <a:latin typeface="Arial"/>
              </a:rPr>
              <a:t>Among the displayed models in each cluster, the</a:t>
            </a:r>
          </a:p>
          <a:p>
            <a:pPr>
              <a:lnSpc>
                <a:spcPts val="1650"/>
              </a:lnSpc>
              <a:spcBef>
                <a:spcPts val="0"/>
              </a:spcBef>
              <a:spcAft>
                <a:spcPts val="0"/>
              </a:spcAft>
            </a:pPr>
            <a:r>
              <a:rPr sz="1500">
                <a:solidFill>
                  <a:srgbClr val="222222"/>
                </a:solidFill>
                <a:latin typeface="Arial"/>
              </a:rPr>
              <a:t>medoid minimizes mean pairwise aligned Cα RMSD</a:t>
            </a:r>
          </a:p>
          <a:p>
            <a:pPr>
              <a:lnSpc>
                <a:spcPts val="1650"/>
              </a:lnSpc>
              <a:spcBef>
                <a:spcPts val="0"/>
              </a:spcBef>
              <a:spcAft>
                <a:spcPts val="0"/>
              </a:spcAft>
            </a:pPr>
            <a:r>
              <a:rPr sz="1500">
                <a:solidFill>
                  <a:srgbClr val="222222"/>
                </a:solidFill>
                <a:latin typeface="Arial"/>
              </a:rPr>
              <a:t>over shared, chain-corresponded residues.</a:t>
            </a:r>
          </a:p>
          <a:p>
            <a:pPr>
              <a:lnSpc>
                <a:spcPts val="1650"/>
              </a:lnSpc>
              <a:spcBef>
                <a:spcPts val="0"/>
              </a:spcBef>
              <a:spcAft>
                <a:spcPts val="0"/>
              </a:spcAft>
            </a:pPr>
            <a:r>
              <a:rPr sz="1500">
                <a:solidFill>
                  <a:srgbClr val="245BA7"/>
                </a:solidFill>
                <a:latin typeface="Arial"/>
                <a:hlinkClick r:id="rId8"/>
              </a:rPr>
              <a:t>US-align</a:t>
            </a:r>
            <a:r>
              <a:rPr sz="1500">
                <a:solidFill>
                  <a:srgbClr val="222222"/>
                </a:solidFill>
                <a:latin typeface="Arial"/>
              </a:rPr>
              <a:t> scores each medoid pair in both directions;</a:t>
            </a:r>
          </a:p>
          <a:p>
            <a:pPr>
              <a:lnSpc>
                <a:spcPts val="1650"/>
              </a:lnSpc>
              <a:spcBef>
                <a:spcPts val="0"/>
              </a:spcBef>
              <a:spcAft>
                <a:spcPts val="0"/>
              </a:spcAft>
            </a:pPr>
            <a:r>
              <a:rPr sz="1500">
                <a:solidFill>
                  <a:srgbClr val="222222"/>
                </a:solidFill>
                <a:latin typeface="Arial"/>
              </a:rPr>
              <a:t>average-length normalization and directional mean</a:t>
            </a:r>
          </a:p>
          <a:p>
            <a:pPr>
              <a:lnSpc>
                <a:spcPts val="1650"/>
              </a:lnSpc>
              <a:spcBef>
                <a:spcPts val="0"/>
              </a:spcBef>
              <a:spcAft>
                <a:spcPts val="0"/>
              </a:spcAft>
            </a:pPr>
            <a:r>
              <a:rPr sz="1500">
                <a:solidFill>
                  <a:srgbClr val="222222"/>
                </a:solidFill>
                <a:latin typeface="Arial"/>
              </a:rPr>
              <a:t>give a symmetric grid (0–1; higher is more similar).</a:t>
            </a:r>
          </a:p>
        </p:txBody>
      </p:sp>
      <p:sp>
        <p:nvSpPr>
          <p:cNvPr id="13" name="TextBox 12"/>
          <p:cNvSpPr txBox="1"/>
          <p:nvPr/>
        </p:nvSpPr>
        <p:spPr>
          <a:xfrm>
            <a:off x="6324600" y="4248150"/>
            <a:ext cx="5410200" cy="285750"/>
          </a:xfrm>
          <a:prstGeom prst="rect">
            <a:avLst/>
          </a:prstGeom>
          <a:noFill/>
        </p:spPr>
        <p:txBody>
          <a:bodyPr wrap="square" lIns="0" rIns="0" tIns="0" bIns="0">
            <a:normAutofit/>
          </a:bodyPr>
          <a:lstStyle/>
          <a:p>
            <a:pPr>
              <a:defRPr sz="1650">
                <a:solidFill>
                  <a:srgbClr val="222222"/>
                </a:solidFill>
                <a:latin typeface="Arial"/>
              </a:defRPr>
            </a:pPr>
            <a:r>
              <a:t>Bonsai of the selected ensembles</a:t>
            </a:r>
          </a:p>
        </p:txBody>
      </p:sp>
      <p:sp>
        <p:nvSpPr>
          <p:cNvPr id="14" name="TextBox 13"/>
          <p:cNvSpPr txBox="1"/>
          <p:nvPr/>
        </p:nvSpPr>
        <p:spPr>
          <a:xfrm>
            <a:off x="6324600" y="4591050"/>
            <a:ext cx="5410200" cy="1371600"/>
          </a:xfrm>
          <a:prstGeom prst="rect">
            <a:avLst/>
          </a:prstGeom>
          <a:noFill/>
        </p:spPr>
        <p:txBody>
          <a:bodyPr wrap="none" lIns="0" rIns="0" tIns="0" bIns="0">
            <a:noAutofit/>
          </a:bodyPr>
          <a:lstStyle/>
          <a:p>
            <a:pPr>
              <a:lnSpc>
                <a:spcPts val="1650"/>
              </a:lnSpc>
              <a:spcBef>
                <a:spcPts val="0"/>
              </a:spcBef>
              <a:spcAft>
                <a:spcPts val="0"/>
              </a:spcAft>
              <a:defRPr sz="1500">
                <a:solidFill>
                  <a:srgbClr val="222222"/>
                </a:solidFill>
                <a:latin typeface="Arial"/>
              </a:defRPr>
            </a:pPr>
            <a:r>
              <a:rPr sz="1500">
                <a:solidFill>
                  <a:srgbClr val="245BA7"/>
                </a:solidFill>
                <a:latin typeface="Arial"/>
                <a:hlinkClick r:id="rId9"/>
              </a:rPr>
              <a:t>Bonsai / Bonsai Scout</a:t>
            </a:r>
            <a:r>
              <a:rPr sz="1500">
                <a:solidFill>
                  <a:srgbClr val="222222"/>
                </a:solidFill>
                <a:latin typeface="Arial"/>
              </a:rPr>
              <a:t>: native engine b16ef6f.</a:t>
            </a:r>
          </a:p>
          <a:p>
            <a:pPr>
              <a:lnSpc>
                <a:spcPts val="1650"/>
              </a:lnSpc>
              <a:spcBef>
                <a:spcPts val="0"/>
              </a:spcBef>
              <a:spcAft>
                <a:spcPts val="0"/>
              </a:spcAft>
            </a:pPr>
            <a:r>
              <a:rPr sz="1500">
                <a:solidFill>
                  <a:srgbClr val="222222"/>
                </a:solidFill>
                <a:latin typeface="Arial"/>
              </a:rPr>
              <a:t>11 representatives; 10 nonzero PCA axes.</a:t>
            </a:r>
          </a:p>
          <a:p>
            <a:pPr>
              <a:lnSpc>
                <a:spcPts val="1650"/>
              </a:lnSpc>
              <a:spcBef>
                <a:spcPts val="0"/>
              </a:spcBef>
              <a:spcAft>
                <a:spcPts val="0"/>
              </a:spcAft>
            </a:pPr>
            <a:r>
              <a:rPr sz="1500">
                <a:solidFill>
                  <a:srgbClr val="222222"/>
                </a:solidFill>
                <a:latin typeface="Arial"/>
              </a:rPr>
              <a:t>Variance scaling off; tree paths encode distance.</a:t>
            </a:r>
          </a:p>
          <a:p>
            <a:pPr>
              <a:lnSpc>
                <a:spcPts val="1650"/>
              </a:lnSpc>
              <a:spcBef>
                <a:spcPts val="0"/>
              </a:spcBef>
              <a:spcAft>
                <a:spcPts val="0"/>
              </a:spcAft>
            </a:pPr>
            <a:r>
              <a:rPr sz="1500">
                <a:solidFill>
                  <a:srgbClr val="222222"/>
                </a:solidFill>
                <a:latin typeface="Arial"/>
              </a:rPr>
              <a:t>Native edge cuts select 2 groups by silhouette.</a:t>
            </a:r>
          </a:p>
          <a:p>
            <a:pPr>
              <a:lnSpc>
                <a:spcPts val="1650"/>
              </a:lnSpc>
              <a:spcBef>
                <a:spcPts val="0"/>
              </a:spcBef>
              <a:spcAft>
                <a:spcPts val="0"/>
              </a:spcAft>
            </a:pPr>
            <a:r>
              <a:rPr sz="1500">
                <a:solidFill>
                  <a:srgbClr val="222222"/>
                </a:solidFill>
                <a:latin typeface="Arial"/>
              </a:rPr>
              <a:t>B labels apply only to selected representatives.</a:t>
            </a:r>
          </a:p>
          <a:p>
            <a:pPr>
              <a:lnSpc>
                <a:spcPts val="1650"/>
              </a:lnSpc>
              <a:spcBef>
                <a:spcPts val="0"/>
              </a:spcBef>
              <a:spcAft>
                <a:spcPts val="0"/>
              </a:spcAft>
            </a:pPr>
            <a:r>
              <a:rPr sz="1500">
                <a:solidFill>
                  <a:srgbClr val="222222"/>
                </a:solidFill>
                <a:latin typeface="Arial"/>
              </a:rPr>
              <a:t>Circular views and dendrogram; root is arbitrary.</a:t>
            </a:r>
          </a:p>
        </p:txBody>
      </p:sp>
      <p:sp>
        <p:nvSpPr>
          <p:cNvPr id="15" name="TextBox 14"/>
          <p:cNvSpPr txBox="1"/>
          <p:nvPr/>
        </p:nvSpPr>
        <p:spPr>
          <a:xfrm>
            <a:off x="457200" y="6038850"/>
            <a:ext cx="3657600" cy="266700"/>
          </a:xfrm>
          <a:prstGeom prst="rect">
            <a:avLst/>
          </a:prstGeom>
          <a:noFill/>
        </p:spPr>
        <p:txBody>
          <a:bodyPr wrap="none" lIns="0" rIns="0" tIns="0" bIns="0">
            <a:noAutofit/>
          </a:bodyPr>
          <a:lstStyle/>
          <a:p>
            <a:pPr>
              <a:lnSpc>
                <a:spcPts val="1320"/>
              </a:lnSpc>
              <a:spcBef>
                <a:spcPts val="0"/>
              </a:spcBef>
              <a:spcAft>
                <a:spcPts val="0"/>
              </a:spcAft>
              <a:defRPr sz="1200">
                <a:solidFill>
                  <a:srgbClr val="222222"/>
                </a:solidFill>
                <a:latin typeface="Arial"/>
              </a:defRPr>
            </a:pPr>
            <a:r>
              <a:rPr sz="1200">
                <a:solidFill>
                  <a:srgbClr val="245BA7"/>
                </a:solidFill>
                <a:latin typeface="Arial"/>
                <a:hlinkClick r:id="rId10"/>
              </a:rPr>
              <a:t>PCA / scikit-learn: Pedregosa et al., 2011</a:t>
            </a:r>
          </a:p>
        </p:txBody>
      </p:sp>
      <p:sp>
        <p:nvSpPr>
          <p:cNvPr id="16" name="TextBox 15"/>
          <p:cNvSpPr txBox="1"/>
          <p:nvPr/>
        </p:nvSpPr>
        <p:spPr>
          <a:xfrm>
            <a:off x="4267200" y="6038850"/>
            <a:ext cx="3657600" cy="266700"/>
          </a:xfrm>
          <a:prstGeom prst="rect">
            <a:avLst/>
          </a:prstGeom>
          <a:noFill/>
        </p:spPr>
        <p:txBody>
          <a:bodyPr wrap="none" lIns="0" rIns="0" tIns="0" bIns="0">
            <a:noAutofit/>
          </a:bodyPr>
          <a:lstStyle/>
          <a:p>
            <a:pPr>
              <a:lnSpc>
                <a:spcPts val="1320"/>
              </a:lnSpc>
              <a:spcBef>
                <a:spcPts val="0"/>
              </a:spcBef>
              <a:spcAft>
                <a:spcPts val="0"/>
              </a:spcAft>
              <a:defRPr sz="1200">
                <a:solidFill>
                  <a:srgbClr val="222222"/>
                </a:solidFill>
                <a:latin typeface="Arial"/>
              </a:defRPr>
            </a:pPr>
            <a:r>
              <a:rPr sz="1200">
                <a:solidFill>
                  <a:srgbClr val="245BA7"/>
                </a:solidFill>
                <a:latin typeface="Arial"/>
                <a:hlinkClick r:id="rId11"/>
              </a:rPr>
              <a:t>t-SNE: van der Maaten &amp; Hinton, 2008</a:t>
            </a:r>
          </a:p>
        </p:txBody>
      </p:sp>
      <p:sp>
        <p:nvSpPr>
          <p:cNvPr id="17" name="TextBox 16"/>
          <p:cNvSpPr txBox="1"/>
          <p:nvPr/>
        </p:nvSpPr>
        <p:spPr>
          <a:xfrm>
            <a:off x="8077200" y="6038850"/>
            <a:ext cx="3657600" cy="266700"/>
          </a:xfrm>
          <a:prstGeom prst="rect">
            <a:avLst/>
          </a:prstGeom>
          <a:noFill/>
        </p:spPr>
        <p:txBody>
          <a:bodyPr wrap="none" lIns="0" rIns="0" tIns="0" bIns="0">
            <a:noAutofit/>
          </a:bodyPr>
          <a:lstStyle/>
          <a:p>
            <a:pPr>
              <a:lnSpc>
                <a:spcPts val="1320"/>
              </a:lnSpc>
              <a:spcBef>
                <a:spcPts val="0"/>
              </a:spcBef>
              <a:spcAft>
                <a:spcPts val="0"/>
              </a:spcAft>
              <a:defRPr sz="1200">
                <a:solidFill>
                  <a:srgbClr val="222222"/>
                </a:solidFill>
                <a:latin typeface="Arial"/>
              </a:defRPr>
            </a:pPr>
            <a:r>
              <a:rPr sz="1200">
                <a:solidFill>
                  <a:srgbClr val="245BA7"/>
                </a:solidFill>
                <a:latin typeface="Arial"/>
                <a:hlinkClick r:id="rId12"/>
              </a:rPr>
              <a:t>UMAP: McInnes, Healy &amp; Melville, 2018</a:t>
            </a:r>
          </a:p>
        </p:txBody>
      </p:sp>
      <p:sp>
        <p:nvSpPr>
          <p:cNvPr id="18" name="TextBox 17"/>
          <p:cNvSpPr txBox="1"/>
          <p:nvPr/>
        </p:nvSpPr>
        <p:spPr>
          <a:xfrm>
            <a:off x="457200" y="6419850"/>
            <a:ext cx="11277600" cy="266700"/>
          </a:xfrm>
          <a:prstGeom prst="rect">
            <a:avLst/>
          </a:prstGeom>
          <a:noFill/>
        </p:spPr>
        <p:txBody>
          <a:bodyPr wrap="square" lIns="0" rIns="0" tIns="0" bIns="0">
            <a:normAutofit/>
          </a:bodyPr>
          <a:lstStyle/>
          <a:p>
            <a:pPr>
              <a:defRPr sz="1200">
                <a:solidFill>
                  <a:srgbClr val="222222"/>
                </a:solidFill>
                <a:latin typeface="Arial"/>
              </a:defRPr>
            </a:pPr>
            <a:r>
              <a:t>Only nine confidence-producing methods are ranked; BioEMU/BioEMU2 remain in every structural analysis. Unscored-only clusters retain their structural medoid.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09550"/>
            <a:ext cx="11277600" cy="419100"/>
          </a:xfrm>
          <a:prstGeom prst="rect">
            <a:avLst/>
          </a:prstGeom>
          <a:noFill/>
        </p:spPr>
        <p:txBody>
          <a:bodyPr wrap="square" lIns="0" rIns="0" tIns="0" bIns="0">
            <a:normAutofit/>
          </a:bodyPr>
          <a:lstStyle/>
          <a:p>
            <a:pPr>
              <a:defRPr sz="2250">
                <a:solidFill>
                  <a:srgbClr val="222222"/>
                </a:solidFill>
                <a:latin typeface="Arial"/>
              </a:defRPr>
            </a:pPr>
            <a:r>
              <a:t>TM-similar cluster ensembles</a:t>
            </a:r>
          </a:p>
        </p:txBody>
      </p:sp>
      <p:sp>
        <p:nvSpPr>
          <p:cNvPr id="3" name="TextBox 2"/>
          <p:cNvSpPr txBox="1"/>
          <p:nvPr/>
        </p:nvSpPr>
        <p:spPr>
          <a:xfrm>
            <a:off x="457200" y="742950"/>
            <a:ext cx="11087100" cy="266700"/>
          </a:xfrm>
          <a:prstGeom prst="rect">
            <a:avLst/>
          </a:prstGeom>
          <a:noFill/>
        </p:spPr>
        <p:txBody>
          <a:bodyPr wrap="square" lIns="0" rIns="0" tIns="0" bIns="0">
            <a:normAutofit/>
          </a:bodyPr>
          <a:lstStyle/>
          <a:p>
            <a:pPr>
              <a:defRPr sz="1725">
                <a:solidFill>
                  <a:srgbClr val="222222"/>
                </a:solidFill>
                <a:latin typeface="Arial"/>
              </a:defRPr>
            </a:pPr>
            <a:r>
              <a:t>a. Group 1: C1.1, C1.2, C1.3</a:t>
            </a:r>
          </a:p>
        </p:txBody>
      </p:sp>
      <p:pic>
        <p:nvPicPr>
          <p:cNvPr id="4" name="TM group 1: cluster overlay" descr="ensemble.png"/>
          <p:cNvPicPr>
            <a:picLocks noChangeAspect="1"/>
          </p:cNvPicPr>
          <p:nvPr/>
        </p:nvPicPr>
        <p:blipFill>
          <a:blip r:embed="rId2"/>
          <a:srcRect l="17143" t="19000" r="27214" b="25556"/>
          <a:stretch>
            <a:fillRect/>
          </a:stretch>
        </p:blipFill>
        <p:spPr>
          <a:xfrm>
            <a:off x="2922724" y="1047750"/>
            <a:ext cx="6156051" cy="3943350"/>
          </a:xfrm>
          <a:prstGeom prst="rect">
            <a:avLst/>
          </a:prstGeom>
        </p:spPr>
      </p:pic>
      <p:sp>
        <p:nvSpPr>
          <p:cNvPr id="5" name="Rectangle 4"/>
          <p:cNvSpPr/>
          <p:nvPr/>
        </p:nvSpPr>
        <p:spPr>
          <a:xfrm>
            <a:off x="3724275" y="5105400"/>
            <a:ext cx="209550" cy="15240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010025" y="5048250"/>
            <a:ext cx="1238250" cy="285750"/>
          </a:xfrm>
          <a:prstGeom prst="rect">
            <a:avLst/>
          </a:prstGeom>
          <a:noFill/>
        </p:spPr>
        <p:txBody>
          <a:bodyPr wrap="square" lIns="0" rIns="0" tIns="0" bIns="0">
            <a:normAutofit/>
          </a:bodyPr>
          <a:lstStyle/>
          <a:p>
            <a:pPr>
              <a:defRPr sz="1500">
                <a:solidFill>
                  <a:srgbClr val="222222"/>
                </a:solidFill>
                <a:latin typeface="Arial"/>
              </a:defRPr>
            </a:pPr>
            <a:r>
              <a:t>C1.1</a:t>
            </a:r>
          </a:p>
        </p:txBody>
      </p:sp>
      <p:sp>
        <p:nvSpPr>
          <p:cNvPr id="7" name="Rectangle 6"/>
          <p:cNvSpPr/>
          <p:nvPr/>
        </p:nvSpPr>
        <p:spPr>
          <a:xfrm>
            <a:off x="5305425" y="5105400"/>
            <a:ext cx="209550" cy="152400"/>
          </a:xfrm>
          <a:prstGeom prst="rect">
            <a:avLst/>
          </a:prstGeom>
          <a:solidFill>
            <a:srgbClr val="FF7F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91175" y="5048250"/>
            <a:ext cx="1238250" cy="285750"/>
          </a:xfrm>
          <a:prstGeom prst="rect">
            <a:avLst/>
          </a:prstGeom>
          <a:noFill/>
        </p:spPr>
        <p:txBody>
          <a:bodyPr wrap="square" lIns="0" rIns="0" tIns="0" bIns="0">
            <a:normAutofit/>
          </a:bodyPr>
          <a:lstStyle/>
          <a:p>
            <a:pPr>
              <a:defRPr sz="1500">
                <a:solidFill>
                  <a:srgbClr val="222222"/>
                </a:solidFill>
                <a:latin typeface="Arial"/>
              </a:defRPr>
            </a:pPr>
            <a:r>
              <a:t>C1.2</a:t>
            </a:r>
          </a:p>
        </p:txBody>
      </p:sp>
      <p:sp>
        <p:nvSpPr>
          <p:cNvPr id="9" name="Rectangle 8"/>
          <p:cNvSpPr/>
          <p:nvPr/>
        </p:nvSpPr>
        <p:spPr>
          <a:xfrm>
            <a:off x="6886575" y="5105400"/>
            <a:ext cx="209550" cy="152400"/>
          </a:xfrm>
          <a:prstGeom prst="rect">
            <a:avLst/>
          </a:prstGeom>
          <a:solidFill>
            <a:srgbClr val="2C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72325" y="5048250"/>
            <a:ext cx="1238250" cy="285750"/>
          </a:xfrm>
          <a:prstGeom prst="rect">
            <a:avLst/>
          </a:prstGeom>
          <a:noFill/>
        </p:spPr>
        <p:txBody>
          <a:bodyPr wrap="square" lIns="0" rIns="0" tIns="0" bIns="0">
            <a:normAutofit/>
          </a:bodyPr>
          <a:lstStyle/>
          <a:p>
            <a:pPr>
              <a:defRPr sz="1500">
                <a:solidFill>
                  <a:srgbClr val="222222"/>
                </a:solidFill>
                <a:latin typeface="Arial"/>
              </a:defRPr>
            </a:pPr>
            <a:r>
              <a:t>C1.3</a:t>
            </a:r>
          </a:p>
        </p:txBody>
      </p:sp>
      <p:sp>
        <p:nvSpPr>
          <p:cNvPr id="11" name="TextBox 10"/>
          <p:cNvSpPr txBox="1"/>
          <p:nvPr/>
        </p:nvSpPr>
        <p:spPr>
          <a:xfrm>
            <a:off x="457200" y="5505450"/>
            <a:ext cx="11277600" cy="1123950"/>
          </a:xfrm>
          <a:prstGeom prst="rect">
            <a:avLst/>
          </a:prstGeom>
          <a:noFill/>
        </p:spPr>
        <p:txBody>
          <a:bodyPr wrap="square" lIns="0" rIns="0" tIns="0" bIns="0">
            <a:normAutofit/>
          </a:bodyPr>
          <a:lstStyle/>
          <a:p>
            <a:pPr>
              <a:defRPr sz="1425">
                <a:solidFill>
                  <a:srgbClr val="222222"/>
                </a:solidFill>
                <a:latin typeface="Arial"/>
              </a:defRPr>
            </a:pPr>
            <a:r>
              <a:t>Figure 16. Maximal groups whose every cluster-medoid pair has TM-score &gt; 0.8 (group 1: 11 models, TM 0.9066–0.9792). All displayed representatives are pooled and aligned to the pooled Cα RMSD medoid using the recorded alignment residues, without outlier rejection. Detected terminal exclusions also apply to fitting. Colors match PCA, UMAP and t-SNE clusters; saved camera orientation is reused. Groups may overlap.</a:t>
            </a:r>
          </a:p>
        </p:txBody>
      </p:sp>
    </p:spTree>
  </p:cSld>
  <p:clrMapOvr>
    <a:masterClrMapping/>
  </p:clrMapOvr>
</p:sld>
</file>

<file path=ppt/slides/slide2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5" name="">
            <a:extLst>
              <a:ext uri="{FF2B5EF4-FFF2-40B4-BE49-F238E27FC236}">
                <ns2:creationId id="{A0793ACC-D004-4EF7-ADDE-54F7D29C4541}"/>
              </a:ext>
            </a:extLst>
          </p:cNvPr>
          <p:cNvSpPr>
            <a:spLocks noGrp="1"/>
          </p:cNvSpPr>
          <p:nvPr/>
        </p:nvSpPr>
        <p:spPr>
          <a:xfrm>
            <a:off x="457200" y="209550"/>
            <a:ext cx="11277600" cy="514350"/>
          </a:xfrm>
          <a:prstGeom prst="rect">
            <a:avLst/>
          </a:prstGeom>
          <a:noFill/>
          <a:ln w="0">
            <a:noFill/>
          </a:ln>
        </p:spPr>
        <p:txBody>
          <a:bodyPr>
            <a:noAutofit/>
          </a:bodyPr>
          <a:lstStyle>
            <a:defPPr>
              <a:defRPr sz="2100">
                <a:solidFill>
                  <a:srgbClr val="222222"/>
                </a:solidFill>
                <a:latin typeface="DejaVu Sans"/>
                <a:ea typeface="DejaVu Sans"/>
                <a:cs typeface="DejaVu Sans"/>
              </a:defRPr>
            </a:defPPr>
            <a:lvl1pPr>
              <a:defRPr sz="2100">
                <a:solidFill>
                  <a:srgbClr val="222222"/>
                </a:solidFill>
                <a:latin typeface="DejaVu Sans"/>
                <a:ea typeface="DejaVu Sans"/>
                <a:cs typeface="DejaVu Sans"/>
              </a:defRPr>
            </a:lvl1pPr>
            <a:lvl2pPr>
              <a:defRPr sz="2100">
                <a:solidFill>
                  <a:srgbClr val="222222"/>
                </a:solidFill>
                <a:latin typeface="DejaVu Sans"/>
                <a:ea typeface="DejaVu Sans"/>
                <a:cs typeface="DejaVu Sans"/>
              </a:defRPr>
            </a:lvl2pPr>
            <a:lvl3pPr>
              <a:defRPr sz="2100">
                <a:solidFill>
                  <a:srgbClr val="222222"/>
                </a:solidFill>
                <a:latin typeface="DejaVu Sans"/>
                <a:ea typeface="DejaVu Sans"/>
                <a:cs typeface="DejaVu Sans"/>
              </a:defRPr>
            </a:lvl3pPr>
            <a:lvl4pPr>
              <a:defRPr sz="2100">
                <a:solidFill>
                  <a:srgbClr val="222222"/>
                </a:solidFill>
                <a:latin typeface="DejaVu Sans"/>
                <a:ea typeface="DejaVu Sans"/>
                <a:cs typeface="DejaVu Sans"/>
              </a:defRPr>
            </a:lvl4pPr>
            <a:lvl5pPr>
              <a:defRPr sz="2100">
                <a:solidFill>
                  <a:srgbClr val="222222"/>
                </a:solidFill>
                <a:latin typeface="DejaVu Sans"/>
                <a:ea typeface="DejaVu Sans"/>
                <a:cs typeface="DejaVu Sans"/>
              </a:defRPr>
            </a:lvl5pPr>
            <a:lvl6pPr>
              <a:defRPr sz="2100">
                <a:solidFill>
                  <a:srgbClr val="222222"/>
                </a:solidFill>
                <a:latin typeface="DejaVu Sans"/>
                <a:ea typeface="DejaVu Sans"/>
                <a:cs typeface="DejaVu Sans"/>
              </a:defRPr>
            </a:lvl6pPr>
            <a:lvl7pPr>
              <a:defRPr sz="2100">
                <a:solidFill>
                  <a:srgbClr val="222222"/>
                </a:solidFill>
                <a:latin typeface="DejaVu Sans"/>
                <a:ea typeface="DejaVu Sans"/>
                <a:cs typeface="DejaVu Sans"/>
              </a:defRPr>
            </a:lvl7pPr>
            <a:lvl8pPr>
              <a:defRPr sz="2100">
                <a:solidFill>
                  <a:srgbClr val="222222"/>
                </a:solidFill>
                <a:latin typeface="DejaVu Sans"/>
                <a:ea typeface="DejaVu Sans"/>
                <a:cs typeface="DejaVu Sans"/>
              </a:defRPr>
            </a:lvl8pPr>
            <a:lvl9pPr>
              <a:defRPr sz="2100">
                <a:solidFill>
                  <a:srgbClr val="222222"/>
                </a:solidFill>
                <a:latin typeface="DejaVu Sans"/>
                <a:ea typeface="DejaVu Sans"/>
                <a:cs typeface="DejaVu Sans"/>
              </a:defRPr>
            </a:lvl9pPr>
          </a:lstStyle>
          <a:p>
            <a:pPr>
              <a:defRPr sz="2100">
                <a:solidFill>
                  <a:srgbClr val="222222"/>
                </a:solidFill>
                <a:latin typeface="DejaVu Sans"/>
                <a:ea typeface="DejaVu Sans"/>
                <a:cs typeface="DejaVu Sans"/>
              </a:defRPr>
            </a:pPr>
            <a:r>
              <a:rPr sz="2100">
                <a:solidFill>
                  <a:srgbClr val="222222"/>
                </a:solidFill>
                <a:latin typeface="DejaVu Sans"/>
                <a:ea typeface="DejaVu Sans"/>
                <a:cs typeface="DejaVu Sans"/>
              </a:rPr>
              <a:t>Pooled group 1 · one model per frame</a:t>
            </a:r>
          </a:p>
        </p:txBody>
      </p:sp>
      <p:sp>
        <p:nvSpPr>
          <p:cNvPr id="2" name="">
            <a:extLst>
              <a:ext uri="{FF2B5EF4-FFF2-40B4-BE49-F238E27FC236}">
                <ns2:creationId id="{66F4D289-CFC9-4F8F-9E80-85FB9B2C0713}"/>
              </a:ext>
            </a:extLst>
          </p:cNvPr>
          <p:cNvSpPr>
            <a:spLocks noGrp="1"/>
          </p:cNvSpPr>
          <p:nvPr/>
        </p:nvSpPr>
        <p:spPr>
          <a:xfrm>
            <a:off x="457200" y="714375"/>
            <a:ext cx="11049000" cy="400050"/>
          </a:xfrm>
          <a:prstGeom prst="rect">
            <a:avLst/>
          </a:prstGeom>
          <a:noFill/>
          <a:ln w="0">
            <a:noFill/>
          </a:ln>
        </p:spPr>
        <p:txBody>
          <a:bodyPr>
            <a:noAutofit/>
          </a:bodyPr>
          <a:lstStyle>
            <a:defPPr>
              <a:defRPr sz="1650">
                <a:solidFill>
                  <a:srgbClr val="222222"/>
                </a:solidFill>
                <a:latin typeface="DejaVu Sans"/>
                <a:ea typeface="DejaVu Sans"/>
                <a:cs typeface="DejaVu Sans"/>
              </a:defRPr>
            </a:defPPr>
            <a:lvl1pPr>
              <a:defRPr sz="1650">
                <a:solidFill>
                  <a:srgbClr val="222222"/>
                </a:solidFill>
                <a:latin typeface="DejaVu Sans"/>
                <a:ea typeface="DejaVu Sans"/>
                <a:cs typeface="DejaVu Sans"/>
              </a:defRPr>
            </a:lvl1pPr>
            <a:lvl2pPr>
              <a:defRPr sz="1650">
                <a:solidFill>
                  <a:srgbClr val="222222"/>
                </a:solidFill>
                <a:latin typeface="DejaVu Sans"/>
                <a:ea typeface="DejaVu Sans"/>
                <a:cs typeface="DejaVu Sans"/>
              </a:defRPr>
            </a:lvl2pPr>
            <a:lvl3pPr>
              <a:defRPr sz="1650">
                <a:solidFill>
                  <a:srgbClr val="222222"/>
                </a:solidFill>
                <a:latin typeface="DejaVu Sans"/>
                <a:ea typeface="DejaVu Sans"/>
                <a:cs typeface="DejaVu Sans"/>
              </a:defRPr>
            </a:lvl3pPr>
            <a:lvl4pPr>
              <a:defRPr sz="1650">
                <a:solidFill>
                  <a:srgbClr val="222222"/>
                </a:solidFill>
                <a:latin typeface="DejaVu Sans"/>
                <a:ea typeface="DejaVu Sans"/>
                <a:cs typeface="DejaVu Sans"/>
              </a:defRPr>
            </a:lvl4pPr>
            <a:lvl5pPr>
              <a:defRPr sz="1650">
                <a:solidFill>
                  <a:srgbClr val="222222"/>
                </a:solidFill>
                <a:latin typeface="DejaVu Sans"/>
                <a:ea typeface="DejaVu Sans"/>
                <a:cs typeface="DejaVu Sans"/>
              </a:defRPr>
            </a:lvl5pPr>
            <a:lvl6pPr>
              <a:defRPr sz="1650">
                <a:solidFill>
                  <a:srgbClr val="222222"/>
                </a:solidFill>
                <a:latin typeface="DejaVu Sans"/>
                <a:ea typeface="DejaVu Sans"/>
                <a:cs typeface="DejaVu Sans"/>
              </a:defRPr>
            </a:lvl6pPr>
            <a:lvl7pPr>
              <a:defRPr sz="1650">
                <a:solidFill>
                  <a:srgbClr val="222222"/>
                </a:solidFill>
                <a:latin typeface="DejaVu Sans"/>
                <a:ea typeface="DejaVu Sans"/>
                <a:cs typeface="DejaVu Sans"/>
              </a:defRPr>
            </a:lvl7pPr>
            <a:lvl8pPr>
              <a:defRPr sz="1650">
                <a:solidFill>
                  <a:srgbClr val="222222"/>
                </a:solidFill>
                <a:latin typeface="DejaVu Sans"/>
                <a:ea typeface="DejaVu Sans"/>
                <a:cs typeface="DejaVu Sans"/>
              </a:defRPr>
            </a:lvl8pPr>
            <a:lvl9pPr>
              <a:defRPr sz="1650">
                <a:solidFill>
                  <a:srgbClr val="222222"/>
                </a:solidFill>
                <a:latin typeface="DejaVu Sans"/>
                <a:ea typeface="DejaVu Sans"/>
                <a:cs typeface="DejaVu Sans"/>
              </a:defRPr>
            </a:lvl9pPr>
          </a:lstStyle>
          <a:p>
            <a:pPr>
              <a:defRPr sz="1650">
                <a:solidFill>
                  <a:srgbClr val="222222"/>
                </a:solidFill>
                <a:latin typeface="DejaVu Sans"/>
                <a:ea typeface="DejaVu Sans"/>
                <a:cs typeface="DejaVu Sans"/>
              </a:defRPr>
            </a:pPr>
            <a:r>
              <a:rPr sz="1650">
                <a:solidFill>
                  <a:srgbClr val="222222"/>
                </a:solidFill>
                <a:latin typeface="DejaVu Sans"/>
                <a:ea typeface="DejaVu Sans"/>
                <a:cs typeface="DejaVu Sans"/>
              </a:rPr>
              <a:t>Whole-structure fit</a:t>
            </a:r>
          </a:p>
        </p:txBody>
      </p:sp>
      <p:pic>
        <p:nvPicPr>
          <p:cNvPr id="3" name="" descr="Pooled group 1 | whole_structure">
            <a:extLst>
              <a:ext uri="{FF2B5EF4-FFF2-40B4-BE49-F238E27FC236}">
                <ns2:creationId id="{C0341FAF-2707-4DAC-83C2-E88F765C9326}"/>
              </a:ext>
            </a:extLst>
          </p:cNvPr>
          <p:cNvPicPr>
            <a:picLocks noChangeAspect="1"/>
          </p:cNvPicPr>
          <p:nvPr/>
        </p:nvPicPr>
        <p:blipFill>
          <a:blip r:embed="rIdPooledAnimation1"/>
          <a:stretch/>
        </p:blipFill>
        <p:spPr>
          <a:xfrm>
            <a:off x="3049521" y="1162050"/>
            <a:ext cx="5864358" cy="4191000"/>
          </a:xfrm>
          <a:prstGeom prst="rect">
            <a:avLst/>
          </a:prstGeom>
        </p:spPr>
      </p:pic>
      <p:sp>
        <p:nvSpPr>
          <p:cNvPr id="4" name="">
            <a:extLst>
              <a:ext uri="{FF2B5EF4-FFF2-40B4-BE49-F238E27FC236}">
                <ns2:creationId id="{9535EA6B-4AA9-457B-9471-8B7B675A4540}"/>
              </a:ext>
            </a:extLst>
          </p:cNvPr>
          <p:cNvSpPr>
            <a:spLocks noGrp="1"/>
          </p:cNvSpPr>
          <p:nvPr/>
        </p:nvSpPr>
        <p:spPr>
          <a:xfrm>
            <a:off x="457200" y="5715000"/>
            <a:ext cx="11277600" cy="990600"/>
          </a:xfrm>
          <a:prstGeom prst="rect">
            <a:avLst/>
          </a:prstGeom>
          <a:noFill/>
          <a:ln w="0">
            <a:noFill/>
          </a:ln>
        </p:spPr>
        <p:txBody>
          <a:bodyPr>
            <a:noAutofit/>
          </a:bodyPr>
          <a:lstStyle>
            <a:defPPr>
              <a:defRPr sz="1350">
                <a:solidFill>
                  <a:srgbClr val="222222"/>
                </a:solidFill>
                <a:latin typeface="DejaVu Sans"/>
                <a:ea typeface="DejaVu Sans"/>
                <a:cs typeface="DejaVu Sans"/>
              </a:defRPr>
            </a:defPPr>
            <a:lvl1pPr>
              <a:defRPr sz="1350">
                <a:solidFill>
                  <a:srgbClr val="222222"/>
                </a:solidFill>
                <a:latin typeface="DejaVu Sans"/>
                <a:ea typeface="DejaVu Sans"/>
                <a:cs typeface="DejaVu Sans"/>
              </a:defRPr>
            </a:lvl1pPr>
            <a:lvl2pPr>
              <a:defRPr sz="1350">
                <a:solidFill>
                  <a:srgbClr val="222222"/>
                </a:solidFill>
                <a:latin typeface="DejaVu Sans"/>
                <a:ea typeface="DejaVu Sans"/>
                <a:cs typeface="DejaVu Sans"/>
              </a:defRPr>
            </a:lvl2pPr>
            <a:lvl3pPr>
              <a:defRPr sz="1350">
                <a:solidFill>
                  <a:srgbClr val="222222"/>
                </a:solidFill>
                <a:latin typeface="DejaVu Sans"/>
                <a:ea typeface="DejaVu Sans"/>
                <a:cs typeface="DejaVu Sans"/>
              </a:defRPr>
            </a:lvl3pPr>
            <a:lvl4pPr>
              <a:defRPr sz="1350">
                <a:solidFill>
                  <a:srgbClr val="222222"/>
                </a:solidFill>
                <a:latin typeface="DejaVu Sans"/>
                <a:ea typeface="DejaVu Sans"/>
                <a:cs typeface="DejaVu Sans"/>
              </a:defRPr>
            </a:lvl4pPr>
            <a:lvl5pPr>
              <a:defRPr sz="1350">
                <a:solidFill>
                  <a:srgbClr val="222222"/>
                </a:solidFill>
                <a:latin typeface="DejaVu Sans"/>
                <a:ea typeface="DejaVu Sans"/>
                <a:cs typeface="DejaVu Sans"/>
              </a:defRPr>
            </a:lvl5pPr>
            <a:lvl6pPr>
              <a:defRPr sz="1350">
                <a:solidFill>
                  <a:srgbClr val="222222"/>
                </a:solidFill>
                <a:latin typeface="DejaVu Sans"/>
                <a:ea typeface="DejaVu Sans"/>
                <a:cs typeface="DejaVu Sans"/>
              </a:defRPr>
            </a:lvl6pPr>
            <a:lvl7pPr>
              <a:defRPr sz="1350">
                <a:solidFill>
                  <a:srgbClr val="222222"/>
                </a:solidFill>
                <a:latin typeface="DejaVu Sans"/>
                <a:ea typeface="DejaVu Sans"/>
                <a:cs typeface="DejaVu Sans"/>
              </a:defRPr>
            </a:lvl7pPr>
            <a:lvl8pPr>
              <a:defRPr sz="1350">
                <a:solidFill>
                  <a:srgbClr val="222222"/>
                </a:solidFill>
                <a:latin typeface="DejaVu Sans"/>
                <a:ea typeface="DejaVu Sans"/>
                <a:cs typeface="DejaVu Sans"/>
              </a:defRPr>
            </a:lvl8pPr>
            <a:lvl9pPr>
              <a:defRPr sz="1350">
                <a:solidFill>
                  <a:srgbClr val="222222"/>
                </a:solidFill>
                <a:latin typeface="DejaVu Sans"/>
                <a:ea typeface="DejaVu Sans"/>
                <a:cs typeface="DejaVu Sans"/>
              </a:defRPr>
            </a:lvl9pPr>
          </a:lstStyle>
          <a:p>
            <a:pPr>
              <a:defRPr sz="1350">
                <a:solidFill>
                  <a:srgbClr val="222222"/>
                </a:solidFill>
                <a:latin typeface="DejaVu Sans"/>
                <a:ea typeface="DejaVu Sans"/>
                <a:cs typeface="DejaVu Sans"/>
              </a:defRPr>
            </a:pPr>
            <a:r>
              <a:rPr sz="1350">
                <a:solidFill>
                  <a:srgbClr val="222222"/>
                </a:solidFill>
                <a:latin typeface="DejaVu Sans"/>
                <a:ea typeface="DejaVu Sans"/>
                <a:cs typeface="DejaVu Sans"/>
              </a:rPr>
              <a:t>Complete structures, one model per frame. Same fit and fixed camera as the corresponding ensemble slide; each chain repeats its own N-to-C rainbow. Maximum-RMSD endpoints with minimum-transition path search. Five frames at 30 fps per model (~0.167 s). GIF loop reset is excluded from the path objective. The PDF shows the first frame.</a:t>
            </a:r>
          </a:p>
        </p:txBody>
      </p:sp>
    </p:spTree>
    <p:extLst>
      <p:ext uri="{BB962C8B-B14F-4D97-AF65-F5344CB8AC3E}">
        <ns4:creationId val="12691182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m_group_18/notesMasters/_rels/notesMaster1.xml.rels><?xml version='1.0' encoding='utf-8'?>
<Relationships xmlns="http://schemas.openxmlformats.org/package/2006/relationships"><Relationship Id="rId1" Type="http://schemas.openxmlformats.org/officeDocument/2006/relationships/theme" Target="../theme/theme2.xml" /></Relationships>
</file>

<file path=ppt/tm_group_18/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tm_group_18/notesSlides/_rels/notesSlide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9.xml" /></Relationships>
</file>

<file path=ppt/tm_group_18/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"PyMOL extra_fit, method=align, CA atoms, cycles=0 (no outlier rejection)",</a:t>
            </a:r>
          </a:p>
          <a:p>
            <a:r>
              <a:t>  "statistics": "sqrt(mean_model(sum_xyz((CA_model - mean_model(CA))**2))) after extra_fit",</a:t>
            </a:r>
          </a:p>
          <a:p>
            <a:r>
              <a:t>  "plddt": "Mean atom pLDDT within each residue in each model, then equal-weight mean over every represented model.",</a:t>
            </a:r>
          </a:p>
          <a:p>
            <a:r>
              <a:t>  "putty": {</a:t>
            </a:r>
          </a:p>
          <a:p>
            <a:r>
              <a:t>    "transform": 7,</a:t>
            </a:r>
          </a:p>
          <a:p>
            <a:r>
              <a:t>    "radius_scale": 2.0,</a:t>
            </a:r>
          </a:p>
          <a:p>
            <a:r>
              <a:t>    "scale_min": -1.0,</a:t>
            </a:r>
          </a:p>
          <a:p>
            <a:r>
              <a:t>    "scale_max": -1.0,</a:t>
            </a:r>
          </a:p>
          <a:p>
            <a:r>
              <a:t>    "cartoon_sampling": 1,</a:t>
            </a:r>
          </a:p>
          <a:p>
            <a:r>
              <a:t>    "color_bins": [</a:t>
            </a:r>
          </a:p>
          <a:p>
            <a:r>
              <a:t>      [</a:t>
            </a:r>
          </a:p>
          <a:p>
            <a:r>
              <a:t>        0,</a:t>
            </a:r>
          </a:p>
          <a:p>
            <a:r>
              <a:t>        50,</a:t>
            </a:r>
          </a:p>
          <a:p>
            <a:r>
              <a:t>        "#ff7d45"</a:t>
            </a:r>
          </a:p>
          <a:p>
            <a:r>
              <a:t>      ],</a:t>
            </a:r>
          </a:p>
          <a:p>
            <a:r>
              <a:t>      [</a:t>
            </a:r>
          </a:p>
          <a:p>
            <a:r>
              <a:t>        50,</a:t>
            </a:r>
          </a:p>
          <a:p>
            <a:r>
              <a:t>        70,</a:t>
            </a:r>
          </a:p>
          <a:p>
            <a:r>
              <a:t>        "#ffdb13"</a:t>
            </a:r>
          </a:p>
          <a:p>
            <a:r>
              <a:t>      ],</a:t>
            </a:r>
          </a:p>
          <a:p>
            <a:r>
              <a:t>      [</a:t>
            </a:r>
          </a:p>
          <a:p>
            <a:r>
              <a:t>        70,</a:t>
            </a:r>
          </a:p>
          <a:p>
            <a:r>
              <a:t>        90,</a:t>
            </a:r>
          </a:p>
          <a:p>
            <a:r>
              <a:t>        "#65cbf3"</a:t>
            </a:r>
          </a:p>
          <a:p>
            <a:r>
              <a:t>      ],</a:t>
            </a:r>
          </a:p>
          <a:p>
            <a:r>
              <a:t>      [</a:t>
            </a:r>
          </a:p>
          <a:p>
            <a:r>
              <a:t>        90,</a:t>
            </a:r>
          </a:p>
          <a:p>
            <a:r>
              <a:t>        101,</a:t>
            </a:r>
          </a:p>
          <a:p>
            <a:r>
              <a:t>        "#0053d6"</a:t>
            </a:r>
          </a:p>
          <a:p>
            <a:r>
              <a:t>      ]</a:t>
            </a:r>
          </a:p>
          <a:p>
            <a:r>
              <a:t>    ]</a:t>
            </a:r>
          </a:p>
          <a:p>
            <a:r>
              <a:t>  },</a:t>
            </a:r>
          </a:p>
          <a:p>
            <a:r>
              <a:t>  "groups": [</a:t>
            </a:r>
          </a:p>
          <a:p>
            <a:r>
              <a:t>    {</a:t>
            </a:r>
          </a:p>
          <a:p>
            <a:r>
              <a:t>      "id": 1,</a:t>
            </a:r>
          </a:p>
          <a:p>
            <a:r>
              <a:t>      "clusters": [</a:t>
            </a:r>
          </a:p>
          <a:p>
            <a:r>
              <a:t>        "C1.1",</a:t>
            </a:r>
          </a:p>
          <a:p>
            <a:r>
              <a:t>        "C1.2",</a:t>
            </a:r>
          </a:p>
          <a:p>
            <a:r>
              <a:t>        "C1.3"</a:t>
            </a:r>
          </a:p>
          <a:p>
            <a:r>
              <a:t>      ],</a:t>
            </a:r>
          </a:p>
          <a:p>
            <a:r>
              <a:t>      "model_count": 11,</a:t>
            </a:r>
          </a:p>
          <a:p>
            <a:r>
              <a:t>      "residue_count": 131,</a:t>
            </a:r>
          </a:p>
          <a:p>
            <a:r>
              <a:t>      "min_pair_tm": 0.90661,</a:t>
            </a:r>
          </a:p>
          <a:p>
            <a:r>
              <a:t>      "max_pair_tm": 0.97925,</a:t>
            </a:r>
          </a:p>
          <a:p>
            <a:r>
              <a:t>      "alignment_ca_keys": [</a:t>
            </a:r>
          </a:p>
          <a:p>
            <a:r>
              <a:t>        [</a:t>
            </a:r>
          </a:p>
          <a:p>
            <a:r>
              <a:t>          "A",</a:t>
            </a:r>
          </a:p>
          <a:p>
            <a:r>
              <a:t>          "1"</a:t>
            </a:r>
          </a:p>
          <a:p>
            <a:r>
              <a:t>        ],</a:t>
            </a:r>
          </a:p>
          <a:p>
            <a:r>
              <a:t>        [</a:t>
            </a:r>
          </a:p>
          <a:p>
            <a:r>
              <a:t>          "A",</a:t>
            </a:r>
          </a:p>
          <a:p>
            <a:r>
              <a:t>          "10"</a:t>
            </a:r>
          </a:p>
          <a:p>
            <a:r>
              <a:t>        ],</a:t>
            </a:r>
          </a:p>
          <a:p>
            <a:r>
              <a:t>        [</a:t>
            </a:r>
          </a:p>
          <a:p>
            <a:r>
              <a:t>          "A",</a:t>
            </a:r>
          </a:p>
          <a:p>
            <a:r>
              <a:t>          "100"</a:t>
            </a:r>
          </a:p>
          <a:p>
            <a:r>
              <a:t>        ],</a:t>
            </a:r>
          </a:p>
          <a:p>
            <a:r>
              <a:t>        [</a:t>
            </a:r>
          </a:p>
          <a:p>
            <a:r>
              <a:t>          "A",</a:t>
            </a:r>
          </a:p>
          <a:p>
            <a:r>
              <a:t>          "101"</a:t>
            </a:r>
          </a:p>
          <a:p>
            <a:r>
              <a:t>        ],</a:t>
            </a:r>
          </a:p>
          <a:p>
            <a:r>
              <a:t>        [</a:t>
            </a:r>
          </a:p>
          <a:p>
            <a:r>
              <a:t>          "A",</a:t>
            </a:r>
          </a:p>
          <a:p>
            <a:r>
              <a:t>          "102"</a:t>
            </a:r>
          </a:p>
          <a:p>
            <a:r>
              <a:t>        ],</a:t>
            </a:r>
          </a:p>
          <a:p>
            <a:r>
              <a:t>        [</a:t>
            </a:r>
          </a:p>
          <a:p>
            <a:r>
              <a:t>          "A",</a:t>
            </a:r>
          </a:p>
          <a:p>
            <a:r>
              <a:t>          "103"</a:t>
            </a:r>
          </a:p>
          <a:p>
            <a:r>
              <a:t>        ],</a:t>
            </a:r>
          </a:p>
          <a:p>
            <a:r>
              <a:t>        [</a:t>
            </a:r>
          </a:p>
          <a:p>
            <a:r>
              <a:t>          "A",</a:t>
            </a:r>
          </a:p>
          <a:p>
            <a:r>
              <a:t>          "104"</a:t>
            </a:r>
          </a:p>
          <a:p>
            <a:r>
              <a:t>        ],</a:t>
            </a:r>
          </a:p>
          <a:p>
            <a:r>
              <a:t>        [</a:t>
            </a:r>
          </a:p>
          <a:p>
            <a:r>
              <a:t>          "A",</a:t>
            </a:r>
          </a:p>
          <a:p>
            <a:r>
              <a:t>          "105"</a:t>
            </a:r>
          </a:p>
          <a:p>
            <a:r>
              <a:t>        ],</a:t>
            </a:r>
          </a:p>
          <a:p>
            <a:r>
              <a:t>        [</a:t>
            </a:r>
          </a:p>
          <a:p>
            <a:r>
              <a:t>          "A",</a:t>
            </a:r>
          </a:p>
          <a:p>
            <a:r>
              <a:t>          "106"</a:t>
            </a:r>
          </a:p>
          <a:p>
            <a:r>
              <a:t>        ],</a:t>
            </a:r>
          </a:p>
          <a:p>
            <a:r>
              <a:t>        [</a:t>
            </a:r>
          </a:p>
          <a:p>
            <a:r>
              <a:t>          "A",</a:t>
            </a:r>
          </a:p>
          <a:p>
            <a:r>
              <a:t>          "107"</a:t>
            </a:r>
          </a:p>
          <a:p>
            <a:r>
              <a:t>        ],</a:t>
            </a:r>
          </a:p>
          <a:p>
            <a:r>
              <a:t>        [</a:t>
            </a:r>
          </a:p>
          <a:p>
            <a:r>
              <a:t>          "A",</a:t>
            </a:r>
          </a:p>
          <a:p>
            <a:r>
              <a:t>          "108"</a:t>
            </a:r>
          </a:p>
          <a:p>
            <a:r>
              <a:t>        ],</a:t>
            </a:r>
          </a:p>
          <a:p>
            <a:r>
              <a:t>        [</a:t>
            </a:r>
          </a:p>
          <a:p>
            <a:r>
              <a:t>          "A",</a:t>
            </a:r>
          </a:p>
          <a:p>
            <a:r>
              <a:t>          "109"</a:t>
            </a:r>
          </a:p>
          <a:p>
            <a:r>
              <a:t>        ],</a:t>
            </a:r>
          </a:p>
          <a:p>
            <a:r>
              <a:t>        [</a:t>
            </a:r>
          </a:p>
          <a:p>
            <a:r>
              <a:t>          "A",</a:t>
            </a:r>
          </a:p>
          <a:p>
            <a:r>
              <a:t>          "11"</a:t>
            </a:r>
          </a:p>
          <a:p>
            <a:r>
              <a:t>        ],</a:t>
            </a:r>
          </a:p>
          <a:p>
            <a:r>
              <a:t>        [</a:t>
            </a:r>
          </a:p>
          <a:p>
            <a:r>
              <a:t>          "A",</a:t>
            </a:r>
          </a:p>
          <a:p>
            <a:r>
              <a:t>          "110"</a:t>
            </a:r>
          </a:p>
          <a:p>
            <a:r>
              <a:t>        ],</a:t>
            </a:r>
          </a:p>
          <a:p>
            <a:r>
              <a:t>        [</a:t>
            </a:r>
          </a:p>
          <a:p>
            <a:r>
              <a:t>          "A",</a:t>
            </a:r>
          </a:p>
          <a:p>
            <a:r>
              <a:t>          "111"</a:t>
            </a:r>
          </a:p>
          <a:p>
            <a:r>
              <a:t>        ],</a:t>
            </a:r>
          </a:p>
          <a:p>
            <a:r>
              <a:t>        [</a:t>
            </a:r>
          </a:p>
          <a:p>
            <a:r>
              <a:t>          "A",</a:t>
            </a:r>
          </a:p>
          <a:p>
            <a:r>
              <a:t>          "112"</a:t>
            </a:r>
          </a:p>
          <a:p>
            <a:r>
              <a:t>        ],</a:t>
            </a:r>
          </a:p>
          <a:p>
            <a:r>
              <a:t>        [</a:t>
            </a:r>
          </a:p>
          <a:p>
            <a:r>
              <a:t>          "A",</a:t>
            </a:r>
          </a:p>
          <a:p>
            <a:r>
              <a:t>          "113"</a:t>
            </a:r>
          </a:p>
          <a:p>
            <a:r>
              <a:t>        ],</a:t>
            </a:r>
          </a:p>
          <a:p>
            <a:r>
              <a:t>        [</a:t>
            </a:r>
          </a:p>
          <a:p>
            <a:r>
              <a:t>          "A",</a:t>
            </a:r>
          </a:p>
          <a:p>
            <a:r>
              <a:t>          "114"</a:t>
            </a:r>
          </a:p>
          <a:p>
            <a:r>
              <a:t>        ],</a:t>
            </a:r>
          </a:p>
          <a:p>
            <a:r>
              <a:t>        [</a:t>
            </a:r>
          </a:p>
          <a:p>
            <a:r>
              <a:t>          "A",</a:t>
            </a:r>
          </a:p>
          <a:p>
            <a:r>
              <a:t>          "115"</a:t>
            </a:r>
          </a:p>
          <a:p>
            <a:r>
              <a:t>        ],</a:t>
            </a:r>
          </a:p>
          <a:p>
            <a:r>
              <a:t>        [</a:t>
            </a:r>
          </a:p>
          <a:p>
            <a:r>
              <a:t>          "A",</a:t>
            </a:r>
          </a:p>
          <a:p>
            <a:r>
              <a:t>          "116"</a:t>
            </a:r>
          </a:p>
          <a:p>
            <a:r>
              <a:t>        ],</a:t>
            </a:r>
          </a:p>
          <a:p>
            <a:r>
              <a:t>        [</a:t>
            </a:r>
          </a:p>
          <a:p>
            <a:r>
              <a:t>          "A",</a:t>
            </a:r>
          </a:p>
          <a:p>
            <a:r>
              <a:t>          "117"</a:t>
            </a:r>
          </a:p>
          <a:p>
            <a:r>
              <a:t>        ],</a:t>
            </a:r>
          </a:p>
          <a:p>
            <a:r>
              <a:t>        [</a:t>
            </a:r>
          </a:p>
          <a:p>
            <a:r>
              <a:t>          "A",</a:t>
            </a:r>
          </a:p>
          <a:p>
            <a:r>
              <a:t>          "118"</a:t>
            </a:r>
          </a:p>
          <a:p>
            <a:r>
              <a:t>        ],</a:t>
            </a:r>
          </a:p>
          <a:p>
            <a:r>
              <a:t>        [</a:t>
            </a:r>
          </a:p>
          <a:p>
            <a:r>
              <a:t>          "A",</a:t>
            </a:r>
          </a:p>
          <a:p>
            <a:r>
              <a:t>          "119"</a:t>
            </a:r>
          </a:p>
          <a:p>
            <a:r>
              <a:t>        ],</a:t>
            </a:r>
          </a:p>
          <a:p>
            <a:r>
              <a:t>        [</a:t>
            </a:r>
          </a:p>
          <a:p>
            <a:r>
              <a:t>          "A",</a:t>
            </a:r>
          </a:p>
          <a:p>
            <a:r>
              <a:t>          "12"</a:t>
            </a:r>
          </a:p>
          <a:p>
            <a:r>
              <a:t>        ],</a:t>
            </a:r>
          </a:p>
          <a:p>
            <a:r>
              <a:t>        [</a:t>
            </a:r>
          </a:p>
          <a:p>
            <a:r>
              <a:t>          "A",</a:t>
            </a:r>
          </a:p>
          <a:p>
            <a:r>
              <a:t>          "120"</a:t>
            </a:r>
          </a:p>
          <a:p>
            <a:r>
              <a:t>        ],</a:t>
            </a:r>
          </a:p>
          <a:p>
            <a:r>
              <a:t>        [</a:t>
            </a:r>
          </a:p>
          <a:p>
            <a:r>
              <a:t>          "A",</a:t>
            </a:r>
          </a:p>
          <a:p>
            <a:r>
              <a:t>          "121"</a:t>
            </a:r>
          </a:p>
          <a:p>
            <a:r>
              <a:t>        ],</a:t>
            </a:r>
          </a:p>
          <a:p>
            <a:r>
              <a:t>        [</a:t>
            </a:r>
          </a:p>
          <a:p>
            <a:r>
              <a:t>          "A",</a:t>
            </a:r>
          </a:p>
          <a:p>
            <a:r>
              <a:t>          "122"</a:t>
            </a:r>
          </a:p>
          <a:p>
            <a:r>
              <a:t>        ],</a:t>
            </a:r>
          </a:p>
          <a:p>
            <a:r>
              <a:t>        [</a:t>
            </a:r>
          </a:p>
          <a:p>
            <a:r>
              <a:t>          "A",</a:t>
            </a:r>
          </a:p>
          <a:p>
            <a:r>
              <a:t>          "123"</a:t>
            </a:r>
          </a:p>
          <a:p>
            <a:r>
              <a:t>        ],</a:t>
            </a:r>
          </a:p>
          <a:p>
            <a:r>
              <a:t>        [</a:t>
            </a:r>
          </a:p>
          <a:p>
            <a:r>
              <a:t>          "A",</a:t>
            </a:r>
          </a:p>
          <a:p>
            <a:r>
              <a:t>          "124"</a:t>
            </a:r>
          </a:p>
          <a:p>
            <a:r>
              <a:t>        ],</a:t>
            </a:r>
          </a:p>
          <a:p>
            <a:r>
              <a:t>        [</a:t>
            </a:r>
          </a:p>
          <a:p>
            <a:r>
              <a:t>          "A",</a:t>
            </a:r>
          </a:p>
          <a:p>
            <a:r>
              <a:t>          "125"</a:t>
            </a:r>
          </a:p>
          <a:p>
            <a:r>
              <a:t>        ],</a:t>
            </a:r>
          </a:p>
          <a:p>
            <a:r>
              <a:t>        [</a:t>
            </a:r>
          </a:p>
          <a:p>
            <a:r>
              <a:t>          "A",</a:t>
            </a:r>
          </a:p>
          <a:p>
            <a:r>
              <a:t>          "126"</a:t>
            </a:r>
          </a:p>
          <a:p>
            <a:r>
              <a:t>        ],</a:t>
            </a:r>
          </a:p>
          <a:p>
            <a:r>
              <a:t>        [</a:t>
            </a:r>
          </a:p>
          <a:p>
            <a:r>
              <a:t>          "A",</a:t>
            </a:r>
          </a:p>
          <a:p>
            <a:r>
              <a:t>          "127"</a:t>
            </a:r>
          </a:p>
          <a:p>
            <a:r>
              <a:t>        ],</a:t>
            </a:r>
          </a:p>
          <a:p>
            <a:r>
              <a:t>        [</a:t>
            </a:r>
          </a:p>
          <a:p>
            <a:r>
              <a:t>          "A",</a:t>
            </a:r>
          </a:p>
          <a:p>
            <a:r>
              <a:t>          "128"</a:t>
            </a:r>
          </a:p>
          <a:p>
            <a:r>
              <a:t>        ],</a:t>
            </a:r>
          </a:p>
          <a:p>
            <a:r>
              <a:t>        [</a:t>
            </a:r>
          </a:p>
          <a:p>
            <a:r>
              <a:t>          "A",</a:t>
            </a:r>
          </a:p>
          <a:p>
            <a:r>
              <a:t>          "129"</a:t>
            </a:r>
          </a:p>
          <a:p>
            <a:r>
              <a:t>        ],</a:t>
            </a:r>
          </a:p>
          <a:p>
            <a:r>
              <a:t>        [</a:t>
            </a:r>
          </a:p>
          <a:p>
            <a:r>
              <a:t>          "A",</a:t>
            </a:r>
          </a:p>
          <a:p>
            <a:r>
              <a:t>          "13"</a:t>
            </a:r>
          </a:p>
          <a:p>
            <a:r>
              <a:t>        ],</a:t>
            </a:r>
          </a:p>
          <a:p>
            <a:r>
              <a:t>        [</a:t>
            </a:r>
          </a:p>
          <a:p>
            <a:r>
              <a:t>          "A",</a:t>
            </a:r>
          </a:p>
          <a:p>
            <a:r>
              <a:t>          "130"</a:t>
            </a:r>
          </a:p>
          <a:p>
            <a:r>
              <a:t>        ],</a:t>
            </a:r>
          </a:p>
          <a:p>
            <a:r>
              <a:t>        [</a:t>
            </a:r>
          </a:p>
          <a:p>
            <a:r>
              <a:t>          "A",</a:t>
            </a:r>
          </a:p>
          <a:p>
            <a:r>
              <a:t>          "131"</a:t>
            </a:r>
          </a:p>
          <a:p>
            <a:r>
              <a:t>        ],</a:t>
            </a:r>
          </a:p>
          <a:p>
            <a:r>
              <a:t>        [</a:t>
            </a:r>
          </a:p>
          <a:p>
            <a:r>
              <a:t>          "A",</a:t>
            </a:r>
          </a:p>
          <a:p>
            <a:r>
              <a:t>          "14"</a:t>
            </a:r>
          </a:p>
          <a:p>
            <a:r>
              <a:t>        ],</a:t>
            </a:r>
          </a:p>
          <a:p>
            <a:r>
              <a:t>        [</a:t>
            </a:r>
          </a:p>
          <a:p>
            <a:r>
              <a:t>          "A",</a:t>
            </a:r>
          </a:p>
          <a:p>
            <a:r>
              <a:t>          "15"</a:t>
            </a:r>
          </a:p>
          <a:p>
            <a:r>
              <a:t>        ],</a:t>
            </a:r>
          </a:p>
          <a:p>
            <a:r>
              <a:t>        [</a:t>
            </a:r>
          </a:p>
          <a:p>
            <a:r>
              <a:t>          "A",</a:t>
            </a:r>
          </a:p>
          <a:p>
            <a:r>
              <a:t>          "16"</a:t>
            </a:r>
          </a:p>
          <a:p>
            <a:r>
              <a:t>        ],</a:t>
            </a:r>
          </a:p>
          <a:p>
            <a:r>
              <a:t>        [</a:t>
            </a:r>
          </a:p>
          <a:p>
            <a:r>
              <a:t>          "A",</a:t>
            </a:r>
          </a:p>
          <a:p>
            <a:r>
              <a:t>          "17"</a:t>
            </a:r>
          </a:p>
          <a:p>
            <a:r>
              <a:t>        ],</a:t>
            </a:r>
          </a:p>
          <a:p>
            <a:r>
              <a:t>        [</a:t>
            </a:r>
          </a:p>
          <a:p>
            <a:r>
              <a:t>          "A",</a:t>
            </a:r>
          </a:p>
          <a:p>
            <a:r>
              <a:t>          "18"</a:t>
            </a:r>
          </a:p>
          <a:p>
            <a:r>
              <a:t>        ],</a:t>
            </a:r>
          </a:p>
          <a:p>
            <a:r>
              <a:t>        [</a:t>
            </a:r>
          </a:p>
          <a:p>
            <a:r>
              <a:t>          "A",</a:t>
            </a:r>
          </a:p>
          <a:p>
            <a:r>
              <a:t>          "19"</a:t>
            </a:r>
          </a:p>
          <a:p>
            <a:r>
              <a:t>        ],</a:t>
            </a:r>
          </a:p>
          <a:p>
            <a:r>
              <a:t>        [</a:t>
            </a:r>
          </a:p>
          <a:p>
            <a:r>
              <a:t>          "A",</a:t>
            </a:r>
          </a:p>
          <a:p>
            <a:r>
              <a:t>          "2"</a:t>
            </a:r>
          </a:p>
          <a:p>
            <a:r>
              <a:t>        ],</a:t>
            </a:r>
          </a:p>
          <a:p>
            <a:r>
              <a:t>        [</a:t>
            </a:r>
          </a:p>
          <a:p>
            <a:r>
              <a:t>          "A",</a:t>
            </a:r>
          </a:p>
          <a:p>
            <a:r>
              <a:t>          "20"</a:t>
            </a:r>
          </a:p>
          <a:p>
            <a:r>
              <a:t>        ],</a:t>
            </a:r>
          </a:p>
          <a:p>
            <a:r>
              <a:t>        [</a:t>
            </a:r>
          </a:p>
          <a:p>
            <a:r>
              <a:t>          "A",</a:t>
            </a:r>
          </a:p>
          <a:p>
            <a:r>
              <a:t>          "21"</a:t>
            </a:r>
          </a:p>
          <a:p>
            <a:r>
              <a:t>        ],</a:t>
            </a:r>
          </a:p>
          <a:p>
            <a:r>
              <a:t>        [</a:t>
            </a:r>
          </a:p>
          <a:p>
            <a:r>
              <a:t>          "A",</a:t>
            </a:r>
          </a:p>
          <a:p>
            <a:r>
              <a:t>          "22"</a:t>
            </a:r>
          </a:p>
          <a:p>
            <a:r>
              <a:t>        ],</a:t>
            </a:r>
          </a:p>
          <a:p>
            <a:r>
              <a:t>        [</a:t>
            </a:r>
          </a:p>
          <a:p>
            <a:r>
              <a:t>          "A",</a:t>
            </a:r>
          </a:p>
          <a:p>
            <a:r>
              <a:t>          "23"</a:t>
            </a:r>
          </a:p>
          <a:p>
            <a:r>
              <a:t>        ],</a:t>
            </a:r>
          </a:p>
          <a:p>
            <a:r>
              <a:t>        [</a:t>
            </a:r>
          </a:p>
          <a:p>
            <a:r>
              <a:t>          "A",</a:t>
            </a:r>
          </a:p>
          <a:p>
            <a:r>
              <a:t>          "24"</a:t>
            </a:r>
          </a:p>
          <a:p>
            <a:r>
              <a:t>        ],</a:t>
            </a:r>
          </a:p>
          <a:p>
            <a:r>
              <a:t>        [</a:t>
            </a:r>
          </a:p>
          <a:p>
            <a:r>
              <a:t>          "A",</a:t>
            </a:r>
          </a:p>
          <a:p>
            <a:r>
              <a:t>          "25"</a:t>
            </a:r>
          </a:p>
          <a:p>
            <a:r>
              <a:t>        ],</a:t>
            </a:r>
          </a:p>
          <a:p>
            <a:r>
              <a:t>        [</a:t>
            </a:r>
          </a:p>
          <a:p>
            <a:r>
              <a:t>          "A",</a:t>
            </a:r>
          </a:p>
          <a:p>
            <a:r>
              <a:t>          "26"</a:t>
            </a:r>
          </a:p>
          <a:p>
            <a:r>
              <a:t>        ],</a:t>
            </a:r>
          </a:p>
          <a:p>
            <a:r>
              <a:t>        [</a:t>
            </a:r>
          </a:p>
          <a:p>
            <a:r>
              <a:t>          "A",</a:t>
            </a:r>
          </a:p>
          <a:p>
            <a:r>
              <a:t>          "27"</a:t>
            </a:r>
          </a:p>
          <a:p>
            <a:r>
              <a:t>        ],</a:t>
            </a:r>
          </a:p>
          <a:p>
            <a:r>
              <a:t>        [</a:t>
            </a:r>
          </a:p>
          <a:p>
            <a:r>
              <a:t>          "A",</a:t>
            </a:r>
          </a:p>
          <a:p>
            <a:r>
              <a:t>          "28"</a:t>
            </a:r>
          </a:p>
          <a:p>
            <a:r>
              <a:t>        ],</a:t>
            </a:r>
          </a:p>
          <a:p>
            <a:r>
              <a:t>        [</a:t>
            </a:r>
          </a:p>
          <a:p>
            <a:r>
              <a:t>          "A",</a:t>
            </a:r>
          </a:p>
          <a:p>
            <a:r>
              <a:t>          "29"</a:t>
            </a:r>
          </a:p>
          <a:p>
            <a:r>
              <a:t>        ],</a:t>
            </a:r>
          </a:p>
          <a:p>
            <a:r>
              <a:t>        [</a:t>
            </a:r>
          </a:p>
          <a:p>
            <a:r>
              <a:t>          "A",</a:t>
            </a:r>
          </a:p>
          <a:p>
            <a:r>
              <a:t>          "3"</a:t>
            </a:r>
          </a:p>
          <a:p>
            <a:r>
              <a:t>        ],</a:t>
            </a:r>
          </a:p>
          <a:p>
            <a:r>
              <a:t>        [</a:t>
            </a:r>
          </a:p>
          <a:p>
            <a:r>
              <a:t>          "A",</a:t>
            </a:r>
          </a:p>
          <a:p>
            <a:r>
              <a:t>          "30"</a:t>
            </a:r>
          </a:p>
          <a:p>
            <a:r>
              <a:t>        ],</a:t>
            </a:r>
          </a:p>
          <a:p>
            <a:r>
              <a:t>        [</a:t>
            </a:r>
          </a:p>
          <a:p>
            <a:r>
              <a:t>          "A",</a:t>
            </a:r>
          </a:p>
          <a:p>
            <a:r>
              <a:t>          "31"</a:t>
            </a:r>
          </a:p>
          <a:p>
            <a:r>
              <a:t>        ],</a:t>
            </a:r>
          </a:p>
          <a:p>
            <a:r>
              <a:t>        [</a:t>
            </a:r>
          </a:p>
          <a:p>
            <a:r>
              <a:t>          "A",</a:t>
            </a:r>
          </a:p>
          <a:p>
            <a:r>
              <a:t>          "32"</a:t>
            </a:r>
          </a:p>
          <a:p>
            <a:r>
              <a:t>        ],</a:t>
            </a:r>
          </a:p>
          <a:p>
            <a:r>
              <a:t>        [</a:t>
            </a:r>
          </a:p>
          <a:p>
            <a:r>
              <a:t>          "A",</a:t>
            </a:r>
          </a:p>
          <a:p>
            <a:r>
              <a:t>          "33"</a:t>
            </a:r>
          </a:p>
          <a:p>
            <a:r>
              <a:t>        ],</a:t>
            </a:r>
          </a:p>
          <a:p>
            <a:r>
              <a:t>        [</a:t>
            </a:r>
          </a:p>
          <a:p>
            <a:r>
              <a:t>          "A",</a:t>
            </a:r>
          </a:p>
          <a:p>
            <a:r>
              <a:t>          "34"</a:t>
            </a:r>
          </a:p>
          <a:p>
            <a:r>
              <a:t>        ],</a:t>
            </a:r>
          </a:p>
          <a:p>
            <a:r>
              <a:t>        [</a:t>
            </a:r>
          </a:p>
          <a:p>
            <a:r>
              <a:t>          "A",</a:t>
            </a:r>
          </a:p>
          <a:p>
            <a:r>
              <a:t>          "35"</a:t>
            </a:r>
          </a:p>
          <a:p>
            <a:r>
              <a:t>        ],</a:t>
            </a:r>
          </a:p>
          <a:p>
            <a:r>
              <a:t>        [</a:t>
            </a:r>
          </a:p>
          <a:p>
            <a:r>
              <a:t>          "A",</a:t>
            </a:r>
          </a:p>
          <a:p>
            <a:r>
              <a:t>          "36"</a:t>
            </a:r>
          </a:p>
          <a:p>
            <a:r>
              <a:t>        ],</a:t>
            </a:r>
          </a:p>
          <a:p>
            <a:r>
              <a:t>        [</a:t>
            </a:r>
          </a:p>
          <a:p>
            <a:r>
              <a:t>          "A",</a:t>
            </a:r>
          </a:p>
          <a:p>
            <a:r>
              <a:t>          "37"</a:t>
            </a:r>
          </a:p>
          <a:p>
            <a:r>
              <a:t>        ],</a:t>
            </a:r>
          </a:p>
          <a:p>
            <a:r>
              <a:t>        [</a:t>
            </a:r>
          </a:p>
          <a:p>
            <a:r>
              <a:t>          "A",</a:t>
            </a:r>
          </a:p>
          <a:p>
            <a:r>
              <a:t>          "38"</a:t>
            </a:r>
          </a:p>
          <a:p>
            <a:r>
              <a:t>        ],</a:t>
            </a:r>
          </a:p>
          <a:p>
            <a:r>
              <a:t>        [</a:t>
            </a:r>
          </a:p>
          <a:p>
            <a:r>
              <a:t>          "A",</a:t>
            </a:r>
          </a:p>
          <a:p>
            <a:r>
              <a:t>          "39"</a:t>
            </a:r>
          </a:p>
          <a:p>
            <a:r>
              <a:t>        ],</a:t>
            </a:r>
          </a:p>
          <a:p>
            <a:r>
              <a:t>        [</a:t>
            </a:r>
          </a:p>
          <a:p>
            <a:r>
              <a:t>          "A",</a:t>
            </a:r>
          </a:p>
          <a:p>
            <a:r>
              <a:t>          "4"</a:t>
            </a:r>
          </a:p>
          <a:p>
            <a:r>
              <a:t>        ],</a:t>
            </a:r>
          </a:p>
          <a:p>
            <a:r>
              <a:t>        [</a:t>
            </a:r>
          </a:p>
          <a:p>
            <a:r>
              <a:t>          "A",</a:t>
            </a:r>
          </a:p>
          <a:p>
            <a:r>
              <a:t>          "40"</a:t>
            </a:r>
          </a:p>
          <a:p>
            <a:r>
              <a:t>        ],</a:t>
            </a:r>
          </a:p>
          <a:p>
            <a:r>
              <a:t>        [</a:t>
            </a:r>
          </a:p>
          <a:p>
            <a:r>
              <a:t>          "A",</a:t>
            </a:r>
          </a:p>
          <a:p>
            <a:r>
              <a:t>          "41"</a:t>
            </a:r>
          </a:p>
          <a:p>
            <a:r>
              <a:t>        ],</a:t>
            </a:r>
          </a:p>
          <a:p>
            <a:r>
              <a:t>        [</a:t>
            </a:r>
          </a:p>
          <a:p>
            <a:r>
              <a:t>          "A",</a:t>
            </a:r>
          </a:p>
          <a:p>
            <a:r>
              <a:t>          "42"</a:t>
            </a:r>
          </a:p>
          <a:p>
            <a:r>
              <a:t>        ],</a:t>
            </a:r>
          </a:p>
          <a:p>
            <a:r>
              <a:t>        [</a:t>
            </a:r>
          </a:p>
          <a:p>
            <a:r>
              <a:t>          "A",</a:t>
            </a:r>
          </a:p>
          <a:p>
            <a:r>
              <a:t>          "43"</a:t>
            </a:r>
          </a:p>
          <a:p>
            <a:r>
              <a:t>        ],</a:t>
            </a:r>
          </a:p>
          <a:p>
            <a:r>
              <a:t>        [</a:t>
            </a:r>
          </a:p>
          <a:p>
            <a:r>
              <a:t>          "A",</a:t>
            </a:r>
          </a:p>
          <a:p>
            <a:r>
              <a:t>          "44"</a:t>
            </a:r>
          </a:p>
          <a:p>
            <a:r>
              <a:t>        ],</a:t>
            </a:r>
          </a:p>
          <a:p>
            <a:r>
              <a:t>        [</a:t>
            </a:r>
          </a:p>
          <a:p>
            <a:r>
              <a:t>          "A",</a:t>
            </a:r>
          </a:p>
          <a:p>
            <a:r>
              <a:t>          "45"</a:t>
            </a:r>
          </a:p>
          <a:p>
            <a:r>
              <a:t>        ],</a:t>
            </a:r>
          </a:p>
          <a:p>
            <a:r>
              <a:t>        [</a:t>
            </a:r>
          </a:p>
          <a:p>
            <a:r>
              <a:t>          "A",</a:t>
            </a:r>
          </a:p>
          <a:p>
            <a:r>
              <a:t>          "46"</a:t>
            </a:r>
          </a:p>
          <a:p>
            <a:r>
              <a:t>        ],</a:t>
            </a:r>
          </a:p>
          <a:p>
            <a:r>
              <a:t>        [</a:t>
            </a:r>
          </a:p>
          <a:p>
            <a:r>
              <a:t>          "A",</a:t>
            </a:r>
          </a:p>
          <a:p>
            <a:r>
              <a:t>          "47"</a:t>
            </a:r>
          </a:p>
          <a:p>
            <a:r>
              <a:t>        ],</a:t>
            </a:r>
          </a:p>
          <a:p>
            <a:r>
              <a:t>        [</a:t>
            </a:r>
          </a:p>
          <a:p>
            <a:r>
              <a:t>          "A",</a:t>
            </a:r>
          </a:p>
          <a:p>
            <a:r>
              <a:t>          "48"</a:t>
            </a:r>
          </a:p>
          <a:p>
            <a:r>
              <a:t>        ],</a:t>
            </a:r>
          </a:p>
          <a:p>
            <a:r>
              <a:t>        [</a:t>
            </a:r>
          </a:p>
          <a:p>
            <a:r>
              <a:t>          "A",</a:t>
            </a:r>
          </a:p>
          <a:p>
            <a:r>
              <a:t>          "49"</a:t>
            </a:r>
          </a:p>
          <a:p>
            <a:r>
              <a:t>        ],</a:t>
            </a:r>
          </a:p>
          <a:p>
            <a:r>
              <a:t>        [</a:t>
            </a:r>
          </a:p>
          <a:p>
            <a:r>
              <a:t>          "A",</a:t>
            </a:r>
          </a:p>
          <a:p>
            <a:r>
              <a:t>          "5"</a:t>
            </a:r>
          </a:p>
          <a:p>
            <a:r>
              <a:t>        ],</a:t>
            </a:r>
          </a:p>
          <a:p>
            <a:r>
              <a:t>        [</a:t>
            </a:r>
          </a:p>
          <a:p>
            <a:r>
              <a:t>          "A",</a:t>
            </a:r>
          </a:p>
          <a:p>
            <a:r>
              <a:t>          "50"</a:t>
            </a:r>
          </a:p>
          <a:p>
            <a:r>
              <a:t>        ],</a:t>
            </a:r>
          </a:p>
          <a:p>
            <a:r>
              <a:t>        [</a:t>
            </a:r>
          </a:p>
          <a:p>
            <a:r>
              <a:t>          "A",</a:t>
            </a:r>
          </a:p>
          <a:p>
            <a:r>
              <a:t>          "51"</a:t>
            </a:r>
          </a:p>
          <a:p>
            <a:r>
              <a:t>        ],</a:t>
            </a:r>
          </a:p>
          <a:p>
            <a:r>
              <a:t>        [</a:t>
            </a:r>
          </a:p>
          <a:p>
            <a:r>
              <a:t>          "A",</a:t>
            </a:r>
          </a:p>
          <a:p>
            <a:r>
              <a:t>          "52"</a:t>
            </a:r>
          </a:p>
          <a:p>
            <a:r>
              <a:t>        ],</a:t>
            </a:r>
          </a:p>
          <a:p>
            <a:r>
              <a:t>        [</a:t>
            </a:r>
          </a:p>
          <a:p>
            <a:r>
              <a:t>          "A",</a:t>
            </a:r>
          </a:p>
          <a:p>
            <a:r>
              <a:t>          "53"</a:t>
            </a:r>
          </a:p>
          <a:p>
            <a:r>
              <a:t>        ],</a:t>
            </a:r>
          </a:p>
          <a:p>
            <a:r>
              <a:t>        [</a:t>
            </a:r>
          </a:p>
          <a:p>
            <a:r>
              <a:t>          "A",</a:t>
            </a:r>
          </a:p>
          <a:p>
            <a:r>
              <a:t>          "54"</a:t>
            </a:r>
          </a:p>
          <a:p>
            <a:r>
              <a:t>        ],</a:t>
            </a:r>
          </a:p>
          <a:p>
            <a:r>
              <a:t>        [</a:t>
            </a:r>
          </a:p>
          <a:p>
            <a:r>
              <a:t>          "A",</a:t>
            </a:r>
          </a:p>
          <a:p>
            <a:r>
              <a:t>          "55"</a:t>
            </a:r>
          </a:p>
          <a:p>
            <a:r>
              <a:t>        ],</a:t>
            </a:r>
          </a:p>
          <a:p>
            <a:r>
              <a:t>        [</a:t>
            </a:r>
          </a:p>
          <a:p>
            <a:r>
              <a:t>          "A",</a:t>
            </a:r>
          </a:p>
          <a:p>
            <a:r>
              <a:t>          "56"</a:t>
            </a:r>
          </a:p>
          <a:p>
            <a:r>
              <a:t>        ],</a:t>
            </a:r>
          </a:p>
          <a:p>
            <a:r>
              <a:t>        [</a:t>
            </a:r>
          </a:p>
          <a:p>
            <a:r>
              <a:t>          "A",</a:t>
            </a:r>
          </a:p>
          <a:p>
            <a:r>
              <a:t>          "57"</a:t>
            </a:r>
          </a:p>
          <a:p>
            <a:r>
              <a:t>        ],</a:t>
            </a:r>
          </a:p>
          <a:p>
            <a:r>
              <a:t>        [</a:t>
            </a:r>
          </a:p>
          <a:p>
            <a:r>
              <a:t>          "A",</a:t>
            </a:r>
          </a:p>
          <a:p>
            <a:r>
              <a:t>          "58"</a:t>
            </a:r>
          </a:p>
          <a:p>
            <a:r>
              <a:t>        ],</a:t>
            </a:r>
          </a:p>
          <a:p>
            <a:r>
              <a:t>        [</a:t>
            </a:r>
          </a:p>
          <a:p>
            <a:r>
              <a:t>          "A",</a:t>
            </a:r>
          </a:p>
          <a:p>
            <a:r>
              <a:t>          "59"</a:t>
            </a:r>
          </a:p>
          <a:p>
            <a:r>
              <a:t>        ],</a:t>
            </a:r>
          </a:p>
          <a:p>
            <a:r>
              <a:t>        [</a:t>
            </a:r>
          </a:p>
          <a:p>
            <a:r>
              <a:t>          "A",</a:t>
            </a:r>
          </a:p>
          <a:p>
            <a:r>
              <a:t>          "6"</a:t>
            </a:r>
          </a:p>
          <a:p>
            <a:r>
              <a:t>        ],</a:t>
            </a:r>
          </a:p>
          <a:p>
            <a:r>
              <a:t>        [</a:t>
            </a:r>
          </a:p>
          <a:p>
            <a:r>
              <a:t>          "A",</a:t>
            </a:r>
          </a:p>
          <a:p>
            <a:r>
              <a:t>          "60"</a:t>
            </a:r>
          </a:p>
          <a:p>
            <a:r>
              <a:t>        ],</a:t>
            </a:r>
          </a:p>
          <a:p>
            <a:r>
              <a:t>        [</a:t>
            </a:r>
          </a:p>
          <a:p>
            <a:r>
              <a:t>          "A",</a:t>
            </a:r>
          </a:p>
          <a:p>
            <a:r>
              <a:t>          "61"</a:t>
            </a:r>
          </a:p>
          <a:p>
            <a:r>
              <a:t>        ],</a:t>
            </a:r>
          </a:p>
          <a:p>
            <a:r>
              <a:t>        [</a:t>
            </a:r>
          </a:p>
          <a:p>
            <a:r>
              <a:t>          "A",</a:t>
            </a:r>
          </a:p>
          <a:p>
            <a:r>
              <a:t>          "62"</a:t>
            </a:r>
          </a:p>
          <a:p>
            <a:r>
              <a:t>        ],</a:t>
            </a:r>
          </a:p>
          <a:p>
            <a:r>
              <a:t>        [</a:t>
            </a:r>
          </a:p>
          <a:p>
            <a:r>
              <a:t>          "A",</a:t>
            </a:r>
          </a:p>
          <a:p>
            <a:r>
              <a:t>          "63"</a:t>
            </a:r>
          </a:p>
          <a:p>
            <a:r>
              <a:t>        ],</a:t>
            </a:r>
          </a:p>
          <a:p>
            <a:r>
              <a:t>        [</a:t>
            </a:r>
          </a:p>
          <a:p>
            <a:r>
              <a:t>          "A",</a:t>
            </a:r>
          </a:p>
          <a:p>
            <a:r>
              <a:t>          "64"</a:t>
            </a:r>
          </a:p>
          <a:p>
            <a:r>
              <a:t>        ],</a:t>
            </a:r>
          </a:p>
          <a:p>
            <a:r>
              <a:t>        [</a:t>
            </a:r>
          </a:p>
          <a:p>
            <a:r>
              <a:t>          "A",</a:t>
            </a:r>
          </a:p>
          <a:p>
            <a:r>
              <a:t>          "65"</a:t>
            </a:r>
          </a:p>
          <a:p>
            <a:r>
              <a:t>        ],</a:t>
            </a:r>
          </a:p>
          <a:p>
            <a:r>
              <a:t>        [</a:t>
            </a:r>
          </a:p>
          <a:p>
            <a:r>
              <a:t>          "A",</a:t>
            </a:r>
          </a:p>
          <a:p>
            <a:r>
              <a:t>          "66"</a:t>
            </a:r>
          </a:p>
          <a:p>
            <a:r>
              <a:t>        ],</a:t>
            </a:r>
          </a:p>
          <a:p>
            <a:r>
              <a:t>        [</a:t>
            </a:r>
          </a:p>
          <a:p>
            <a:r>
              <a:t>          "A",</a:t>
            </a:r>
          </a:p>
          <a:p>
            <a:r>
              <a:t>          "67"</a:t>
            </a:r>
          </a:p>
          <a:p>
            <a:r>
              <a:t>        ],</a:t>
            </a:r>
          </a:p>
          <a:p>
            <a:r>
              <a:t>        [</a:t>
            </a:r>
          </a:p>
          <a:p>
            <a:r>
              <a:t>          "A",</a:t>
            </a:r>
          </a:p>
          <a:p>
            <a:r>
              <a:t>          "68"</a:t>
            </a:r>
          </a:p>
          <a:p>
            <a:r>
              <a:t>        ],</a:t>
            </a:r>
          </a:p>
          <a:p>
            <a:r>
              <a:t>        [</a:t>
            </a:r>
          </a:p>
          <a:p>
            <a:r>
              <a:t>          "A",</a:t>
            </a:r>
          </a:p>
          <a:p>
            <a:r>
              <a:t>          "69"</a:t>
            </a:r>
          </a:p>
          <a:p>
            <a:r>
              <a:t>        ],</a:t>
            </a:r>
          </a:p>
          <a:p>
            <a:r>
              <a:t>        [</a:t>
            </a:r>
          </a:p>
          <a:p>
            <a:r>
              <a:t>          "A",</a:t>
            </a:r>
          </a:p>
          <a:p>
            <a:r>
              <a:t>          "7"</a:t>
            </a:r>
          </a:p>
          <a:p>
            <a:r>
              <a:t>        ],</a:t>
            </a:r>
          </a:p>
          <a:p>
            <a:r>
              <a:t>        [</a:t>
            </a:r>
          </a:p>
          <a:p>
            <a:r>
              <a:t>          "A",</a:t>
            </a:r>
          </a:p>
          <a:p>
            <a:r>
              <a:t>          "70"</a:t>
            </a:r>
          </a:p>
          <a:p>
            <a:r>
              <a:t>        ],</a:t>
            </a:r>
          </a:p>
          <a:p>
            <a:r>
              <a:t>        [</a:t>
            </a:r>
          </a:p>
          <a:p>
            <a:r>
              <a:t>          "A",</a:t>
            </a:r>
          </a:p>
          <a:p>
            <a:r>
              <a:t>          "71"</a:t>
            </a:r>
          </a:p>
          <a:p>
            <a:r>
              <a:t>        ],</a:t>
            </a:r>
          </a:p>
          <a:p>
            <a:r>
              <a:t>        [</a:t>
            </a:r>
          </a:p>
          <a:p>
            <a:r>
              <a:t>          "A",</a:t>
            </a:r>
          </a:p>
          <a:p>
            <a:r>
              <a:t>          "72"</a:t>
            </a:r>
          </a:p>
          <a:p>
            <a:r>
              <a:t>        ],</a:t>
            </a:r>
          </a:p>
          <a:p>
            <a:r>
              <a:t>        [</a:t>
            </a:r>
          </a:p>
          <a:p>
            <a:r>
              <a:t>          "A",</a:t>
            </a:r>
          </a:p>
          <a:p>
            <a:r>
              <a:t>          "73"</a:t>
            </a:r>
          </a:p>
          <a:p>
            <a:r>
              <a:t>        ],</a:t>
            </a:r>
          </a:p>
          <a:p>
            <a:r>
              <a:t>        [</a:t>
            </a:r>
          </a:p>
          <a:p>
            <a:r>
              <a:t>          "A",</a:t>
            </a:r>
          </a:p>
          <a:p>
            <a:r>
              <a:t>          "74"</a:t>
            </a:r>
          </a:p>
          <a:p>
            <a:r>
              <a:t>        ],</a:t>
            </a:r>
          </a:p>
          <a:p>
            <a:r>
              <a:t>        [</a:t>
            </a:r>
          </a:p>
          <a:p>
            <a:r>
              <a:t>          "A",</a:t>
            </a:r>
          </a:p>
          <a:p>
            <a:r>
              <a:t>          "75"</a:t>
            </a:r>
          </a:p>
          <a:p>
            <a:r>
              <a:t>        ],</a:t>
            </a:r>
          </a:p>
          <a:p>
            <a:r>
              <a:t>        [</a:t>
            </a:r>
          </a:p>
          <a:p>
            <a:r>
              <a:t>          "A",</a:t>
            </a:r>
          </a:p>
          <a:p>
            <a:r>
              <a:t>          "76"</a:t>
            </a:r>
          </a:p>
          <a:p>
            <a:r>
              <a:t>        ],</a:t>
            </a:r>
          </a:p>
          <a:p>
            <a:r>
              <a:t>        [</a:t>
            </a:r>
          </a:p>
          <a:p>
            <a:r>
              <a:t>          "A",</a:t>
            </a:r>
          </a:p>
          <a:p>
            <a:r>
              <a:t>          "77"</a:t>
            </a:r>
          </a:p>
          <a:p>
            <a:r>
              <a:t>        ],</a:t>
            </a:r>
          </a:p>
          <a:p>
            <a:r>
              <a:t>        [</a:t>
            </a:r>
          </a:p>
          <a:p>
            <a:r>
              <a:t>          "A",</a:t>
            </a:r>
          </a:p>
          <a:p>
            <a:r>
              <a:t>          "78"</a:t>
            </a:r>
          </a:p>
          <a:p>
            <a:r>
              <a:t>        ],</a:t>
            </a:r>
          </a:p>
          <a:p>
            <a:r>
              <a:t>        [</a:t>
            </a:r>
          </a:p>
          <a:p>
            <a:r>
              <a:t>          "A",</a:t>
            </a:r>
          </a:p>
          <a:p>
            <a:r>
              <a:t>          "79"</a:t>
            </a:r>
          </a:p>
          <a:p>
            <a:r>
              <a:t>        ],</a:t>
            </a:r>
          </a:p>
          <a:p>
            <a:r>
              <a:t>        [</a:t>
            </a:r>
          </a:p>
          <a:p>
            <a:r>
              <a:t>          "A",</a:t>
            </a:r>
          </a:p>
          <a:p>
            <a:r>
              <a:t>          "8"</a:t>
            </a:r>
          </a:p>
          <a:p>
            <a:r>
              <a:t>        ],</a:t>
            </a:r>
          </a:p>
          <a:p>
            <a:r>
              <a:t>        [</a:t>
            </a:r>
          </a:p>
          <a:p>
            <a:r>
              <a:t>          "A",</a:t>
            </a:r>
          </a:p>
          <a:p>
            <a:r>
              <a:t>          "80"</a:t>
            </a:r>
          </a:p>
          <a:p>
            <a:r>
              <a:t>        ],</a:t>
            </a:r>
          </a:p>
          <a:p>
            <a:r>
              <a:t>        [</a:t>
            </a:r>
          </a:p>
          <a:p>
            <a:r>
              <a:t>          "A",</a:t>
            </a:r>
          </a:p>
          <a:p>
            <a:r>
              <a:t>          "81"</a:t>
            </a:r>
          </a:p>
          <a:p>
            <a:r>
              <a:t>        ],</a:t>
            </a:r>
          </a:p>
          <a:p>
            <a:r>
              <a:t>        [</a:t>
            </a:r>
          </a:p>
          <a:p>
            <a:r>
              <a:t>          "A",</a:t>
            </a:r>
          </a:p>
          <a:p>
            <a:r>
              <a:t>          "82"</a:t>
            </a:r>
          </a:p>
          <a:p>
            <a:r>
              <a:t>        ],</a:t>
            </a:r>
          </a:p>
          <a:p>
            <a:r>
              <a:t>        [</a:t>
            </a:r>
          </a:p>
          <a:p>
            <a:r>
              <a:t>          "A",</a:t>
            </a:r>
          </a:p>
          <a:p>
            <a:r>
              <a:t>          "83"</a:t>
            </a:r>
          </a:p>
          <a:p>
            <a:r>
              <a:t>        ],</a:t>
            </a:r>
          </a:p>
          <a:p>
            <a:r>
              <a:t>        [</a:t>
            </a:r>
          </a:p>
          <a:p>
            <a:r>
              <a:t>          "A",</a:t>
            </a:r>
          </a:p>
          <a:p>
            <a:r>
              <a:t>          "84"</a:t>
            </a:r>
          </a:p>
          <a:p>
            <a:r>
              <a:t>        ],</a:t>
            </a:r>
          </a:p>
          <a:p>
            <a:r>
              <a:t>        [</a:t>
            </a:r>
          </a:p>
          <a:p>
            <a:r>
              <a:t>          "A",</a:t>
            </a:r>
          </a:p>
          <a:p>
            <a:r>
              <a:t>          "85"</a:t>
            </a:r>
          </a:p>
          <a:p>
            <a:r>
              <a:t>        ],</a:t>
            </a:r>
          </a:p>
          <a:p>
            <a:r>
              <a:t>        [</a:t>
            </a:r>
          </a:p>
          <a:p>
            <a:r>
              <a:t>          "A",</a:t>
            </a:r>
          </a:p>
          <a:p>
            <a:r>
              <a:t>          "86"</a:t>
            </a:r>
          </a:p>
          <a:p>
            <a:r>
              <a:t>        ],</a:t>
            </a:r>
          </a:p>
          <a:p>
            <a:r>
              <a:t>        [</a:t>
            </a:r>
          </a:p>
          <a:p>
            <a:r>
              <a:t>          "A",</a:t>
            </a:r>
          </a:p>
          <a:p>
            <a:r>
              <a:t>          "87"</a:t>
            </a:r>
          </a:p>
          <a:p>
            <a:r>
              <a:t>        ],</a:t>
            </a:r>
          </a:p>
          <a:p>
            <a:r>
              <a:t>        [</a:t>
            </a:r>
          </a:p>
          <a:p>
            <a:r>
              <a:t>          "A",</a:t>
            </a:r>
          </a:p>
          <a:p>
            <a:r>
              <a:t>          "88"</a:t>
            </a:r>
          </a:p>
          <a:p>
            <a:r>
              <a:t>        ],</a:t>
            </a:r>
          </a:p>
          <a:p>
            <a:r>
              <a:t>        [</a:t>
            </a:r>
          </a:p>
          <a:p>
            <a:r>
              <a:t>          "A",</a:t>
            </a:r>
          </a:p>
          <a:p>
            <a:r>
              <a:t>          "89"</a:t>
            </a:r>
          </a:p>
          <a:p>
            <a:r>
              <a:t>        ],</a:t>
            </a:r>
          </a:p>
          <a:p>
            <a:r>
              <a:t>        [</a:t>
            </a:r>
          </a:p>
          <a:p>
            <a:r>
              <a:t>          "A",</a:t>
            </a:r>
          </a:p>
          <a:p>
            <a:r>
              <a:t>          "9"</a:t>
            </a:r>
          </a:p>
          <a:p>
            <a:r>
              <a:t>        ],</a:t>
            </a:r>
          </a:p>
          <a:p>
            <a:r>
              <a:t>        [</a:t>
            </a:r>
          </a:p>
          <a:p>
            <a:r>
              <a:t>          "A",</a:t>
            </a:r>
          </a:p>
          <a:p>
            <a:r>
              <a:t>          "90"</a:t>
            </a:r>
          </a:p>
          <a:p>
            <a:r>
              <a:t>        ],</a:t>
            </a:r>
          </a:p>
          <a:p>
            <a:r>
              <a:t>        [</a:t>
            </a:r>
          </a:p>
          <a:p>
            <a:r>
              <a:t>          "A",</a:t>
            </a:r>
          </a:p>
          <a:p>
            <a:r>
              <a:t>          "91"</a:t>
            </a:r>
          </a:p>
          <a:p>
            <a:r>
              <a:t>        ],</a:t>
            </a:r>
          </a:p>
          <a:p>
            <a:r>
              <a:t>        [</a:t>
            </a:r>
          </a:p>
          <a:p>
            <a:r>
              <a:t>          "A",</a:t>
            </a:r>
          </a:p>
          <a:p>
            <a:r>
              <a:t>          "92"</a:t>
            </a:r>
          </a:p>
          <a:p>
            <a:r>
              <a:t>        ],</a:t>
            </a:r>
          </a:p>
          <a:p>
            <a:r>
              <a:t>        [</a:t>
            </a:r>
          </a:p>
          <a:p>
            <a:r>
              <a:t>          "A",</a:t>
            </a:r>
          </a:p>
          <a:p>
            <a:r>
              <a:t>          "93"</a:t>
            </a:r>
          </a:p>
          <a:p>
            <a:r>
              <a:t>        ],</a:t>
            </a:r>
          </a:p>
          <a:p>
            <a:r>
              <a:t>        [</a:t>
            </a:r>
          </a:p>
          <a:p>
            <a:r>
              <a:t>          "A",</a:t>
            </a:r>
          </a:p>
          <a:p>
            <a:r>
              <a:t>          "94"</a:t>
            </a:r>
          </a:p>
          <a:p>
            <a:r>
              <a:t>        ],</a:t>
            </a:r>
          </a:p>
          <a:p>
            <a:r>
              <a:t>        [</a:t>
            </a:r>
          </a:p>
          <a:p>
            <a:r>
              <a:t>          "A",</a:t>
            </a:r>
          </a:p>
          <a:p>
            <a:r>
              <a:t>          "95"</a:t>
            </a:r>
          </a:p>
          <a:p>
            <a:r>
              <a:t>        ],</a:t>
            </a:r>
          </a:p>
          <a:p>
            <a:r>
              <a:t>        [</a:t>
            </a:r>
          </a:p>
          <a:p>
            <a:r>
              <a:t>          "A",</a:t>
            </a:r>
          </a:p>
          <a:p>
            <a:r>
              <a:t>          "96"</a:t>
            </a:r>
          </a:p>
          <a:p>
            <a:r>
              <a:t>        ],</a:t>
            </a:r>
          </a:p>
          <a:p>
            <a:r>
              <a:t>        [</a:t>
            </a:r>
          </a:p>
          <a:p>
            <a:r>
              <a:t>          "A",</a:t>
            </a:r>
          </a:p>
          <a:p>
            <a:r>
              <a:t>          "97"</a:t>
            </a:r>
          </a:p>
          <a:p>
            <a:r>
              <a:t>        ],</a:t>
            </a:r>
          </a:p>
          <a:p>
            <a:r>
              <a:t>        [</a:t>
            </a:r>
          </a:p>
          <a:p>
            <a:r>
              <a:t>          "A",</a:t>
            </a:r>
          </a:p>
          <a:p>
            <a:r>
              <a:t>          "98"</a:t>
            </a:r>
          </a:p>
          <a:p>
            <a:r>
              <a:t>        ],</a:t>
            </a:r>
          </a:p>
          <a:p>
            <a:r>
              <a:t>        [</a:t>
            </a:r>
          </a:p>
          <a:p>
            <a:r>
              <a:t>          "A",</a:t>
            </a:r>
          </a:p>
          <a:p>
            <a:r>
              <a:t>          "99"</a:t>
            </a:r>
          </a:p>
          <a:p>
            <a:r>
              <a:t>        ]</a:t>
            </a:r>
          </a:p>
          <a:p>
            <a:r>
              <a:t>      ],</a:t>
            </a:r>
          </a:p>
          <a:p>
            <a:r>
              <a:t>      "medoid_model": "CmR116_bmr17022__SPEACHAF__0780",</a:t>
            </a:r>
          </a:p>
          <a:p>
            <a:r>
              <a:t>      "medoid_mean_ca_rmsd_angstrom": 0.9330801875538876,</a:t>
            </a:r>
          </a:p>
          <a:p>
            <a:r>
              <a:t>      "rendering": {</a:t>
            </a:r>
          </a:p>
          <a:p>
            <a:r>
              <a:t>        "ray_max_passes": 25,</a:t>
            </a:r>
          </a:p>
          <a:p>
            <a:r>
              <a:t>        "max_threads": 2,</a:t>
            </a:r>
          </a:p>
          <a:p>
            <a:r>
              <a:t>        "cartoon_transparency": 0.35</a:t>
            </a:r>
          </a:p>
          <a:p>
            <a:r>
              <a:t>      },</a:t>
            </a:r>
          </a:p>
          <a:p>
            <a:r>
              <a:t>      "rmsf_range_angstrom": [</a:t>
            </a:r>
          </a:p>
          <a:p>
            <a:r>
              <a:t>        0.2978229226679273,</a:t>
            </a:r>
          </a:p>
          <a:p>
            <a:r>
              <a:t>        4.983792073507559</a:t>
            </a:r>
          </a:p>
          <a:p>
            <a:r>
              <a:t>      ],</a:t>
            </a:r>
          </a:p>
          <a:p>
            <a:r>
              <a:t>      "mean_plddt_range": [</a:t>
            </a:r>
          </a:p>
          <a:p>
            <a:r>
              <a:t>        66.50127272727273,</a:t>
            </a:r>
          </a:p>
          <a:p>
            <a:r>
              <a:t>        98.27390909090909</a:t>
            </a:r>
          </a:p>
          <a:p>
            <a:r>
              <a:t>      ],</a:t>
            </a:r>
          </a:p>
          <a:p>
            <a:r>
              <a:t>      "fits": [</a:t>
            </a:r>
          </a:p>
          <a:p>
            <a:r>
              <a:t>        {</a:t>
            </a:r>
          </a:p>
          <a:p>
            <a:r>
              <a:t>          "model": "CmR116_bmr17022__AlphaFlowMD__0044",</a:t>
            </a:r>
          </a:p>
          <a:p>
            <a:r>
              <a:t>          "ca_rmsd_angstrom": 1.58461558826015</a:t>
            </a:r>
          </a:p>
          <a:p>
            <a:r>
              <a:t>        },</a:t>
            </a:r>
          </a:p>
          <a:p>
            <a:r>
              <a:t>        {</a:t>
            </a:r>
          </a:p>
          <a:p>
            <a:r>
              <a:t>          "model": "CmR116_bmr17022__AlphaFlowMD__0887",</a:t>
            </a:r>
          </a:p>
          <a:p>
            <a:r>
              <a:t>          "ca_rmsd_angstrom": 1.3072110289109364</a:t>
            </a:r>
          </a:p>
          <a:p>
            <a:r>
              <a:t>        },</a:t>
            </a:r>
          </a:p>
          <a:p>
            <a:r>
              <a:t>        {</a:t>
            </a:r>
          </a:p>
          <a:p>
            <a:r>
              <a:t>          "model": "CmR116_bmr17022__AlphaFlowMD__0460",</a:t>
            </a:r>
          </a:p>
          <a:p>
            <a:r>
              <a:t>          "ca_rmsd_angstrom": 1.7426605539508349</a:t>
            </a:r>
          </a:p>
          <a:p>
            <a:r>
              <a:t>        },</a:t>
            </a:r>
          </a:p>
          <a:p>
            <a:r>
              <a:t>        {</a:t>
            </a:r>
          </a:p>
          <a:p>
            <a:r>
              <a:t>          "model": "CmR116_bmr17022__AlphaFlowMD__0863",</a:t>
            </a:r>
          </a:p>
          <a:p>
            <a:r>
              <a:t>          "ca_rmsd_angstrom": 1.714548333986267</a:t>
            </a:r>
          </a:p>
          <a:p>
            <a:r>
              <a:t>        },</a:t>
            </a:r>
          </a:p>
          <a:p>
            <a:r>
              <a:t>        {</a:t>
            </a:r>
          </a:p>
          <a:p>
            <a:r>
              <a:t>          "model": "CmR116_bmr17022__AlphaFlowMD__0039",</a:t>
            </a:r>
          </a:p>
          <a:p>
            <a:r>
              <a:t>          "ca_rmsd_angstrom": 1.7344698111733743</a:t>
            </a:r>
          </a:p>
          <a:p>
            <a:r>
              <a:t>        },</a:t>
            </a:r>
          </a:p>
          <a:p>
            <a:r>
              <a:t>        {</a:t>
            </a:r>
          </a:p>
          <a:p>
            <a:r>
              <a:t>          "model": "CmR116_bmr17022__AlphaFlowPDB__0433",</a:t>
            </a:r>
          </a:p>
          <a:p>
            <a:r>
              <a:t>          "ca_rmsd_angstrom": 1.213672103133424</a:t>
            </a:r>
          </a:p>
          <a:p>
            <a:r>
              <a:t>        },</a:t>
            </a:r>
          </a:p>
          <a:p>
            <a:r>
              <a:t>        {</a:t>
            </a:r>
          </a:p>
          <a:p>
            <a:r>
              <a:t>          "model": "CmR116_bmr17022__SPEACHAF__0845",</a:t>
            </a:r>
          </a:p>
          <a:p>
            <a:r>
              <a:t>          "ca_rmsd_angstrom": 0.11513153974514329</a:t>
            </a:r>
          </a:p>
          <a:p>
            <a:r>
              <a:t>        },</a:t>
            </a:r>
          </a:p>
          <a:p>
            <a:r>
              <a:t>        {</a:t>
            </a:r>
          </a:p>
          <a:p>
            <a:r>
              <a:t>          "model": "CmR116_bmr17022__SPEACHAF__0975",</a:t>
            </a:r>
          </a:p>
          <a:p>
            <a:r>
              <a:t>          "ca_rmsd_angstrom": 0.08561323109203726</a:t>
            </a:r>
          </a:p>
          <a:p>
            <a:r>
              <a:t>        },</a:t>
            </a:r>
          </a:p>
          <a:p>
            <a:r>
              <a:t>        {</a:t>
            </a:r>
          </a:p>
          <a:p>
            <a:r>
              <a:t>          "model": "CmR116_bmr17022__SPEACHAF__0780",</a:t>
            </a:r>
          </a:p>
          <a:p>
            <a:r>
              <a:t>          "ca_rmsd_angstrom": 0.0</a:t>
            </a:r>
          </a:p>
          <a:p>
            <a:r>
              <a:t>        },</a:t>
            </a:r>
          </a:p>
          <a:p>
            <a:r>
              <a:t>        {</a:t>
            </a:r>
          </a:p>
          <a:p>
            <a:r>
              <a:t>          "model": "CmR116_bmr17022__SPEACHAF__0130",</a:t>
            </a:r>
          </a:p>
          <a:p>
            <a:r>
              <a:t>          "ca_rmsd_angstrom": 0.09483377643445276</a:t>
            </a:r>
          </a:p>
          <a:p>
            <a:r>
              <a:t>        },</a:t>
            </a:r>
          </a:p>
          <a:p>
            <a:r>
              <a:t>        {</a:t>
            </a:r>
          </a:p>
          <a:p>
            <a:r>
              <a:t>          "model": "CmR116_bmr17022__Boltz2Exact__0338",</a:t>
            </a:r>
          </a:p>
          <a:p>
            <a:r>
              <a:t>          "ca_rmsd_angstrom": 0.6711255613918424</a:t>
            </a:r>
          </a:p>
          <a:p>
            <a:r>
              <a:t>        }</a:t>
            </a:r>
          </a:p>
          <a:p>
            <a:r>
              <a:t>      ],</a:t>
            </a:r>
          </a:p>
          <a:p>
            <a:r>
              <a:t>      "view": [</a:t>
            </a:r>
          </a:p>
          <a:p>
            <a:r>
              <a:t>        0.6841107606887817,</a:t>
            </a:r>
          </a:p>
          <a:p>
            <a:r>
              <a:t>        0.6897667050361633,</a:t>
            </a:r>
          </a:p>
          <a:p>
            <a:r>
              <a:t>        -0.23709601163864136,</a:t>
            </a:r>
          </a:p>
          <a:p>
            <a:r>
              <a:t>        -0.7232904434204102,</a:t>
            </a:r>
          </a:p>
          <a:p>
            <a:r>
              <a:t>        0.5996463894844055,</a:t>
            </a:r>
          </a:p>
          <a:p>
            <a:r>
              <a:t>        -0.34245479106903076,</a:t>
            </a:r>
          </a:p>
          <a:p>
            <a:r>
              <a:t>        -0.0940401628613472,</a:t>
            </a:r>
          </a:p>
          <a:p>
            <a:r>
              <a:t>        0.40576621890068054,</a:t>
            </a:r>
          </a:p>
          <a:p>
            <a:r>
              <a:t>        0.9091261029243469,</a:t>
            </a:r>
          </a:p>
          <a:p>
            <a:r>
              <a:t>        0.0,</a:t>
            </a:r>
          </a:p>
          <a:p>
            <a:r>
              <a:t>        0.0,</a:t>
            </a:r>
          </a:p>
          <a:p>
            <a:r>
              <a:t>        -187.09837341308594,</a:t>
            </a:r>
          </a:p>
          <a:p>
            <a:r>
              <a:t>        -0.7578849792480469,</a:t>
            </a:r>
          </a:p>
          <a:p>
            <a:r>
              <a:t>        0.01036834716796875,</a:t>
            </a:r>
          </a:p>
          <a:p>
            <a:r>
              <a:t>        -0.05188560485839844,</a:t>
            </a:r>
          </a:p>
          <a:p>
            <a:r>
              <a:t>        147.50978088378906,</a:t>
            </a:r>
          </a:p>
          <a:p>
            <a:r>
              <a:t>        226.6869659423828,</a:t>
            </a:r>
          </a:p>
          <a:p>
            <a:r>
              <a:t>        20.0</a:t>
            </a:r>
          </a:p>
          <a:p>
            <a:r>
              <a:t>      ],</a:t>
            </a:r>
          </a:p>
          <a:p>
            <a:r>
              <a:t>      "cluster_colors": {</a:t>
            </a:r>
          </a:p>
          <a:p>
            <a:r>
              <a:t>        "C1.1": "#1f77b4",</a:t>
            </a:r>
          </a:p>
          <a:p>
            <a:r>
              <a:t>        "C1.2": "#ff7f0e",</a:t>
            </a:r>
          </a:p>
          <a:p>
            <a:r>
              <a:t>        "C1.3": "#2ca02c"</a:t>
            </a:r>
          </a:p>
          <a:p>
            <a:r>
              <a:t>      },</a:t>
            </a:r>
          </a:p>
          <a:p>
            <a:r>
              <a:t>      "chain_colors": {</a:t>
            </a:r>
          </a:p>
          <a:p>
            <a:r>
              <a:t>        "CmR116_bmr17022__AlphaFlowMD__0044": {</a:t>
            </a:r>
          </a:p>
          <a:p>
            <a:r>
              <a:t>          "A": "#1F77B4"</a:t>
            </a:r>
          </a:p>
          <a:p>
            <a:r>
              <a:t>        },</a:t>
            </a:r>
          </a:p>
          <a:p>
            <a:r>
              <a:t>        "CmR116_bmr17022__AlphaFlowMD__0887": {</a:t>
            </a:r>
          </a:p>
          <a:p>
            <a:r>
              <a:t>          "A": "#1F77B4"</a:t>
            </a:r>
          </a:p>
          <a:p>
            <a:r>
              <a:t>        },</a:t>
            </a:r>
          </a:p>
          <a:p>
            <a:r>
              <a:t>        "CmR116_bmr17022__AlphaFlowMD__0460": {</a:t>
            </a:r>
          </a:p>
          <a:p>
            <a:r>
              <a:t>          "A": "#1F77B4"</a:t>
            </a:r>
          </a:p>
          <a:p>
            <a:r>
              <a:t>        },</a:t>
            </a:r>
          </a:p>
          <a:p>
            <a:r>
              <a:t>        "CmR116_bmr17022__AlphaFlowMD__0863": {</a:t>
            </a:r>
          </a:p>
          <a:p>
            <a:r>
              <a:t>          "A": "#1F77B4"</a:t>
            </a:r>
          </a:p>
          <a:p>
            <a:r>
              <a:t>        },</a:t>
            </a:r>
          </a:p>
          <a:p>
            <a:r>
              <a:t>        "CmR116_bmr17022__AlphaFlowMD__0039": {</a:t>
            </a:r>
          </a:p>
          <a:p>
            <a:r>
              <a:t>          "A": "#1F77B4"</a:t>
            </a:r>
          </a:p>
          <a:p>
            <a:r>
              <a:t>        },</a:t>
            </a:r>
          </a:p>
          <a:p>
            <a:r>
              <a:t>        "CmR116_bmr17022__AlphaFlowPDB__0433": {</a:t>
            </a:r>
          </a:p>
          <a:p>
            <a:r>
              <a:t>          "A": "#FF7F0E"</a:t>
            </a:r>
          </a:p>
          <a:p>
            <a:r>
              <a:t>        },</a:t>
            </a:r>
          </a:p>
          <a:p>
            <a:r>
              <a:t>        "CmR116_bmr17022__SPEACHAF__0845": {</a:t>
            </a:r>
          </a:p>
          <a:p>
            <a:r>
              <a:t>          "A": "#FF7F0E"</a:t>
            </a:r>
          </a:p>
          <a:p>
            <a:r>
              <a:t>        },</a:t>
            </a:r>
          </a:p>
          <a:p>
            <a:r>
              <a:t>        "CmR116_bmr17022__SPEACHAF__0975": {</a:t>
            </a:r>
          </a:p>
          <a:p>
            <a:r>
              <a:t>          "A": "#FF7F0E"</a:t>
            </a:r>
          </a:p>
          <a:p>
            <a:r>
              <a:t>        },</a:t>
            </a:r>
          </a:p>
          <a:p>
            <a:r>
              <a:t>        "CmR116_bmr17022__SPEACHAF__0780": {</a:t>
            </a:r>
          </a:p>
          <a:p>
            <a:r>
              <a:t>          "A": "#FF7F0E"</a:t>
            </a:r>
          </a:p>
          <a:p>
            <a:r>
              <a:t>        },</a:t>
            </a:r>
          </a:p>
          <a:p>
            <a:r>
              <a:t>        "CmR116_bmr17022__SPEACHAF__0130": {</a:t>
            </a:r>
          </a:p>
          <a:p>
            <a:r>
              <a:t>          "A": "#FF7F0E"</a:t>
            </a:r>
          </a:p>
          <a:p>
            <a:r>
              <a:t>        },</a:t>
            </a:r>
          </a:p>
          <a:p>
            <a:r>
              <a:t>        "CmR116_bmr17022__Boltz2Exact__0338": {</a:t>
            </a:r>
          </a:p>
          <a:p>
            <a:r>
              <a:t>          "A": "#2CA02C"</a:t>
            </a:r>
          </a:p>
          <a:p>
            <a:r>
              <a:t>        }</a:t>
            </a:r>
          </a:p>
          <a:p>
            <a:r>
              <a:t>      },</a:t>
            </a:r>
          </a:p>
          <a:p>
            <a:r>
              <a:t>      "models": [</a:t>
            </a:r>
          </a:p>
          <a:p>
            <a:r>
              <a:t>        {</a:t>
            </a:r>
          </a:p>
          <a:p>
            <a:r>
              <a:t>          "model": "CmR116_bmr17022__AlphaFlowMD__0044",</a:t>
            </a:r>
          </a:p>
          <a:p>
            <a:r>
              <a:t>          "cluster_label": "C1.1",</a:t>
            </a:r>
          </a:p>
          <a:p>
            <a:r>
              <a:t>          "color": "#1f77b4",</a:t>
            </a:r>
          </a:p>
          <a:p>
            <a:r>
              <a:t>          "rank": 1,</a:t>
            </a:r>
          </a:p>
          <a:p>
            <a:r>
              <a:t>          "confidence": 98.47654724121094,</a:t>
            </a:r>
          </a:p>
          <a:p>
            <a:r>
              <a:t>          "pdb_sha256": "50bf21a2895daa4f43851522b1844585c5964bd33159a7288be143c74cc89a42"</a:t>
            </a:r>
          </a:p>
          <a:p>
            <a:r>
              <a:t>        },</a:t>
            </a:r>
          </a:p>
          <a:p>
            <a:r>
              <a:t>        {</a:t>
            </a:r>
          </a:p>
          <a:p>
            <a:r>
              <a:t>          "model": "CmR116_bmr17022__AlphaFlowMD__0887",</a:t>
            </a:r>
          </a:p>
          <a:p>
            <a:r>
              <a:t>          "cluster_label": "C1.1",</a:t>
            </a:r>
          </a:p>
          <a:p>
            <a:r>
              <a:t>          "color": "#1f77b4",</a:t>
            </a:r>
          </a:p>
          <a:p>
            <a:r>
              <a:t>          "rank": 2,</a:t>
            </a:r>
          </a:p>
          <a:p>
            <a:r>
              <a:t>          "confidence": 98.4764404296875,</a:t>
            </a:r>
          </a:p>
          <a:p>
            <a:r>
              <a:t>          "pdb_sha256": "0f01ab544c6163c4a7b617af8bf5598482615034400032105b8dde990a6f16ce"</a:t>
            </a:r>
          </a:p>
          <a:p>
            <a:r>
              <a:t>        },</a:t>
            </a:r>
          </a:p>
          <a:p>
            <a:r>
              <a:t>        {</a:t>
            </a:r>
          </a:p>
          <a:p>
            <a:r>
              <a:t>          "model": "CmR116_bmr17022__AlphaFlowMD__0460",</a:t>
            </a:r>
          </a:p>
          <a:p>
            <a:r>
              <a:t>          "cluster_label": "C1.1",</a:t>
            </a:r>
          </a:p>
          <a:p>
            <a:r>
              <a:t>          "color": "#1f77b4",</a:t>
            </a:r>
          </a:p>
          <a:p>
            <a:r>
              <a:t>          "rank": 3,</a:t>
            </a:r>
          </a:p>
          <a:p>
            <a:r>
              <a:t>          "confidence": 98.46500396728516,</a:t>
            </a:r>
          </a:p>
          <a:p>
            <a:r>
              <a:t>          "pdb_sha256": "683be101b31776d653741aafbe6f15ef97c9337d89f3dfe13c849fcac240b461"</a:t>
            </a:r>
          </a:p>
          <a:p>
            <a:r>
              <a:t>        },</a:t>
            </a:r>
          </a:p>
          <a:p>
            <a:r>
              <a:t>        {</a:t>
            </a:r>
          </a:p>
          <a:p>
            <a:r>
              <a:t>          "model": "CmR116_bmr17022__AlphaFlowMD__0863",</a:t>
            </a:r>
          </a:p>
          <a:p>
            <a:r>
              <a:t>          "cluster_label": "C1.1",</a:t>
            </a:r>
          </a:p>
          <a:p>
            <a:r>
              <a:t>          "color": "#1f77b4",</a:t>
            </a:r>
          </a:p>
          <a:p>
            <a:r>
              <a:t>          "rank": 4,</a:t>
            </a:r>
          </a:p>
          <a:p>
            <a:r>
              <a:t>          "confidence": 98.45543670654295,</a:t>
            </a:r>
          </a:p>
          <a:p>
            <a:r>
              <a:t>          "pdb_sha256": "8a21cabf23ba4990c4b8be3e0611e8355f8e89adbd003659404a3548b12a30f5"</a:t>
            </a:r>
          </a:p>
          <a:p>
            <a:r>
              <a:t>        },</a:t>
            </a:r>
          </a:p>
          <a:p>
            <a:r>
              <a:t>        {</a:t>
            </a:r>
          </a:p>
          <a:p>
            <a:r>
              <a:t>          "model": "CmR116_bmr17022__AlphaFlowMD__0039",</a:t>
            </a:r>
          </a:p>
          <a:p>
            <a:r>
              <a:t>          "cluster_label": "C1.1",</a:t>
            </a:r>
          </a:p>
          <a:p>
            <a:r>
              <a:t>          "color": "#1f77b4",</a:t>
            </a:r>
          </a:p>
          <a:p>
            <a:r>
              <a:t>          "rank": 5,</a:t>
            </a:r>
          </a:p>
          <a:p>
            <a:r>
              <a:t>          "confidence": 98.45143127441406,</a:t>
            </a:r>
          </a:p>
          <a:p>
            <a:r>
              <a:t>          "pdb_sha256": "a01fe7421e229215abd74fc0475f644cbc7fee1a6e7e03e9ad2483c7aa8903ef"</a:t>
            </a:r>
          </a:p>
          <a:p>
            <a:r>
              <a:t>        },</a:t>
            </a:r>
          </a:p>
          <a:p>
            <a:r>
              <a:t>        {</a:t>
            </a:r>
          </a:p>
          <a:p>
            <a:r>
              <a:t>          "model": "CmR116_bmr17022__AlphaFlowPDB__0433",</a:t>
            </a:r>
          </a:p>
          <a:p>
            <a:r>
              <a:t>          "cluster_label": "C1.2",</a:t>
            </a:r>
          </a:p>
          <a:p>
            <a:r>
              <a:t>          "color": "#ff7f0e",</a:t>
            </a:r>
          </a:p>
          <a:p>
            <a:r>
              <a:t>          "rank": 1,</a:t>
            </a:r>
          </a:p>
          <a:p>
            <a:r>
              <a:t>          "confidence": 96.7822723388672,</a:t>
            </a:r>
          </a:p>
          <a:p>
            <a:r>
              <a:t>          "pdb_sha256": "3bf70c14ace7f92d261406216742d4855a2a1b092f701d69b50b18c85de5c7cd"</a:t>
            </a:r>
          </a:p>
          <a:p>
            <a:r>
              <a:t>        },</a:t>
            </a:r>
          </a:p>
          <a:p>
            <a:r>
              <a:t>        {</a:t>
            </a:r>
          </a:p>
          <a:p>
            <a:r>
              <a:t>          "model": "CmR116_bmr17022__SPEACHAF__0845",</a:t>
            </a:r>
          </a:p>
          <a:p>
            <a:r>
              <a:t>          "cluster_label": "C1.2",</a:t>
            </a:r>
          </a:p>
          <a:p>
            <a:r>
              <a:t>          "color": "#ff7f0e",</a:t>
            </a:r>
          </a:p>
          <a:p>
            <a:r>
              <a:t>          "rank": 2,</a:t>
            </a:r>
          </a:p>
          <a:p>
            <a:r>
              <a:t>          "confidence": 89.43773454857667,</a:t>
            </a:r>
          </a:p>
          <a:p>
            <a:r>
              <a:t>          "pdb_sha256": "565a956e248045bf8a52297e48dc95d39d3b5f436c3a0c62a5f125bc99160209"</a:t>
            </a:r>
          </a:p>
          <a:p>
            <a:r>
              <a:t>        },</a:t>
            </a:r>
          </a:p>
          <a:p>
            <a:r>
              <a:t>        {</a:t>
            </a:r>
          </a:p>
          <a:p>
            <a:r>
              <a:t>          "model": "CmR116_bmr17022__SPEACHAF__0975",</a:t>
            </a:r>
          </a:p>
          <a:p>
            <a:r>
              <a:t>          "cluster_label": "C1.2",</a:t>
            </a:r>
          </a:p>
          <a:p>
            <a:r>
              <a:t>          "color": "#ff7f0e",</a:t>
            </a:r>
          </a:p>
          <a:p>
            <a:r>
              <a:t>          "rank": 3,</a:t>
            </a:r>
          </a:p>
          <a:p>
            <a:r>
              <a:t>          "confidence": 89.20010100375984,</a:t>
            </a:r>
          </a:p>
          <a:p>
            <a:r>
              <a:t>          "pdb_sha256": "5c764e3018250983dff493e5af4200ea86a85e86e06e6e4c7d04b27b11d04019"</a:t>
            </a:r>
          </a:p>
          <a:p>
            <a:r>
              <a:t>        },</a:t>
            </a:r>
          </a:p>
          <a:p>
            <a:r>
              <a:t>        {</a:t>
            </a:r>
          </a:p>
          <a:p>
            <a:r>
              <a:t>          "model": "CmR116_bmr17022__SPEACHAF__0780",</a:t>
            </a:r>
          </a:p>
          <a:p>
            <a:r>
              <a:t>          "cluster_label": "C1.2",</a:t>
            </a:r>
          </a:p>
          <a:p>
            <a:r>
              <a:t>          "color": "#ff7f0e",</a:t>
            </a:r>
          </a:p>
          <a:p>
            <a:r>
              <a:t>          "rank": 4,</a:t>
            </a:r>
          </a:p>
          <a:p>
            <a:r>
              <a:t>          "confidence": 88.9808580687615,</a:t>
            </a:r>
          </a:p>
          <a:p>
            <a:r>
              <a:t>          "pdb_sha256": "c2e2b17a88234d8b4b574ed4dcff0a798ffe64aa4556982838d3a10b0c215965"</a:t>
            </a:r>
          </a:p>
          <a:p>
            <a:r>
              <a:t>        },</a:t>
            </a:r>
          </a:p>
          <a:p>
            <a:r>
              <a:t>        {</a:t>
            </a:r>
          </a:p>
          <a:p>
            <a:r>
              <a:t>          "model": "CmR116_bmr17022__SPEACHAF__0130",</a:t>
            </a:r>
          </a:p>
          <a:p>
            <a:r>
              <a:t>          "cluster_label": "C1.2",</a:t>
            </a:r>
          </a:p>
          <a:p>
            <a:r>
              <a:t>          "color": "#ff7f0e",</a:t>
            </a:r>
          </a:p>
          <a:p>
            <a:r>
              <a:t>          "rank": 5,</a:t>
            </a:r>
          </a:p>
          <a:p>
            <a:r>
              <a:t>          "confidence": 88.89682756535325,</a:t>
            </a:r>
          </a:p>
          <a:p>
            <a:r>
              <a:t>          "pdb_sha256": "d3882e7d5e51e240909367a4dfb551a91fb5f6b712dd4bc8b037eabfbc0bd34f"</a:t>
            </a:r>
          </a:p>
          <a:p>
            <a:r>
              <a:t>        },</a:t>
            </a:r>
          </a:p>
          <a:p>
            <a:r>
              <a:t>        {</a:t>
            </a:r>
          </a:p>
          <a:p>
            <a:r>
              <a:t>          "model": "CmR116_bmr17022__Boltz2Exact__0338",</a:t>
            </a:r>
          </a:p>
          <a:p>
            <a:r>
              <a:t>          "cluster_label": "C1.3",</a:t>
            </a:r>
          </a:p>
          <a:p>
            <a:r>
              <a:t>          "color": "#2ca02c",</a:t>
            </a:r>
          </a:p>
          <a:p>
            <a:r>
              <a:t>          "rank": 1,</a:t>
            </a:r>
          </a:p>
          <a:p>
            <a:r>
              <a:t>          "confidence": 91.44469499588013,</a:t>
            </a:r>
          </a:p>
          <a:p>
            <a:r>
              <a:t>          "pdb_sha256": "a402db05bc57f918554403631e6a9a2847f5cd5647806a926653036b275d30e9"</a:t>
            </a:r>
          </a:p>
          <a:p>
            <a:r>
              <a:t>        }</a:t>
            </a:r>
          </a:p>
          <a:p>
            <a:r>
              <a:t>      ],</a:t>
            </a:r>
          </a:p>
          <a:p>
            <a:r>
              <a:t>      "directory": "group-01",</a:t>
            </a:r>
          </a:p>
          <a:p>
            <a:r>
              <a:t>      "files": {</a:t>
            </a:r>
          </a:p>
          <a:p>
            <a:r>
              <a:t>        "residue_statistics.csv": {</a:t>
            </a:r>
          </a:p>
          <a:p>
            <a:r>
              <a:t>          "bytes": 8464,</a:t>
            </a:r>
          </a:p>
          <a:p>
            <a:r>
              <a:t>          "sha256": "d76a811dfd6b9699bd0ee03d7f2680c7d5a5f1a6bb1e0e53cd5dd16783c64e7e"</a:t>
            </a:r>
          </a:p>
          <a:p>
            <a:r>
              <a:t>        },</a:t>
            </a:r>
          </a:p>
          <a:p>
            <a:r>
              <a:t>        "aligned_models.pdb": {</a:t>
            </a:r>
          </a:p>
          <a:p>
            <a:r>
              <a:t>          "bytes": 932309,</a:t>
            </a:r>
          </a:p>
          <a:p>
            <a:r>
              <a:t>          "sha256": "6c3604d31314b445562ab11e518158e5b3514133136903400418b5c9bfc7fad2"</a:t>
            </a:r>
          </a:p>
          <a:p>
            <a:r>
              <a:t>        },</a:t>
            </a:r>
          </a:p>
          <a:p>
            <a:r>
              <a:t>        "ensemble.pse": {</a:t>
            </a:r>
          </a:p>
          <a:p>
            <a:r>
              <a:t>          "bytes": 2028466,</a:t>
            </a:r>
          </a:p>
          <a:p>
            <a:r>
              <a:t>          "sha256": "6fbf76a0941109e05948a2a8a3c477fe3386c7792bf4caeb549d433685473c7d"</a:t>
            </a:r>
          </a:p>
          <a:p>
            <a:r>
              <a:t>        },</a:t>
            </a:r>
          </a:p>
          <a:p>
            <a:r>
              <a:t>        "ensemble.png": {</a:t>
            </a:r>
          </a:p>
          <a:p>
            <a:r>
              <a:t>          "bytes": 261111,</a:t>
            </a:r>
          </a:p>
          <a:p>
            <a:r>
              <a:t>          "sha256": "c1a379182a0773b5d9fd3d0b9368ef5b6df83dc2227b5f3b0b3e526cc5b4548f"</a:t>
            </a:r>
          </a:p>
          <a:p>
            <a:r>
              <a:t>        },</a:t>
            </a:r>
          </a:p>
          <a:p>
            <a:r>
              <a:t>        "medoid.pdb": {</a:t>
            </a:r>
          </a:p>
          <a:p>
            <a:r>
              <a:t>          "bytes": 84737,</a:t>
            </a:r>
          </a:p>
          <a:p>
            <a:r>
              <a:t>          "sha256": "75395d62d65fb7400b40a954804998aecd775128dd957173f9d92008facfc9a7"</a:t>
            </a:r>
          </a:p>
          <a:p>
            <a:r>
              <a:t>        }</a:t>
            </a:r>
          </a:p>
          <a:p>
            <a:r>
              <a:t>      }</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tm_group_18/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tm_group_18/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tm_group_18/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tm_group_18/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tm_group_18/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tm_group_18/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tm_group_18/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tm_group_18/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tm_group_18/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tm_group_18/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tm_group_18/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tm_group_18/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tm_group_18/slideMasters/_rels/slideMaster1.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s>
</file>

<file path=ppt/tm_group_18/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tm_group_18/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m_group_18/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m_heatmap/notesMasters/_rels/notesMaster1.xml.rels><?xml version='1.0' encoding='utf-8'?>
<Relationships xmlns="http://schemas.openxmlformats.org/package/2006/relationships"><Relationship Type="http://schemas.openxmlformats.org/officeDocument/2006/relationships/theme" Target="theme/theme3.xml" Id="R8e928d70113f4cc4" /></Relationships>
</file>

<file path=ppt/tm_heatmap/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tm_heatmap/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m_heatmap/notesSlides/_rels/notesSlide1.xml.rels><?xml version='1.0' encoding='utf-8'?>
<Relationships xmlns="http://schemas.openxmlformats.org/package/2006/relationships"><Relationship Type="http://schemas.openxmlformats.org/officeDocument/2006/relationships/slide" Target="../../slides/slide15.xml" Id="Rf4b771c32e5b469d" /><Relationship Type="http://schemas.openxmlformats.org/officeDocument/2006/relationships/notesMaster" Target="../notesMasters/notesMaster1.xml" Id="R1da2f2b39171447d" /></Relationships>
</file>

<file path=ppt/tm_heatmap/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Target: CmR116_bmr17022_largest_child</ns1:t>
            </ns1:r>
          </ns1:p>
          <ns1:p>
            <ns1:r>
              <ns1:t>Each representative minimizes mean chain-corresponded, rigid-fit Cα RMSD among only that cluster's selected models (up to five). Ties use selection order.</ns1:t>
            </ns1:r>
          </ns1:p>
          <ns1:p>
            <ns1:r>
              <ns1:t>These selected-ensemble medoids can differ from the full-cluster medoids used to align the structure slides. Those alignments and models are unchanged.</ns1:t>
            </ns1:r>
          </ns1:p>
          <ns1:p>
            <ns1:r>
              <ns1:t>TM-scores use protein Cα US-align, all chains of the first model, multimer mode for complexes, average-length normalization and the mean of both input directions. No -fast approximation. Diagonal self-similarities are 1.</ns1:t>
            </ns1:r>
          </ns1:p>
          <ns1:p>
            <ns1:r>
              <ns1:t>Cells display two decimal places. The JSON and CSV retain all reported score precision.</ns1:t>
            </ns1:r>
          </ns1:p>
          <ns1:p>
            <ns1:r>
              <ns1:t>Method: https://github.com/pylelab/USalign</ns1:t>
            </ns1:r>
          </ns1:p>
          <ns1:p>
            <ns1:r>
              <ns1:t>Source data: [private source path]</ns1:t>
            </ns1:r>
          </ns1:p>
          <ns1:p>
            <ns1:r>
              <ns1:t>{"identifier":"CmR116_bmr17022_largest_child","terminal_detection":{"schema_version":1,"method":"terminal_distance_variance_and_domain_boundaries_v3","settings":{"enabled":true,"minimum_models":3,"minimum_segment_residues":3,"maximum_terminal_fraction":0.49,"minimum_distance_sd_angstrom":2,"minimum_high_variance_fraction":0.6,"robust_mad_multiplier":3,"neighbor_exclusion":3,"rigid_segment_sd_angstrom":1,"minimum_remaining_residues":10,"comparison_scope":"all_residues","preserve_rigid_segments":false,"exclude_unassigned_terminals":true,"minimum_chain_residues_for_trimming":16,"maximum_excluded_fraction":0.25},"model_count":11000,"segments":[],"excluded_indices":[],"retained_indices":[0,1,2,3,4,5,6,7,8,9,10,11,12,13,14,15,16,17,18,19,20,21,22,23,24,25,26,27,28,29,30,31,32,33,34,35,36,37,38,39,40,41,42,43,44,45,46,47,48,49,50,51,52,53,54,55,56,57,58,59,60,61,62,63,64,65,66,67,68,69,70,71,72,73,74,75,76,77,78,79,80,81,82,83,84,85,86,87,88,89,90,91,92,93,94,95,96,97,98,99,100,101,102,103,104,105,106,107,108,109,110,111,112,113,114,115,116,117,118,119,120,121,122,123,124,125,126,127,128,129,130],"chains":[{"chain":"A","sd_cutoff_angstrom":5.164194417981346,"indices":[0,1,2,3,4,5,6,7,8,9,10,11,12,13,14,15,16,17,18,19,20,21,22,23,24,25,26,27,28,29,30,31,32,33,34,35,36,37,38,39,40,41,42,43,44,45,46,47,48,49,50,51,52,53,54,55,56,57,58,59,60,61,62,63,64,65,66,67,68,69,70,71,72,73,74,75,76,77,78,79,80,81,82,83,84,85,86,87,88,89,90,91,92,93,94,95,96,97,98,99,100,101,102,103,104,105,106,107,108,109,110,111,112,113,114,115,116,117,118,119,120,121,122,123,124,125,126,127,128,129,130],"high_variance_fractions":[0.007874015748031496,0.015873015873015872,0.008,0.016129032258064516,0.024193548387096774,0.016129032258064516,0.024193548387096774,0.024193548387096774,0.03225806451612903,0.03225806451612903,0.03225806451612903,0.03225806451612903,0.03225806451612903,0.04032258064516129,0.04032258064516129,0.04032258064516129,0.04032258064516129,0.03225806451612903,0.03225806451612903,0.03225806451612903,0.03225806451612903,0.024193548387096774,0.024193548387096774,0.016129032258064516,0.016129032258064516,0.008064516129032258,0.016129032258064516,0.016129032258064516,0.008064516129032258,0.008064516129032258,0.008064516129032258,0.016129032258064516,0.016129032258064516,0.016129032258064516,0.024193548387096774,0.024193548387096774,0.03225806451612903,0.03225806451612903,0.04032258064516129,0.04032258064516129,0.04032258064516129,0.04032258064516129,0.04838709677419355,0.04838709677419355,0.04838709677419355,0.04032258064516129,0.04032258064516129,0.04032258064516129,0.04838709677419355,0.04838709677419355,0.04032258064516129,0.04838709677419355,0.04838709677419355,0.04838709677419355,0.04838709677419355,0.04838709677419355,0.04838709677419355,0.07258064516129033,0.06451612903225806,0.06451612903225806,0.06451612903225806,0.056451612903225805,0.04838709677419355,0.04032258064516129,0.04032258064516129,0.04032258064516129,0.04032258064516129,0.03225806451612903,0.03225806451612903,0.03225806451612903,0.03225806451612903,0.024193548387096774,0.024193548387096774,0.024193548387096774,0.024193548387096774,0.024193548387096774,0.024193548387096774,0.016129032258064516,0.016129032258064516,0.016129032258064516,0.016129032258064516,0.016129032258064516,0.016129032258064516,0.016129032258064516,0.016129032258064516,0.03225806451612903,0.03225806451612903,0.024193548387096774,0.03225806451612903,0.03225806451612903,0.03225806451612903,0.03225806451612903,0.03225806451612903,0.0967741935483871,0.04838709677419355,0.04838709677419355,0.03225806451612903,0.03225806451612903,0.03225806451612903,0.024193548387096774,0.024193548387096774,0.024193548387096774,0.024193548387096774,0.03225806451612903,0.03225806451612903,0.024193548387096774,0.024193548387096774,0.024193548387096774,0.024193548387096774,0.024193548387096774,0.016129032258064516,0.016129032258064516,0.016129032258064516,0.008064516129032258,0.008064516129032258,0.008064516129032258,0.008064516129032258,0.008064516129032258,0.008064516129032258,0.008064516129032258,0,0,0,0,0.016129032258064516,0.13709677419354838,0.25,0.5080645161290323,0.688,0.8492063492063492,0.9448818897637795],"decisions":[]}],"input_residue_keys":[["A","1"],["A","2"],["A","3"],["A","4"],["A","5"],["A","6"],["A","7"],["A","8"],["A","9"],["A","10"],["A","11"],["A","12"],["A","13"],["A","14"],["A","15"],["A","16"],["A","17"],["A","18"],["A","19"],["A","20"],["A","21"],["A","22"],["A","23"],["A","24"],["A","25"],["A","26"],["A","27"],["A","28"],["A","29"],["A","30"],["A","31"],["A","32"],["A","33"],["A","34"],["A","35"],["A","36"],["A","37"],["A","38"],["A","39"],["A","40"],["A","41"],["A","42"],["A","43"],["A","44"],["A","45"],["A","46"],["A","47"],["A","48"],["A","49"],["A","50"],["A","51"],["A","52"],["A","53"],["A","54"],["A","55"],["A","56"],["A","57"],["A","58"],["A","59"],["A","60"],["A","61"],["A","62"],["A","63"],["A","64"],["A","65"],["A","66"],["A","67"],["A","68"],["A","69"],["A","70"],["A","71"],["A","72"],["A","73"],["A","74"],["A","75"],["A","76"],["A","77"],["A","78"],["A","79"],["A","80"],["A","81"],["A","82"],["A","83"],["A","84"],["A","85"],["A","86"],["A","87"],["A","88"],["A","89"],["A","90"],["A","91"],["A","92"],["A","93"],["A","94"],["A","95"],["A","96"],["A","97"],["A","98"],["A","99"],["A","100"],["A","101"],["A","102"],["A","103"],["A","104"],["A","105"],["A","106"],["A","107"],["A","108"],["A","109"],["A","110"],["A","111"],["A","112"],["A","113"],["A","114"],["A","115"],["A","116"],["A","117"],["A","118"],["A","119"],["A","120"],["A","121"],["A","122"],["A","123"],["A","124"],["A","125"],["A","126"],["A","127"],["A","128"],["A","129"],["A","130"],["A","131"]],"interpretation":"High-variance terminal candidates; biological disorder is not established.","terminal_anchor_domains":[{"chain":"A","cores":[{"key":"domain_1","chain":"A","indices":[1,2,3,4,5,6,7,8,9,10,11,12,13,14,15,16,17,18,19,20,21,22,23,24,25,26,27,28,29,30,31,32,33,34,35,36,37,38,39],"segments":[[1,39]],"residue_keys":[["A","2"],["A","3"],["A","4"],["A","5"],["A","6"],["A","7"],["A","8"],["A","9"],["A","10"],["A","11"],["A","12"],["A","13"],["A","14"],["A","15"],["A","16"],["A","17"],["A","18"],["A","19"],["A","20"],["A","21"],["A","22"],["A","23"],["A","24"],["A","25"],["A","26"],["A","27"],["A","28"],["A","29"],["A","30"],["A","31"],["A","32"],["A","33"],["A","34"],["A","35"],["A","36"],["A","37"],["A","38"],["A","39"],["A","40"]],"within_variance_median_angstrom2":0.2454992376915782,"within_variance_q90_angstrom2":0.5697224852526903},{"key":"domain_2","chain":"A","indices":[65,66,67,68,69,70,71,72,73,74,75,76,77,78,79,80,81,82,83,84,85],"segments":[[65,85]],"residue_keys":[["A","66"],["A","67"],["A","68"],["A","69"],["A","70"],["A","71"],["A","72"],["A","73"],["A","74"],["A","75"],["A","76"],["A","77"],["A","78"],["A","79"],["A","80"],["A","81"],["A","82"],["A","83"],["A","84"],["A","85"],["A","86"]],"within_variance_median_angstrom2":0.19431963565486007,"within_variance_q90_angstrom2":1.0410888152475717}],"input_indices":[0,1,2,3,4,5,6,7,8,9,10,11,12,13,14,15,16,17,18,19,20,21,22,23,24,25,26,27,28,29,30,31,32,33,34,35,36,37,38,39,40,41,42,43,44,45,46,47,48,49,50,51,52,53,54,55,56,57,58,59,60,61,62,63,64,65,66,67,68,69,70,71,72,73,74,75,76,77,78,79,80,81,82,83,84,85,86,87,88,89,90,91,92,93,94,95,96,97,98,99,100,101,102,103,104,105,106,107,108,109,110,111,112,113,114,115,116,117,118,119,120,121,122,123,124,125,126,127,128,129,130],"settings":{"distance_sd_cutoff_angstrom":1,"minimum_core_residues":20,"minimum_core_coverage":0.7,"minimum_inter_core_variance_ratio":4,"minimum_inter_core_sd_angstrom":1,"minimum_models":3}}],"domain_evidence":{"method":"average_linkage_distance_sd_per_chain_v2","settings":{"distance_sd_cutoff_angstrom":1,"minimum_core_residues":20,"minimum_core_coverage":0.7,"minimum_inter_core_variance_ratio":4,"minimum_inter_core_sd_angstrom":1,"minimum_models":3},"core_coverage":0.4580152671755725,"cores":[{"key":"domain_1","chain":"A","indices":[1,2,3,4,5,6,7,8,9,10,11,12,13,14,15,16,17,18,19,20,21,22,23,24,25,26,27,28,29,30,31,32,33,34,35,36,37,38,39],"segments":[[1,39]],"residue_keys":[["A","2"],["A","3"],["A","4"],["A","5"],["A","6"],["A","7"],["A","8"],["A","9"],["A","10"],["A","11"],["A","12"],["A","13"],["A","14"],["A","15"],["A","16"],["A","17"],["A","18"],["A","19"],["A","20"],["A","21"],["A","22"],["A","23"],["A","24"],["A","25"],["A","26"],["A","27"],["A","28"],["A","29"],["A","30"],["A","31"],["A","32"],["A","33"],["A","34"],["A","35"],["A","36"],["A","37"],["A","38"],["A","39"],["A","40"]],"within_variance_median_angstrom2":0.2454992376915782,"within_variance_q90_angstrom2":0.5697224852526903},{"key":"domain_2","chain":"A","indices":[65,66,67,68,69,70,71,72,73,74,75,76,77,78,79,80,81,82,83,84,85],"segments":[[65,85]],"residue_keys":[["A","66"],["A","67"],["A","68"],["A","69"],["A","70"],["A","71"],["A","72"],["A","73"],["A","74"],["A","75"],["A","76"],["A","77"],["A","78"],["A","79"],["A","80"],["A","81"],["A","82"],["A","83"],["A","84"],["A","85"],["A","86"]],"within_variance_median_angstrom2":0.19431963565486007,"within_variance_q90_angstrom2":1.0410888152475717}],"unassigned_indices":[0,40,41,42,43,44,45,46,47,48,49,50,51,52,53,54,55,56,57,58,59,60,61,62,63,64,86,87,88,89,90,91,92,93,94,95,96,97,98,99,100,101,102,103,104,105,106,107,108,109,110,111,112,113,114,115,116,117,118,119,120,121,122,123,124,125,126,127,128,129,130]},"retention_budget_decisions":[{"chain":"A","reason":"Abstained: combined N/C exclusions exceed the 25% per-chain sequence budget.","proposed_indices":[86,87,88,89,90,91,92,93,94,95,96,97,98,99,100,101,102,103,104,105,106,107,108,109,110,111,112,113,114,115,116,117,118,119,120,121,122,123,124,125,126,127,128,129,130],"maximum_excluded_residues":32,"retained_chain_residues":131}],"input_feature_count":8515,"retained_feature_count":8515,"pair_mask_sha256":"283ffb99185925065bd468db91702d7ffb97c83ce3d53868b2d3835b08216fb6","reference_positions":[0,1,2,3,4,5,6,7,8,9,10,11,12,13,14,15,16,17,18,19,20,21,22,23,24,25,26,27,28,29,30,31,32,33,34,35,36,37,38,39,40,41,42,43,44,45,46,47,48,49,50,51,52,53,54,55,56,57,58,59,60,61,62,63,64,65,66,67,68,69,70,71,72,73,74,75,76,77,78,79,80,81,82,83,84,85,86,87,88,89,90,91,92,93,94,95,96,97,98,99,100,101,102,103,104,105,106,107,108,109,110,111,112,113,114,115,116,117,118,119,120,121,122,123,124,125,126,127,128,129,130],"retained_reference_positions":[0,1,2,3,4,5,6,7,8,9,10,11,12,13,14,15,16,17,18,19,20,21,22,23,24,25,26,27,28,29,30,31,32,33,34,35,36,37,38,39,40,41,42,43,44,45,46,47,48,49,50,51,52,53,54,55,56,57,58,59,60,61,62,63,64,65,66,67,68,69,70,71,72,73,74,75,76,77,78,79,80,81,82,83,84,85,86,87,88,89,90,91,92,93,94,95,96,97,98,99,100,101,102,103,104,105,106,107,108,109,110,111,112,113,114,115,116,117,118,119,120,121,122,123,124,125,126,127,128,129,130],"residue_labels":["M1","K2","D3","G4","T5","Y6","Y7","A8","E9","A10","D11","D12","F13","D14","E15","S16","G17","W18","K19","D20","T21","V22","T23","I24","E25","V26","K27","N28","G29","K30","I31","V32","S33","V34","D35","W36","N37","A38","I39","N40","K41","D42","G43","G44","D45","D46","K47","D48","T49","L50","S51","R52","N53","G54","G55","Y56","K57","M58","V59","E60","Y61","G62","G63","A64","Q65","A66","E67","W68","H69","E70","Q71","A72","E73","K74","V75","E76","A77","Y78","L79","V80","E81","K82","Q83","D84","P85","T86","D87","I88","K89","Y90","K91","D92","N93","D94","G95","H96","T97","D98","A99","I100","S101","G102","A103","T104","I105","K106","V107","K108","K109","F110","F111","D112","L113","A114","Q115","K116","A117","L118","K119","D120","A121","E122","K123","L124","E125","H126","H127","H128","H129","H130","H131"],"mask_scope":"frozen_prediction_predecessor","comparison_model_count":8669},"alignment_inputs":[],"medoid_population":"selected_models_only","medoid_metric":"whole_complex_chain_corresponded_ca_rmsd","outlier_rejection":false,"tm_metric":"mean_bidirectional_average_length_normalized_usalign","alignment_mode":"monomer","normalization":"average_structure_length","executable":"[private source path] * US-align (Version 20241108)                                      *\n * Universal Structure Alignment of Proteins and Nucleic Acids      *\n * Reference: C Zhang, M Shine, AM Pyle, Y Zhang. (2022) Nat Methods*\n *            C Zhang, AM Pyle (2022) iScience.                     *\n * Please email comments and suggestions to zhang@zhanggroup.org    *\n ********************************************************************","options":["-mol","prot","-ter","1","-a","T"],"medoids":[{"cluster_label":"C1.1","color":"#1f77b4","model":"CmR116_bmr17022__AlphaFlowMD__0044","source_path":"[private source path]</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tm_heatmap/slideLayouts/_rels/slideLayout1.xml.rels><?xml version='1.0' encoding='utf-8'?>
<Relationships xmlns="http://schemas.openxmlformats.org/package/2006/relationships"><Relationship Type="http://schemas.openxmlformats.org/officeDocument/2006/relationships/slideMaster" Target="../slideMasters/slideMaster1.xml" Id="Rd7ca5bc2c8c24770" /></Relationships>
</file>

<file path=ppt/tm_heatmap/slideLayouts/_rels/slideLayout2.xml.rels><?xml version='1.0' encoding='utf-8'?>
<Relationships xmlns="http://schemas.openxmlformats.org/package/2006/relationships"><Relationship Type="http://schemas.openxmlformats.org/officeDocument/2006/relationships/slideMaster" Target="../slideMasters/slideMaster1.xml" Id="R60f1565586a44a46" /></Relationships>
</file>

<file path=ppt/tm_heatmap/slideLayouts/_rels/slideLayout3.xml.rels><?xml version='1.0' encoding='utf-8'?>
<Relationships xmlns="http://schemas.openxmlformats.org/package/2006/relationships"><Relationship Type="http://schemas.openxmlformats.org/officeDocument/2006/relationships/slideMaster" Target="../slideMasters/slideMaster1.xml" Id="Rb34936fb6e074b18" /></Relationships>
</file>

<file path=ppt/tm_heatmap/slideLayouts/_rels/slideLayout4.xml.rels><?xml version='1.0' encoding='utf-8'?>
<Relationships xmlns="http://schemas.openxmlformats.org/package/2006/relationships"><Relationship Type="http://schemas.openxmlformats.org/officeDocument/2006/relationships/slideMaster" Target="../slideMasters/slideMaster1.xml" Id="Rafbc90e034034eac" /></Relationships>
</file>

<file path=ppt/tm_heatmap/slideLayouts/_rels/slideLayout5.xml.rels><?xml version='1.0' encoding='utf-8'?>
<Relationships xmlns="http://schemas.openxmlformats.org/package/2006/relationships"><Relationship Type="http://schemas.openxmlformats.org/officeDocument/2006/relationships/slideMaster" Target="../slideMasters/slideMaster1.xml" Id="R8e3acab836fe4c6a" /></Relationships>
</file>

<file path=ppt/tm_heatmap/slideLayouts/_rels/slideLayout6.xml.rels><?xml version='1.0' encoding='utf-8'?>
<Relationships xmlns="http://schemas.openxmlformats.org/package/2006/relationships"><Relationship Type="http://schemas.openxmlformats.org/officeDocument/2006/relationships/slideMaster" Target="../slideMasters/slideMaster1.xml" Id="R12b739c953744ad5" /></Relationships>
</file>

<file path=ppt/tm_heatmap/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FE6D28-E091-4664-8FAD-D83E3C1C9BA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31729A9-A194-48BE-854F-B113021D795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tm_heatmap/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9801B2F-432D-42F3-9006-EF8BE5CFD40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tm_heatmap/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23067D-9E20-4C1C-93CB-396CB4FA37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745A5B4-0212-4FBD-BD27-89491A54EF4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tm_heatmap/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3A78A6-1B1D-4296-991A-949AA7A16B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055F49B-F282-4317-A8C8-CE37A85BF6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8087AEE-4140-49A6-A1A9-8F85BC52EA6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tm_heatmap/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A564CF-69D2-42F5-9ADA-A32C207C1E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525584-820B-4326-910D-A011C6C0B84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tm_heatmap/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tm_heatmap/slideMasters/_rels/slideMaster1.xml.rels><?xml version='1.0' encoding='utf-8'?>
<Relationships xmlns="http://schemas.openxmlformats.org/package/2006/relationships"><Relationship Type="http://schemas.openxmlformats.org/officeDocument/2006/relationships/theme" Target="theme/theme2.xml" Id="R1e7dad678c0a43fb" /><Relationship Type="http://schemas.openxmlformats.org/officeDocument/2006/relationships/slideLayout" Target="../slideLayouts/slideLayout1.xml" Id="R557a7b5023cc49a4" /><Relationship Type="http://schemas.openxmlformats.org/officeDocument/2006/relationships/slideLayout" Target="../slideLayouts/slideLayout2.xml" Id="Rdfb6fc5324f040ca" /><Relationship Type="http://schemas.openxmlformats.org/officeDocument/2006/relationships/slideLayout" Target="../slideLayouts/slideLayout3.xml" Id="R12e7761e724e42d0" /><Relationship Type="http://schemas.openxmlformats.org/officeDocument/2006/relationships/slideLayout" Target="../slideLayouts/slideLayout4.xml" Id="R89903223c3d54785" /><Relationship Type="http://schemas.openxmlformats.org/officeDocument/2006/relationships/slideLayout" Target="../slideLayouts/slideLayout5.xml" Id="R7b2c3a92e38d4770" /><Relationship Type="http://schemas.openxmlformats.org/officeDocument/2006/relationships/slideLayout" Target="../slideLayouts/slideLayout6.xml" Id="R5485d0973f7e4d73" /></Relationships>
</file>

<file path=ppt/tm_heatmap/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7a7b5023cc49a4"/>
    <p:sldLayoutId xmlns:r="http://schemas.openxmlformats.org/officeDocument/2006/relationships" id="2147483650" r:id="Rdfb6fc5324f040ca"/>
    <p:sldLayoutId xmlns:r="http://schemas.openxmlformats.org/officeDocument/2006/relationships" id="2147483651" r:id="R12e7761e724e42d0"/>
    <p:sldLayoutId xmlns:r="http://schemas.openxmlformats.org/officeDocument/2006/relationships" id="2147483652" r:id="R89903223c3d54785"/>
    <p:sldLayoutId xmlns:r="http://schemas.openxmlformats.org/officeDocument/2006/relationships" id="2147483653" r:id="R7b2c3a92e38d4770"/>
    <p:sldLayoutId xmlns:r="http://schemas.openxmlformats.org/officeDocument/2006/relationships" id="2147483654" r:id="R5485d0973f7e4d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tm_heatmap/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2_workflow-pptx-rk60sles/notesMasters/_rels/notesMaster1.xml.rels><?xml version='1.0' encoding='utf-8'?>
<Relationships xmlns="http://schemas.openxmlformats.org/package/2006/relationships"><Relationship Type="http://schemas.openxmlformats.org/officeDocument/2006/relationships/theme" Target="theme/theme3.xml" Id="Rb215050c620b47ac" /></Relationships>
</file>

<file path=ppt/workflow_addition_12_workflow-pptx-rk60sles/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workflow_addition_12_workflow-pptx-rk60sles/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2_workflow-pptx-rk60sles/notesSlides/_rels/notesSlide1.xml.rels><?xml version='1.0' encoding='utf-8'?>
<Relationships xmlns="http://schemas.openxmlformats.org/package/2006/relationships"><Relationship Type="http://schemas.openxmlformats.org/officeDocument/2006/relationships/slide" Target="../../slides/slide13.xml" Id="R5ff3ad2dce314de9" /><Relationship Type="http://schemas.openxmlformats.org/officeDocument/2006/relationships/notesMaster" Target="../notesMasters/notesMaster1.xml" Id="R7fb655aecbfc428f" /></Relationships>
</file>

<file path=ppt/workflow_addition_12_workflow-pptx-rk60sles/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{"ensemble_panels":[{"image":"[private source path] C1.1","crop":{"left":0.2788888888888889,"top":0.2290909090909091,"right":0.20388888888888893,"bottom":0.2563636363636364},"display_width":930.9999999999999,"display_height":565.9999999999999,"cluster_label":"C1.1","selected_count":5},{"image":"[private source path] C1.2","crop":{"left":0.2788888888888889,"top":0.2290909090909091,"right":0.20388888888888893,"bottom":0.2563636363636364},"display_width":930.9999999999999,"display_height":565.9999999999999,"cluster_label":"C1.2","selected_count":5},{"image":"[private source path] C1.3","crop":{"left":0.2788888888888889,"top":0.2290909090909091,"right":0.20388888888888893,"bottom":0.2563636363636364},"display_width":930.9999999999999,"display_height":565.9999999999999,"cluster_label":"C1.3","selected_count":1}],"caption":"Figure 12. Cluster ensembles (up to 5 models each), aligned to each full-cluster Cα RMSD medoid. Eligible models ranked by &lt;pLDDT&gt;; representative selection follows the recorded source scope."}</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workflow_addition_12_workflow-pptx-rk60sles/slideLayouts/_rels/slideLayout1.xml.rels><?xml version='1.0' encoding='utf-8'?>
<Relationships xmlns="http://schemas.openxmlformats.org/package/2006/relationships"><Relationship Type="http://schemas.openxmlformats.org/officeDocument/2006/relationships/slideMaster" Target="../slideMasters/slideMaster1.xml" Id="R031a74dd1cad4476" /></Relationships>
</file>

<file path=ppt/workflow_addition_12_workflow-pptx-rk60sles/slideLayouts/_rels/slideLayout2.xml.rels><?xml version='1.0' encoding='utf-8'?>
<Relationships xmlns="http://schemas.openxmlformats.org/package/2006/relationships"><Relationship Type="http://schemas.openxmlformats.org/officeDocument/2006/relationships/slideMaster" Target="../slideMasters/slideMaster1.xml" Id="Ra012e2dc4b024652" /></Relationships>
</file>

<file path=ppt/workflow_addition_12_workflow-pptx-rk60sles/slideLayouts/_rels/slideLayout3.xml.rels><?xml version='1.0' encoding='utf-8'?>
<Relationships xmlns="http://schemas.openxmlformats.org/package/2006/relationships"><Relationship Type="http://schemas.openxmlformats.org/officeDocument/2006/relationships/slideMaster" Target="../slideMasters/slideMaster1.xml" Id="R470c6c2a7a684c89" /></Relationships>
</file>

<file path=ppt/workflow_addition_12_workflow-pptx-rk60sles/slideLayouts/_rels/slideLayout4.xml.rels><?xml version='1.0' encoding='utf-8'?>
<Relationships xmlns="http://schemas.openxmlformats.org/package/2006/relationships"><Relationship Type="http://schemas.openxmlformats.org/officeDocument/2006/relationships/slideMaster" Target="../slideMasters/slideMaster1.xml" Id="R132ddd5fa7b64d08" /></Relationships>
</file>

<file path=ppt/workflow_addition_12_workflow-pptx-rk60sles/slideLayouts/_rels/slideLayout5.xml.rels><?xml version='1.0' encoding='utf-8'?>
<Relationships xmlns="http://schemas.openxmlformats.org/package/2006/relationships"><Relationship Type="http://schemas.openxmlformats.org/officeDocument/2006/relationships/slideMaster" Target="../slideMasters/slideMaster1.xml" Id="R711307516c4243e8" /></Relationships>
</file>

<file path=ppt/workflow_addition_12_workflow-pptx-rk60sles/slideLayouts/_rels/slideLayout6.xml.rels><?xml version='1.0' encoding='utf-8'?>
<Relationships xmlns="http://schemas.openxmlformats.org/package/2006/relationships"><Relationship Type="http://schemas.openxmlformats.org/officeDocument/2006/relationships/slideMaster" Target="../slideMasters/slideMaster1.xml" Id="Rdd8c1d8f341c4550" /></Relationships>
</file>

<file path=ppt/workflow_addition_12_workflow-pptx-rk60sles/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64C9E3-6EAF-49BE-8DA9-E7D93D994AA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60FC9C8-D8B2-49AA-B39C-96F6E9E99CA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workflow_addition_12_workflow-pptx-rk60sles/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AE11C46-01DB-4F1F-87E3-924FC975825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workflow_addition_12_workflow-pptx-rk60sles/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A37605-F05A-4DCD-A5FF-55B0D8247E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7228676-0CDF-4A1F-97B8-4A1A2231DF9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2_workflow-pptx-rk60sles/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828B3A3-887F-4255-B336-7AF63C49B8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776AC99-B6E5-4A9A-88D9-A2BB078A9E6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EE939E3-9E1C-4DBA-A8AA-16F2CDCB86F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workflow_addition_12_workflow-pptx-rk60sles/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5087F0-65E1-44E2-B0C3-891288C5A4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49C3F1-8E2C-486E-855A-FE0F8F0AA6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2_workflow-pptx-rk60sles/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workflow_addition_12_workflow-pptx-rk60sles/slideMasters/_rels/slideMaster1.xml.rels><?xml version='1.0' encoding='utf-8'?>
<Relationships xmlns="http://schemas.openxmlformats.org/package/2006/relationships"><Relationship Type="http://schemas.openxmlformats.org/officeDocument/2006/relationships/theme" Target="theme/theme2.xml" Id="R4de56de0fce5481e" /><Relationship Type="http://schemas.openxmlformats.org/officeDocument/2006/relationships/slideLayout" Target="../slideLayouts/slideLayout1.xml" Id="R35280cd1d3924029" /><Relationship Type="http://schemas.openxmlformats.org/officeDocument/2006/relationships/slideLayout" Target="../slideLayouts/slideLayout2.xml" Id="R6e19039463bd4d1e" /><Relationship Type="http://schemas.openxmlformats.org/officeDocument/2006/relationships/slideLayout" Target="../slideLayouts/slideLayout3.xml" Id="Rf01e765811c24f7b" /><Relationship Type="http://schemas.openxmlformats.org/officeDocument/2006/relationships/slideLayout" Target="../slideLayouts/slideLayout4.xml" Id="Re1dd658cd6ee4a97" /><Relationship Type="http://schemas.openxmlformats.org/officeDocument/2006/relationships/slideLayout" Target="../slideLayouts/slideLayout5.xml" Id="Rfcd62a0a222d4ae1" /><Relationship Type="http://schemas.openxmlformats.org/officeDocument/2006/relationships/slideLayout" Target="../slideLayouts/slideLayout6.xml" Id="Rb0fd9ae7314f4a2e" /></Relationships>
</file>

<file path=ppt/workflow_addition_12_workflow-pptx-rk60sles/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280cd1d3924029"/>
    <p:sldLayoutId xmlns:r="http://schemas.openxmlformats.org/officeDocument/2006/relationships" id="2147483650" r:id="R6e19039463bd4d1e"/>
    <p:sldLayoutId xmlns:r="http://schemas.openxmlformats.org/officeDocument/2006/relationships" id="2147483651" r:id="Rf01e765811c24f7b"/>
    <p:sldLayoutId xmlns:r="http://schemas.openxmlformats.org/officeDocument/2006/relationships" id="2147483652" r:id="Re1dd658cd6ee4a97"/>
    <p:sldLayoutId xmlns:r="http://schemas.openxmlformats.org/officeDocument/2006/relationships" id="2147483653" r:id="Rfcd62a0a222d4ae1"/>
    <p:sldLayoutId xmlns:r="http://schemas.openxmlformats.org/officeDocument/2006/relationships" id="2147483654" r:id="Rb0fd9ae7314f4a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workflow_addition_12_workflow-pptx-rk60sles/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3_workflow-pptx-rk60sles/notesMasters/_rels/notesMaster1.xml.rels><?xml version='1.0' encoding='utf-8'?>
<Relationships xmlns="http://schemas.openxmlformats.org/package/2006/relationships"><Relationship Type="http://schemas.openxmlformats.org/officeDocument/2006/relationships/theme" Target="theme/theme3.xml" Id="R592c6664bc6d471f" /></Relationships>
</file>

<file path=ppt/workflow_addition_13_workflow-pptx-rk60sles/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workflow_addition_13_workflow-pptx-rk60sles/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3_workflow-pptx-rk60sles/notesSlides/_rels/notesSlide1.xml.rels><?xml version='1.0' encoding='utf-8'?>
<Relationships xmlns="http://schemas.openxmlformats.org/package/2006/relationships"><Relationship Type="http://schemas.openxmlformats.org/officeDocument/2006/relationships/slide" Target="../../slides/slide14.xml" Id="R98cd6116ec97473f" /><Relationship Type="http://schemas.openxmlformats.org/officeDocument/2006/relationships/notesMaster" Target="../notesMasters/notesMaster1.xml" Id="R087be1b1a4d74db2" /></Relationships>
</file>

<file path=ppt/workflow_addition_13_workflow-pptx-rk60sles/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confidence_grid":{"metric":"mean_plddt","metric_label":"&lt;pLDDT&gt;","y_bounds":[50,100],"major_unit":5,"violin_series":[{"cluster_label":"C1.1","color":"#1f77b4","x":[-0.0004516678897156707,-0.000485861265656241,-0.0004986399802868758,-0.0004992268286926909,-0.0005001878583566815,-0.0005118541290435943,-0.0005386239824800571,-0.0005792681485723076,-0.0006307025724906168,-0.000692408743749687,-0.0007684095742066285,-0.0008656136182455527,-0.0009899606802062312,-0.0011431659730969036,-0.0013220106592046388,-0.0015198653433228162,-0.001728388730324613,-0.0019376277584991655,-0.002134869523363995,-0.0023046928113665756,-0.0024326481044367413,-0.002512395839550279,-0.002552786428589114,-0.0025800911858494518,-0.00263282555620165,-0.0027510193892134652,-0.0029652297670741345,-0.0032905627945545453,-0.003727545164303969,-0.0042673559730289825,-0.004896705253529901,-0.005598958802794517,-0.006351913553653468,-0.007126151739239089,-0.007888489047094332,-0.008611920662725826,-0.009288412338035994,-0.009937229422541723,-0.010602207337053091,-0.011336920177451935,-0.012184055690562539,-0.013159172153147932,-0.014245740994120093,-0.015399963824047022,-0.016557669275993236,-0.017638043434185083,-0.018548083621068603,-0.019197379915093262,-0.019526664493391143,-0.019538921868379383,-0.019312649908171782,-0.018984206760790785,-0.018706226427851195,-0.018605355009756998,-0.018761129651769883,-0.01921032385850074,-0.019962800920650666,-0.02101054421573034,-0.022322713648392816,-0.02383513828723464,-0.02544948175830772,-0.027051011232540955,-0.02854071063399023,-0.02986772645570079,-0.031047770485226008,-0.032160102019153376,-0.03332344610010001,-0.03465532136601688,-0.03622157643156452,-0.03798821346844812,-0.039795735371866314,-0.04137868963671772,-0.0424394191071433,-0.04275602873004427,-0.04227763400259034,-0.04115772847818478,-0.039706236601655384,-0.03828450605687192,-0.03719501917791689,-0.03661193749400567,-0.03656903982419435,-0.03699297058804623,-0.037759645586767546,-0.03875857208648671,-0.03995989118150785,-0.041481152239074136,-0.043644863743108615,-0.047010998391901246,-0.05236876447911111,-0.060682798926060856,-0.07300696009453779,-0.09039149277842902,-0.1137991090734742,-0.14400563732229962,-0.18141409579999723,-0.2257102639837872,-0.2753796421064684,-0.3272714304160336,-0.37652496849915223,-0.417127587363143,-0.4431060507622101,-0.44999999999999996,-0.43606344380016854,-0.40274123793880134,-0.35430295676408463,-0.296860123861694,-0.23715649723378462,-0.18148455865167368,-0.1349455949161251,-0.10112844571527066,-0.08215704656069425,-0.078947405710936,-0.09144922223521088,-0.11867758436585697,-0.15848602335171,-0.20724361236194733,-0.25974683587539876,-0.3097031443776407,-0.3509041630744769,-0.37881311461436107,-0.39190903513547815,-0.3920230427782983,-0.38325762268100544,-0.3698271090086555,-0.3538946028940008,-0.3346634917639812,-0.309334804243364,-0.2753857881960634,0.2753857881960634,0.309334804243364,0.3346634917639812,0.3538946028940008,0.3698271090086555,0.38325762268100544,0.3920230427782983,0.39190903513547815,0.37881311461436107,0.3509041630744769,0.3097031443776407,0.25974683587539876,0.20724361236194733,0.15848602335171,0.11867758436585697,0.09144922223521088,0.078947405710936,0.08215704656069425,0.10112844571527066,0.1349455949161251,0.18148455865167368,0.23715649723378462,0.296860123861694,0.35430295676408463,0.40274123793880134,0.43606344380016854,0.44999999999999996,0.4431060507622101,0.417127587363143,0.37652496849915223,0.3272714304160336,0.2753796421064684,0.2257102639837872,0.18141409579999723,0.14400563732229962,0.1137991090734742,0.09039149277842902,0.07300696009453779,0.060682798926060856,0.05236876447911111,0.047010998391901246,0.043644863743108615,0.041481152239074136,0.03995989118150785,0.03875857208648671,0.037759645586767546,0.03699297058804623,0.03656903982419435,0.03661193749400567,0.03719501917791689,0.03828450605687192,0.039706236601655384,0.04115772847818478,0.04227763400259034,0.04275602873004427,0.0424394191071433,0.04137868963671772,0.039795735371866314,0.03798821346844812,0.03622157643156452,0.03465532136601688,0.03332344610010001,0.032160102019153376,0.031047770485226008,0.02986772645570079,0.02854071063399023,0.027051011232540955,0.02544948175830772,0.02383513828723464,0.022322713648392816,0.02101054421573034,0.019962800920650666,0.01921032385850074,0.018761129651769883,0.018605355009756998,0.018706226427851195,0.018984206760790785,0.019312649908171782,0.019538921868379383,0.019526664493391143,0.019197379915093262,0.018548083621068603,0.017638043434185083,0.016557669275993236,0.015399963824047022,0.014245740994120093,0.013159172153147932,0.012184055690562539,0.011336920177451935,0.010602207337053091,0.009937229422541723,0.009288412338035994,0.008611920662725826,0.007888489047094332,0.007126151739239089,0.006351913553653468,0.005598958802794517,0.004896705253529901,0.0042673559730289825,0.003727545164303969,0.0032905627945545453,0.0029652297670741345,0.0027510193892134652,0.00263282555620165,0.0025800911858494518,0.002552786428589114,0.002512395839550279,0.0024326481044367413,0.0023046928113665756,0.002134869523363995,0.0019376277584991655,0.001728388730324613,0.0015198653433228162,0.0013220106592046388,0.0011431659730969036,0.0009899606802062312,0.0008656136182455527,0.0007684095742066285,0.000692408743749687,0.0006307025724906168,0.0005792681485723076,0.0005386239824800571,0.0005118541290435943,0.0005001878583566815,0.0004992268286926909,0.0004986399802868758,0.000485861265656241,0.0004516678897156707,-0.0004516678897156707],"y":[51.96931297709924,52.335511672092245,52.701710367085255,53.06790906207826,53.43410775707127,53.80030645206427,54.16650514705728,54.53270384205028,54.898902537043284,55.265101232036294,55.631299927029296,55.997498622022306,56.36369731701531,56.72989601200831,57.09609470700132,57.46229340199432,57.82849209698733,58.194690791980335,58.56088948697334,58.92708818196635,59.29328687695935,59.65948557195236,60.02568426694536,60.391882961938364,60.758081656931374,61.12428035192438,61.490479046917386,61.85667774191039,62.22287643690339,62.5890751318964,62.95527382688941,63.32147252188241,63.687671216875415,64.05386991186842,64.42006860686143,64.78626730185444,65.15246599684744,65.51866469184044,65.88486338683344,66.25106208182646,66.61726077681946,66.98345947181247,67.34965816680547,67.71585686179847,68.08205555679149,68.44825425178449,68.8144529467775,69.1806516417705,69.5468503367635,69.91304903175651,70.27924772674952,70.64544642174252,71.01164511673552,71.37784381172852,71.74404250672154,72.11024120171454,72.47643989670755,72.84263859170055,73.20883728669355,73.57503598168657,73.94123467667957,74.30743337167257,74.67363206666558,75.03983076165858,75.4060294566516,75.7722281516446,76.1384268466376,76.5046255416306,76.8708242366236,77.23702293161662,77.60322162660962,77.96942032160263,78.33561901659564,78.70181771158863,79.06801640658165,79.43421510157465,79.80041379656765,80.16661249156067,80.53281118655367,80.89900988154668,81.26520857653968,81.63140727153268,81.9976059665257,82.3638046615187,82.7300033565117,83.0962020515047,83.4624007464977,83.82859944149072,84.19479813648371,84.56099683147673,84.92719552646973,85.29339422146273,85.65959291645575,86.02579161144875,86.39199030644176,86.75818900143476,87.12438769642776,87.49058639142078,87.85678508641378,88.22298378140678,88.58918247639978,88.95538117139279,89.3215798663858,89.6877785613788,90.05397725637181,90.42017595136481,90.78637464635781,91.15257334135083,91.51877203634383,91.88497073133684,92.25116942632985,92.61736812132284,92.98356681631586,93.34976551130886,93.71596420630186,94.08216290129488,94.44836159628787,94.81456029128088,95.18075898627389,95.54695768126689,95.9131563762599,96.2793550712529,96.64555376624591,97.01175246123891,97.37795115623192,97.74414985122493,98.11034854621792,98.47654724121094,98.47654724121094,98.11034854621792,97.74414985122493,97.37795115623192,97.01175246123891,96.64555376624591,96.2793550712529,95.9131563762599,95.54695768126689,95.18075898627389,94.81456029128088,94.44836159628787,94.08216290129488,93.71596420630186,93.34976551130886,92.98356681631586,92.61736812132284,92.25116942632985,91.88497073133684,91.51877203634383,91.15257334135083,90.78637464635781,90.42017595136481,90.05397725637181,89.6877785613788,89.3215798663858,88.95538117139279,88.58918247639978,88.22298378140678,87.85678508641378,87.49058639142078,87.12438769642776,86.75818900143476,86.39199030644176,86.02579161144875,85.65959291645575,85.29339422146273,84.92719552646973,84.56099683147673,84.19479813648371,83.82859944149072,83.4624007464977,83.0962020515047,82.7300033565117,82.3638046615187,81.9976059665257,81.63140727153268,81.26520857653968,80.89900988154668,80.53281118655367,80.16661249156067,79.80041379656765,79.43421510157465,79.06801640658165,78.70181771158863,78.33561901659564,77.96942032160263,77.60322162660962,77.23702293161662,76.8708242366236,76.5046255416306,76.1384268466376,75.7722281516446,75.4060294566516,75.03983076165858,74.67363206666558,74.30743337167257,73.94123467667957,73.57503598168657,73.20883728669355,72.84263859170055,72.47643989670755,72.11024120171454,71.74404250672154,71.37784381172852,71.01164511673552,70.64544642174252,70.27924772674952,69.91304903175651,69.5468503367635,69.1806516417705,68.8144529467775,68.44825425178449,68.08205555679149,67.71585686179847,67.34965816680547,66.98345947181247,66.61726077681946,66.25106208182646,65.88486338683344,65.51866469184044,65.15246599684744,64.78626730185444,64.42006860686143,64.05386991186842,63.687671216875415,63.32147252188241,62.95527382688941,62.5890751318964,62.22287643690339,61.85667774191039,61.490479046917386,61.12428035192438,60.758081656931374,60.391882961938364,60.02568426694536,59.65948557195236,59.29328687695935,58.92708818196635,58.56088948697334,58.194690791980335,57.82849209698733,57.46229340199432,57.09609470700132,56.72989601200831,56.36369731701531,55.997498622022306,55.631299927029296,55.265101232036294,54.898902537043284,54.53270384205028,54.16650514705728,53.80030645206427,53.43410775707127,53.06790906207826,52.701710367085255,52.335511672092245,51.96931297709924,51.96931297709924],"scored_count":6711,"cluster_size":8651},{"cluster_label":"C1.2","color":"#ff7f0e","x":[0.6455647007750721,0.6316104768828691,0.6184048563868498,0.6060667852436825,0.594710383719043,0.5844432013803604,0.5753645287996734,0.5675638028439578,0.5611191412778931,0.5560960402266604,0.5525462648834003,0.5505069597721213,0.55,0.5510315993913335,0.5535921853520328,0.5576565439512025,0.563184232220372,0.570120248261903,0.5783959436244381,0.5879301567333861,0.5986305411299819,0.6103950580216675,0.6231135992987726,0.6366697048146874,0.6509423364098027,0.6658076708980623,0.6811408750071271,0.6968178270122154,0.7127167524422464,0.7287197446498586,0.7447141450880705,0.7605937626736144,0.7762599164791462,0.7916222910191812,0.8065995984173794,0.8211200466137384,0.8351216173522719,0.8485521618639187,0.8613693258282779,0.8735403182880375,0.8850415416524464,0.895858101736804,0.9059832179430503,0.9154175542129409,0.9241684913203605,0.932249360468757,0.9396786570920712,0.9464792523000584,0.9526776176437292,0.9583030768879424,0.9633870963480791,0.967962623154408,0.9720634786224237,0.9757238117930457,0.9789776162161088,0.981858311226872,0.984398387340163,0.9866291139818665,0.9885803066043741,0.9902801492939894,0.9917550682690157,0.9930296511755592,0.9941266067970606,0.9950667596824242,0.9958690742430201,0.9965507030461592,0.9971270543169719,0.9976118740277312,0.9980173383807432,0.9983541529571289,0.9986316552906664,0.9988579181174829,0.9990398510355575,0.9991832987721593,0.9992931346943955,0.9993733486021461,0.9994271282099316,0.9994569340524914,0.9994645678371101,0.9994512345141243,0.9994175985463266,0.9993638350293449,0.9992896764498832,0.999194455968334,0.9990771481779835,0.9989364083259054,0.9987706109815649,0.9985778891088791,0.998356174436657,0.9981032399317238,0.9978167450595231,0.9974942843699172,0.9971334397730985,0.9967318366745517,0.9962872039222403,0.9957974372879946,0.9952606659637754,0.9946753213084363,0.994040206839085,0.9933545682312389,0.9926181618823593,0.9918313204130602,0.990995013338287,0.9901109010456933,0.9891813801780873,0.9882096185377465,0.9871995777175151,0.9861560218197679,0.9850845108499905,0.983991377664758,0.9828836877092942,0.9817691811897812,0.980656197779643,0.9795535844441007,0.978470587468233,0.9774167302737982,0.9764016790913228,0.9754350989983444,0.9745265032244361,0.9736850989422937,0.9729196329971442,0.9722382411622367,0.971648304537628,0.9711563166281396,0.9707677644436135,0.9704870266640765,0.9703172915120446,0.970260496485832,1.0297395035141679,1.0296827084879554,1.0295129733359234,1.0292322355563865,1.0288436833718604,1.0283516954623722,1.0277617588377634,1.0270803670028559,1.0263149010577064,1.0254734967755639,1.0245649010016555,1.0235983209086772,1.0225832697262018,1.021529412531767,1.0204464155558994,1.019343802220357,1.018230818810219,1.0171163122907056,1.016008622335242,1.0149154891500096,1.0138439781802322,1.012800422282485,1.0117903814622535,1.0108186198219127,1.0098890989543068,1.009004986661713,1.0081686795869398,1.0073818381176407,1.006645431768761,1.005959793160915,1.0053246786915637,1.0047393340362245,1.0042025627120053,1.0037127960777597,1.0032681633254483,1.0028665602269016,1.0025057156300827,1.0021832549404768,1.0018967600682762,1.0016438255633429,1.0014221108911208,1.001229389018435,1.0010635916740946,1.0009228518220166,1.0008055440316659,1.0007103235501167,1.000636164970655,1.0005824014536735,1.0005487654858756,1.0005354321628899,1.0005430659475085,1.0005728717900684,1.000626651397854,1.0007068653056044,1.0008167012278408,1.0009601489644424,1.0011420818825172,1.0013683447093336,1.001645847042871,1.0019826616192569,1.0023881259722687,1.002872945683028,1.0034492969538409,1.00413092575698,1.0049332403175757,1.0058733932029393,1.0069703488244408,1.0082449317309843,1.0097198507060106,1.0114196933956259,1.0133708860181336,1.015601612659837,1.018141688773128,1.0210223837838912,1.0242761882069544,1.0279365213775764,1.0320373768455922,1.036612903651921,1.0416969231120576,1.0473223823562707,1.0535207476999418,1.0603213429079288,1.067750639531243,1.0758315086796395,1.084582445787059,1.0940167820569497,1.104141898263196,1.1149584583475536,1.1264596817119625,1.138630674171722,1.1514478381360813,1.164878382647728,1.1788799533862615,1.1934004015826207,1.2083777089808188,1.2237400835208538,1.2394062373263854,1.2552858549119295,1.2712802553501414,1.2872832475577536,1.3031821729877846,1.318859124992873,1.3341923291019377,1.3490576635901972,1.3633302951853126,1.3768864007012274,1.3896049419783325,1.401369458870018,1.4120698432666139,1.4216040563755619,1.429879751738097,1.436815767779628,1.4423434560487975,1.446407814647967,1.4489684006086665,1.45,1.4494930402278787,1.4474537351165997,1.4439039597733396,1.438880858722107,1.4324361971560422,1.4246354712003266,1.4155567986196396,1.4052896162809572,1.3939332147563175,1.3815951436131502,1.368389523117131,1.354435299224928,0.6455647007750721],"y":[87.83575250398161,87.90619754205157,87.97664258012153,88.04708761819151,88.11753265626147,88.18797769433144,88.2584227324014,88.32886777047136,88.39931280854134,88.4697578466113,88.54020288468126,88.61064792275123,88.68109296082119,88.75153799889115,88.82198303696113,88.89242807503109,88.96287311310105,89.03331815117102,89.10376318924098,89.17420822731096,89.24465326538092,89.31509830345088,89.38554334152084,89.4559883795908,89.52643341766078,89.59687845573075,89.66732349380071,89.73776853187067,89.80821356994063,89.8786586080106,89.94910364608057,90.01954868415054,90.0899937222205,90.16043876029046,90.23088379836042,90.3013288364304,90.37177387450036,90.44221891257033,90.51266395064029,90.58310898871025,90.65355402678023,90.72399906485019,90.79444410292015,90.86488914099012,90.93533417906008,91.00577921713005,91.07622425520002,91.14666929326998,91.21711433133994,91.2875593694099,91.35800440747987,91.42844944554984,91.49889448361981,91.56933952168977,91.63978455975973,91.7102295978297,91.78067463589967,91.85111967396963,91.9215647120396,91.99200975010956,92.06245478817952,92.1328998262495,92.20334486431946,92.27378990238942,92.34423494045939,92.41467997852935,92.48512501659931,92.55557005466929,92.62601509273925,92.69646013080921,92.76690516887918,92.83735020694914,92.90779524501912,92.97824028308908,93.04868532115904,93.119130359229,93.18957539729897,93.26002043536894,93.3304654734389,93.40091051150887,93.47135554957883,93.5418005876488,93.61224562571877,93.68269066378873,93.7531357018587,93.82358073992866,93.89402577799862,93.9644708160686,94.03491585413856,94.10536089220852,94.17580593027849,94.24625096834845,94.31669600641841,94.38714104448839,94.45758608255835,94.52803112062831,94.59847615869828,94.66892119676824,94.73936623483822,94.80981127290818,94.88025631097814,94.9507013490481,95.02114638711807,95.09159142518803,95.162036463258,95.23248150132797,95.30292653939793,95.37337157746789,95.44381661553786,95.51426165360783,95.5847066916778,95.65515172974776,95.72559676781772,95.79604180588768,95.86648684395766,95.93693188202762,96.00737692009758,96.07782195816755,96.14826699623751,96.21871203430749,96.28915707237745,96.35960211044741,96.43004714851737,96.50049218658734,96.57093722465731,96.64138226272728,96.71182730079724,96.7822723388672,96.7822723388672,96.71182730079724,96.64138226272728,96.57093722465731,96.50049218658734,96.43004714851737,96.35960211044741,96.28915707237745,96.21871203430749,96.14826699623751,96.07782195816755,96.00737692009758,95.93693188202762,95.86648684395766,95.79604180588768,95.72559676781772,95.65515172974776,95.5847066916778,95.51426165360783,95.44381661553786,95.37337157746789,95.30292653939793,95.23248150132797,95.162036463258,95.09159142518803,95.02114638711807,94.9507013490481,94.88025631097814,94.80981127290818,94.73936623483822,94.66892119676824,94.59847615869828,94.52803112062831,94.45758608255835,94.38714104448839,94.31669600641841,94.24625096834845,94.17580593027849,94.10536089220852,94.03491585413856,93.9644708160686,93.89402577799862,93.82358073992866,93.7531357018587,93.68269066378873,93.61224562571877,93.5418005876488,93.47135554957883,93.40091051150887,93.3304654734389,93.26002043536894,93.18957539729897,93.119130359229,93.04868532115904,92.97824028308908,92.90779524501912,92.83735020694914,92.76690516887918,92.69646013080921,92.62601509273925,92.55557005466929,92.48512501659931,92.41467997852935,92.34423494045939,92.27378990238942,92.20334486431946,92.1328998262495,92.06245478817952,91.99200975010956,91.9215647120396,91.85111967396963,91.78067463589967,91.7102295978297,91.63978455975973,91.56933952168977,91.49889448361981,91.42844944554984,91.35800440747987,91.2875593694099,91.21711433133994,91.14666929326998,91.07622425520002,91.00577921713005,90.93533417906008,90.86488914099012,90.79444410292015,90.72399906485019,90.65355402678023,90.58310898871025,90.51266395064029,90.44221891257033,90.37177387450036,90.3013288364304,90.23088379836042,90.16043876029046,90.0899937222205,90.01954868415054,89.94910364608057,89.8786586080106,89.80821356994063,89.73776853187067,89.66732349380071,89.59687845573075,89.52643341766078,89.4559883795908,89.38554334152084,89.31509830345088,89.24465326538092,89.17420822731096,89.10376318924098,89.03331815117102,88.96287311310105,88.89242807503109,88.82198303696113,88.75153799889115,88.68109296082119,88.61064792275123,88.54020288468126,88.4697578466113,88.39931280854134,88.32886777047136,88.2584227324014,88.18797769433144,88.11753265626147,88.04708761819151,87.97664258012153,87.90619754205157,87.83575250398161,87.83575250398161],"scored_count":17,"cluster_size":17},{"cluster_label":"C1.3","color":"#2ca02c","x":[1.55,2.45],"y":[91.44469499588013,91.44469499588013],"scored_count":1,"cluster_size":1}],"selected":[{"model":"CmR116_bmr17022__AlphaFlowMD__0044","source_path":"[private source path] 13. Cluster confidence distributions. Colored outlines show eligible cluster members with confidence scores; black dots mark the displayed models. Eligible models ranked by &lt;pLDDT&gt;; representative selection follows the recorded source scope."}</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workflow_addition_13_workflow-pptx-rk60sles/slideLayouts/_rels/slideLayout1.xml.rels><?xml version='1.0' encoding='utf-8'?>
<Relationships xmlns="http://schemas.openxmlformats.org/package/2006/relationships"><Relationship Type="http://schemas.openxmlformats.org/officeDocument/2006/relationships/slideMaster" Target="../slideMasters/slideMaster1.xml" Id="Rf2f715e9da4c45b6" /></Relationships>
</file>

<file path=ppt/workflow_addition_13_workflow-pptx-rk60sles/slideLayouts/_rels/slideLayout2.xml.rels><?xml version='1.0' encoding='utf-8'?>
<Relationships xmlns="http://schemas.openxmlformats.org/package/2006/relationships"><Relationship Type="http://schemas.openxmlformats.org/officeDocument/2006/relationships/slideMaster" Target="../slideMasters/slideMaster1.xml" Id="R546df4848b914a7b" /></Relationships>
</file>

<file path=ppt/workflow_addition_13_workflow-pptx-rk60sles/slideLayouts/_rels/slideLayout3.xml.rels><?xml version='1.0' encoding='utf-8'?>
<Relationships xmlns="http://schemas.openxmlformats.org/package/2006/relationships"><Relationship Type="http://schemas.openxmlformats.org/officeDocument/2006/relationships/slideMaster" Target="../slideMasters/slideMaster1.xml" Id="Rbf0a269ac10f41bb" /></Relationships>
</file>

<file path=ppt/workflow_addition_13_workflow-pptx-rk60sles/slideLayouts/_rels/slideLayout4.xml.rels><?xml version='1.0' encoding='utf-8'?>
<Relationships xmlns="http://schemas.openxmlformats.org/package/2006/relationships"><Relationship Type="http://schemas.openxmlformats.org/officeDocument/2006/relationships/slideMaster" Target="../slideMasters/slideMaster1.xml" Id="Rfb92709604d6451a" /></Relationships>
</file>

<file path=ppt/workflow_addition_13_workflow-pptx-rk60sles/slideLayouts/_rels/slideLayout5.xml.rels><?xml version='1.0' encoding='utf-8'?>
<Relationships xmlns="http://schemas.openxmlformats.org/package/2006/relationships"><Relationship Type="http://schemas.openxmlformats.org/officeDocument/2006/relationships/slideMaster" Target="../slideMasters/slideMaster1.xml" Id="R255129d3d08a4b63" /></Relationships>
</file>

<file path=ppt/workflow_addition_13_workflow-pptx-rk60sles/slideLayouts/_rels/slideLayout6.xml.rels><?xml version='1.0' encoding='utf-8'?>
<Relationships xmlns="http://schemas.openxmlformats.org/package/2006/relationships"><Relationship Type="http://schemas.openxmlformats.org/officeDocument/2006/relationships/slideMaster" Target="../slideMasters/slideMaster1.xml" Id="R8c7da27477b84651" /></Relationships>
</file>

<file path=ppt/workflow_addition_13_workflow-pptx-rk60sles/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ECD80B-FD3D-400F-A740-9DA69C14818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C067BCE-3703-40D4-8AFB-2A928C05603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workflow_addition_13_workflow-pptx-rk60sles/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FD77DB5-60C7-411C-BCD7-DB80492D69D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workflow_addition_13_workflow-pptx-rk60sles/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9C6BE8-E0D0-4599-A9A3-8F9F43191B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9B9890E-0458-4B81-A739-E84D7B895B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3_workflow-pptx-rk60sles/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32EF4AD-C414-4B6E-92AD-DB4D16DFB2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5903CA6-4837-41FF-8F90-525166076A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9ACF883-F913-4C0F-B964-D57C4BDD376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workflow_addition_13_workflow-pptx-rk60sles/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9FEBEC3-1927-4889-84E7-B93C24D00C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1364111-A6C4-4732-BAC5-0C5C911D695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3_workflow-pptx-rk60sles/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workflow_addition_13_workflow-pptx-rk60sles/slideMasters/_rels/slideMaster1.xml.rels><?xml version='1.0' encoding='utf-8'?>
<Relationships xmlns="http://schemas.openxmlformats.org/package/2006/relationships"><Relationship Type="http://schemas.openxmlformats.org/officeDocument/2006/relationships/theme" Target="theme/theme2.xml" Id="R7b609d8e66df4c1d" /><Relationship Type="http://schemas.openxmlformats.org/officeDocument/2006/relationships/slideLayout" Target="../slideLayouts/slideLayout1.xml" Id="Re32f99634ab34498" /><Relationship Type="http://schemas.openxmlformats.org/officeDocument/2006/relationships/slideLayout" Target="../slideLayouts/slideLayout2.xml" Id="R128f2d37371e4279" /><Relationship Type="http://schemas.openxmlformats.org/officeDocument/2006/relationships/slideLayout" Target="../slideLayouts/slideLayout3.xml" Id="R804a7e1b52b540a1" /><Relationship Type="http://schemas.openxmlformats.org/officeDocument/2006/relationships/slideLayout" Target="../slideLayouts/slideLayout4.xml" Id="R934b833608304d00" /><Relationship Type="http://schemas.openxmlformats.org/officeDocument/2006/relationships/slideLayout" Target="../slideLayouts/slideLayout5.xml" Id="Rdc82d5a398c74281" /><Relationship Type="http://schemas.openxmlformats.org/officeDocument/2006/relationships/slideLayout" Target="../slideLayouts/slideLayout6.xml" Id="R733bfe974bc94232" /></Relationships>
</file>

<file path=ppt/workflow_addition_13_workflow-pptx-rk60sles/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2f99634ab34498"/>
    <p:sldLayoutId xmlns:r="http://schemas.openxmlformats.org/officeDocument/2006/relationships" id="2147483650" r:id="R128f2d37371e4279"/>
    <p:sldLayoutId xmlns:r="http://schemas.openxmlformats.org/officeDocument/2006/relationships" id="2147483651" r:id="R804a7e1b52b540a1"/>
    <p:sldLayoutId xmlns:r="http://schemas.openxmlformats.org/officeDocument/2006/relationships" id="2147483652" r:id="R934b833608304d00"/>
    <p:sldLayoutId xmlns:r="http://schemas.openxmlformats.org/officeDocument/2006/relationships" id="2147483653" r:id="Rdc82d5a398c74281"/>
    <p:sldLayoutId xmlns:r="http://schemas.openxmlformats.org/officeDocument/2006/relationships" id="2147483654" r:id="R733bfe974bc942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workflow_addition_13_workflow-pptx-rk60sles/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3_workflow-pptx-rk60sles/slides/charts/_rels/chart1.xml.rels><?xml version='1.0' encoding='utf-8'?>
<Relationships xmlns="http://schemas.openxmlformats.org/package/2006/relationships"><Relationship Id="rIdConfidenceData" Type="http://schemas.openxmlformats.org/officeDocument/2006/relationships/package" Target="../../embeddings/confidence-chart-1.xlsx" /></Relationships>
</file>

<file path=ppt/workflow_addition_13_workflow-pptx-rk60sles/slides/charts/chart1.xml><?xml version="1.0" encoding="utf-8"?>
<c:chartSpace xmlns:a="http://schemas.openxmlformats.org/drawingml/2006/main" xmlns:c="http://schemas.openxmlformats.org/drawingml/2006/chart" xmlns:r="http://schemas.openxmlformats.org/officeDocument/2006/relationships">
  <c:lang val="en-US"/>
  <c:chart>
    <c:plotArea>
      <c:layout>
        <c:manualLayout>
          <c:layoutTarget val="inner"/>
          <c:xMode val="factor"/>
          <c:yMode val="factor"/>
          <c:wMode val="factor"/>
          <c:hMode val="factor"/>
          <c:x val=".075"/>
          <c:y val=".04"/>
          <c:w val=".91"/>
          <c:h val=".91"/>
        </c:manualLayout>
      </c:layout>
      <c:scatterChart>
        <c:scatterStyle val="lineMarker"/>
        <c:varyColors val="0"/>
        <c:ser>
          <c:idx val="0"/>
          <c:order val="0"/>
          <c:tx>
            <c:v>C1.1</c:v>
          </c:tx>
          <c:spPr>
            <a:solidFill>
              <a:srgbClr val="1F77B4"/>
            </a:solidFill>
            <a:ln w="23813">
              <a:solidFill>
                <a:srgbClr val="1F77B4"/>
              </a:solidFill>
            </a:ln>
          </c:spPr>
          <c:marker>
            <c:symbol val="none"/>
          </c:marker>
          <c:xVal>
            <c:numRef>
              <c:f>'Chart Data'!$A$2:$A$258</c:f>
              <c:numCache>
                <c:formatCode>General</c:formatCode>
                <c:ptCount val="257"/>
                <c:pt idx="0">
                  <c:v>-0.0004516678897157</c:v>
                </c:pt>
                <c:pt idx="1">
                  <c:v>-0.0004858612656562</c:v>
                </c:pt>
                <c:pt idx="2">
                  <c:v>-0.0004986399802869</c:v>
                </c:pt>
                <c:pt idx="3">
                  <c:v>-0.0004992268286927</c:v>
                </c:pt>
                <c:pt idx="4">
                  <c:v>-0.0005001878583567</c:v>
                </c:pt>
                <c:pt idx="5">
                  <c:v>-0.0005118541290436</c:v>
                </c:pt>
                <c:pt idx="6">
                  <c:v>-0.0005386239824801</c:v>
                </c:pt>
                <c:pt idx="7">
                  <c:v>-0.0005792681485723</c:v>
                </c:pt>
                <c:pt idx="8">
                  <c:v>-0.0006307025724906</c:v>
                </c:pt>
                <c:pt idx="9">
                  <c:v>-0.0006924087437497</c:v>
                </c:pt>
                <c:pt idx="10">
                  <c:v>-0.0007684095742066</c:v>
                </c:pt>
                <c:pt idx="11">
                  <c:v>-0.0008656136182456</c:v>
                </c:pt>
                <c:pt idx="12">
                  <c:v>-0.0009899606802062</c:v>
                </c:pt>
                <c:pt idx="13">
                  <c:v>-0.001143165973097</c:v>
                </c:pt>
                <c:pt idx="14">
                  <c:v>-0.001322010659205</c:v>
                </c:pt>
                <c:pt idx="15">
                  <c:v>-0.001519865343323</c:v>
                </c:pt>
                <c:pt idx="16">
                  <c:v>-0.001728388730325</c:v>
                </c:pt>
                <c:pt idx="17">
                  <c:v>-0.001937627758499</c:v>
                </c:pt>
                <c:pt idx="18">
                  <c:v>-0.002134869523364</c:v>
                </c:pt>
                <c:pt idx="19">
                  <c:v>-0.002304692811367</c:v>
                </c:pt>
                <c:pt idx="20">
                  <c:v>-0.002432648104437</c:v>
                </c:pt>
                <c:pt idx="21">
                  <c:v>-0.00251239583955</c:v>
                </c:pt>
                <c:pt idx="22">
                  <c:v>-0.002552786428589</c:v>
                </c:pt>
                <c:pt idx="23">
                  <c:v>-0.002580091185849</c:v>
                </c:pt>
                <c:pt idx="24">
                  <c:v>-0.002632825556202</c:v>
                </c:pt>
                <c:pt idx="25">
                  <c:v>-0.002751019389213</c:v>
                </c:pt>
                <c:pt idx="26">
                  <c:v>-0.002965229767074</c:v>
                </c:pt>
                <c:pt idx="27">
                  <c:v>-0.003290562794555</c:v>
                </c:pt>
                <c:pt idx="28">
                  <c:v>-0.003727545164304</c:v>
                </c:pt>
                <c:pt idx="29">
                  <c:v>-0.004267355973029</c:v>
                </c:pt>
                <c:pt idx="30">
                  <c:v>-0.00489670525353</c:v>
                </c:pt>
                <c:pt idx="31">
                  <c:v>-0.005598958802795</c:v>
                </c:pt>
                <c:pt idx="32">
                  <c:v>-0.006351913553653</c:v>
                </c:pt>
                <c:pt idx="33">
                  <c:v>-0.007126151739239</c:v>
                </c:pt>
                <c:pt idx="34">
                  <c:v>-0.007888489047094</c:v>
                </c:pt>
                <c:pt idx="35">
                  <c:v>-0.008611920662726</c:v>
                </c:pt>
                <c:pt idx="36">
                  <c:v>-0.009288412338036</c:v>
                </c:pt>
                <c:pt idx="37">
                  <c:v>-0.009937229422542</c:v>
                </c:pt>
                <c:pt idx="38">
                  <c:v>-0.01060220733705</c:v>
                </c:pt>
                <c:pt idx="39">
                  <c:v>-0.01133692017745</c:v>
                </c:pt>
                <c:pt idx="40">
                  <c:v>-0.01218405569056</c:v>
                </c:pt>
                <c:pt idx="41">
                  <c:v>-0.01315917215315</c:v>
                </c:pt>
                <c:pt idx="42">
                  <c:v>-0.01424574099412</c:v>
                </c:pt>
                <c:pt idx="43">
                  <c:v>-0.01539996382405</c:v>
                </c:pt>
                <c:pt idx="44">
                  <c:v>-0.01655766927599</c:v>
                </c:pt>
                <c:pt idx="45">
                  <c:v>-0.01763804343419</c:v>
                </c:pt>
                <c:pt idx="46">
                  <c:v>-0.01854808362107</c:v>
                </c:pt>
                <c:pt idx="47">
                  <c:v>-0.01919737991509</c:v>
                </c:pt>
                <c:pt idx="48">
                  <c:v>-0.01952666449339</c:v>
                </c:pt>
                <c:pt idx="49">
                  <c:v>-0.01953892186838</c:v>
                </c:pt>
                <c:pt idx="50">
                  <c:v>-0.01931264990817</c:v>
                </c:pt>
                <c:pt idx="51">
                  <c:v>-0.01898420676079</c:v>
                </c:pt>
                <c:pt idx="52">
                  <c:v>-0.01870622642785</c:v>
                </c:pt>
                <c:pt idx="53">
                  <c:v>-0.01860535500976</c:v>
                </c:pt>
                <c:pt idx="54">
                  <c:v>-0.01876112965177</c:v>
                </c:pt>
                <c:pt idx="55">
                  <c:v>-0.0192103238585</c:v>
                </c:pt>
                <c:pt idx="56">
                  <c:v>-0.01996280092065</c:v>
                </c:pt>
                <c:pt idx="57">
                  <c:v>-0.02101054421573</c:v>
                </c:pt>
                <c:pt idx="58">
                  <c:v>-0.02232271364839</c:v>
                </c:pt>
                <c:pt idx="59">
                  <c:v>-0.02383513828723</c:v>
                </c:pt>
                <c:pt idx="60">
                  <c:v>-0.02544948175831</c:v>
                </c:pt>
                <c:pt idx="61">
                  <c:v>-0.02705101123254</c:v>
                </c:pt>
                <c:pt idx="62">
                  <c:v>-0.02854071063399</c:v>
                </c:pt>
                <c:pt idx="63">
                  <c:v>-0.0298677264557</c:v>
                </c:pt>
                <c:pt idx="64">
                  <c:v>-0.03104777048523</c:v>
                </c:pt>
                <c:pt idx="65">
                  <c:v>-0.03216010201915</c:v>
                </c:pt>
                <c:pt idx="66">
                  <c:v>-0.0333234461001</c:v>
                </c:pt>
                <c:pt idx="67">
                  <c:v>-0.03465532136602</c:v>
                </c:pt>
                <c:pt idx="68">
                  <c:v>-0.03622157643156</c:v>
                </c:pt>
                <c:pt idx="69">
                  <c:v>-0.03798821346845</c:v>
                </c:pt>
                <c:pt idx="70">
                  <c:v>-0.03979573537187</c:v>
                </c:pt>
                <c:pt idx="71">
                  <c:v>-0.04137868963672</c:v>
                </c:pt>
                <c:pt idx="72">
                  <c:v>-0.04243941910714</c:v>
                </c:pt>
                <c:pt idx="73">
                  <c:v>-0.04275602873004</c:v>
                </c:pt>
                <c:pt idx="74">
                  <c:v>-0.04227763400259</c:v>
                </c:pt>
                <c:pt idx="75">
                  <c:v>-0.04115772847818</c:v>
                </c:pt>
                <c:pt idx="76">
                  <c:v>-0.03970623660166</c:v>
                </c:pt>
                <c:pt idx="77">
                  <c:v>-0.03828450605687</c:v>
                </c:pt>
                <c:pt idx="78">
                  <c:v>-0.03719501917792</c:v>
                </c:pt>
                <c:pt idx="79">
                  <c:v>-0.03661193749401</c:v>
                </c:pt>
                <c:pt idx="80">
                  <c:v>-0.03656903982419</c:v>
                </c:pt>
                <c:pt idx="81">
                  <c:v>-0.03699297058805</c:v>
                </c:pt>
                <c:pt idx="82">
                  <c:v>-0.03775964558677</c:v>
                </c:pt>
                <c:pt idx="83">
                  <c:v>-0.03875857208649</c:v>
                </c:pt>
                <c:pt idx="84">
                  <c:v>-0.03995989118151</c:v>
                </c:pt>
                <c:pt idx="85">
                  <c:v>-0.04148115223907</c:v>
                </c:pt>
                <c:pt idx="86">
                  <c:v>-0.04364486374311</c:v>
                </c:pt>
                <c:pt idx="87">
                  <c:v>-0.0470109983919</c:v>
                </c:pt>
                <c:pt idx="88">
                  <c:v>-0.05236876447911</c:v>
                </c:pt>
                <c:pt idx="89">
                  <c:v>-0.06068279892606</c:v>
                </c:pt>
                <c:pt idx="90">
                  <c:v>-0.07300696009454</c:v>
                </c:pt>
                <c:pt idx="91">
                  <c:v>-0.09039149277843</c:v>
                </c:pt>
                <c:pt idx="92">
                  <c:v>-0.1137991090735</c:v>
                </c:pt>
                <c:pt idx="93">
                  <c:v>-0.1440056373223</c:v>
                </c:pt>
                <c:pt idx="94">
                  <c:v>-0.1814140958</c:v>
                </c:pt>
                <c:pt idx="95">
                  <c:v>-0.2257102639838</c:v>
                </c:pt>
                <c:pt idx="96">
                  <c:v>-0.2753796421065</c:v>
                </c:pt>
                <c:pt idx="97">
                  <c:v>-0.327271430416</c:v>
                </c:pt>
                <c:pt idx="98">
                  <c:v>-0.3765249684992</c:v>
                </c:pt>
                <c:pt idx="99">
                  <c:v>-0.4171275873631</c:v>
                </c:pt>
                <c:pt idx="100">
                  <c:v>-0.4431060507622</c:v>
                </c:pt>
                <c:pt idx="101">
                  <c:v>-0.45</c:v>
                </c:pt>
                <c:pt idx="102">
                  <c:v>-0.4360634438002</c:v>
                </c:pt>
                <c:pt idx="103">
                  <c:v>-0.4027412379388</c:v>
                </c:pt>
                <c:pt idx="104">
                  <c:v>-0.3543029567641</c:v>
                </c:pt>
                <c:pt idx="105">
                  <c:v>-0.2968601238617</c:v>
                </c:pt>
                <c:pt idx="106">
                  <c:v>-0.2371564972338</c:v>
                </c:pt>
                <c:pt idx="107">
                  <c:v>-0.1814845586517</c:v>
                </c:pt>
                <c:pt idx="108">
                  <c:v>-0.1349455949161</c:v>
                </c:pt>
                <c:pt idx="109">
                  <c:v>-0.1011284457153</c:v>
                </c:pt>
                <c:pt idx="110">
                  <c:v>-0.08215704656069</c:v>
                </c:pt>
                <c:pt idx="111">
                  <c:v>-0.07894740571094</c:v>
                </c:pt>
                <c:pt idx="112">
                  <c:v>-0.09144922223521</c:v>
                </c:pt>
                <c:pt idx="113">
                  <c:v>-0.1186775843659</c:v>
                </c:pt>
                <c:pt idx="114">
                  <c:v>-0.1584860233517</c:v>
                </c:pt>
                <c:pt idx="115">
                  <c:v>-0.2072436123619</c:v>
                </c:pt>
                <c:pt idx="116">
                  <c:v>-0.2597468358754</c:v>
                </c:pt>
                <c:pt idx="117">
                  <c:v>-0.3097031443776</c:v>
                </c:pt>
                <c:pt idx="118">
                  <c:v>-0.3509041630745</c:v>
                </c:pt>
                <c:pt idx="119">
                  <c:v>-0.3788131146144</c:v>
                </c:pt>
                <c:pt idx="120">
                  <c:v>-0.3919090351355</c:v>
                </c:pt>
                <c:pt idx="121">
                  <c:v>-0.3920230427783</c:v>
                </c:pt>
                <c:pt idx="122">
                  <c:v>-0.383257622681</c:v>
                </c:pt>
                <c:pt idx="123">
                  <c:v>-0.3698271090087</c:v>
                </c:pt>
                <c:pt idx="124">
                  <c:v>-0.353894602894</c:v>
                </c:pt>
                <c:pt idx="125">
                  <c:v>-0.334663491764</c:v>
                </c:pt>
                <c:pt idx="126">
                  <c:v>-0.3093348042434</c:v>
                </c:pt>
                <c:pt idx="127">
                  <c:v>-0.2753857881961</c:v>
                </c:pt>
                <c:pt idx="128">
                  <c:v>0.2753857881961</c:v>
                </c:pt>
                <c:pt idx="129">
                  <c:v>0.3093348042434</c:v>
                </c:pt>
                <c:pt idx="130">
                  <c:v>0.334663491764</c:v>
                </c:pt>
                <c:pt idx="131">
                  <c:v>0.353894602894</c:v>
                </c:pt>
                <c:pt idx="132">
                  <c:v>0.3698271090087</c:v>
                </c:pt>
                <c:pt idx="133">
                  <c:v>0.383257622681</c:v>
                </c:pt>
                <c:pt idx="134">
                  <c:v>0.3920230427783</c:v>
                </c:pt>
                <c:pt idx="135">
                  <c:v>0.3919090351355</c:v>
                </c:pt>
                <c:pt idx="136">
                  <c:v>0.3788131146144</c:v>
                </c:pt>
                <c:pt idx="137">
                  <c:v>0.3509041630745</c:v>
                </c:pt>
                <c:pt idx="138">
                  <c:v>0.3097031443776</c:v>
                </c:pt>
                <c:pt idx="139">
                  <c:v>0.2597468358754</c:v>
                </c:pt>
                <c:pt idx="140">
                  <c:v>0.2072436123619</c:v>
                </c:pt>
                <c:pt idx="141">
                  <c:v>0.1584860233517</c:v>
                </c:pt>
                <c:pt idx="142">
                  <c:v>0.1186775843659</c:v>
                </c:pt>
                <c:pt idx="143">
                  <c:v>0.09144922223521</c:v>
                </c:pt>
                <c:pt idx="144">
                  <c:v>0.07894740571094</c:v>
                </c:pt>
                <c:pt idx="145">
                  <c:v>0.08215704656069</c:v>
                </c:pt>
                <c:pt idx="146">
                  <c:v>0.1011284457153</c:v>
                </c:pt>
                <c:pt idx="147">
                  <c:v>0.1349455949161</c:v>
                </c:pt>
                <c:pt idx="148">
                  <c:v>0.1814845586517</c:v>
                </c:pt>
                <c:pt idx="149">
                  <c:v>0.2371564972338</c:v>
                </c:pt>
                <c:pt idx="150">
                  <c:v>0.2968601238617</c:v>
                </c:pt>
                <c:pt idx="151">
                  <c:v>0.3543029567641</c:v>
                </c:pt>
                <c:pt idx="152">
                  <c:v>0.4027412379388</c:v>
                </c:pt>
                <c:pt idx="153">
                  <c:v>0.4360634438002</c:v>
                </c:pt>
                <c:pt idx="154">
                  <c:v>0.45</c:v>
                </c:pt>
                <c:pt idx="155">
                  <c:v>0.4431060507622</c:v>
                </c:pt>
                <c:pt idx="156">
                  <c:v>0.4171275873631</c:v>
                </c:pt>
                <c:pt idx="157">
                  <c:v>0.3765249684992</c:v>
                </c:pt>
                <c:pt idx="158">
                  <c:v>0.327271430416</c:v>
                </c:pt>
                <c:pt idx="159">
                  <c:v>0.2753796421065</c:v>
                </c:pt>
                <c:pt idx="160">
                  <c:v>0.2257102639838</c:v>
                </c:pt>
                <c:pt idx="161">
                  <c:v>0.1814140958</c:v>
                </c:pt>
                <c:pt idx="162">
                  <c:v>0.1440056373223</c:v>
                </c:pt>
                <c:pt idx="163">
                  <c:v>0.1137991090735</c:v>
                </c:pt>
                <c:pt idx="164">
                  <c:v>0.09039149277843</c:v>
                </c:pt>
                <c:pt idx="165">
                  <c:v>0.07300696009454</c:v>
                </c:pt>
                <c:pt idx="166">
                  <c:v>0.06068279892606</c:v>
                </c:pt>
                <c:pt idx="167">
                  <c:v>0.05236876447911</c:v>
                </c:pt>
                <c:pt idx="168">
                  <c:v>0.0470109983919</c:v>
                </c:pt>
                <c:pt idx="169">
                  <c:v>0.04364486374311</c:v>
                </c:pt>
                <c:pt idx="170">
                  <c:v>0.04148115223907</c:v>
                </c:pt>
                <c:pt idx="171">
                  <c:v>0.03995989118151</c:v>
                </c:pt>
                <c:pt idx="172">
                  <c:v>0.03875857208649</c:v>
                </c:pt>
                <c:pt idx="173">
                  <c:v>0.03775964558677</c:v>
                </c:pt>
                <c:pt idx="174">
                  <c:v>0.03699297058805</c:v>
                </c:pt>
                <c:pt idx="175">
                  <c:v>0.03656903982419</c:v>
                </c:pt>
                <c:pt idx="176">
                  <c:v>0.03661193749401</c:v>
                </c:pt>
                <c:pt idx="177">
                  <c:v>0.03719501917792</c:v>
                </c:pt>
                <c:pt idx="178">
                  <c:v>0.03828450605687</c:v>
                </c:pt>
                <c:pt idx="179">
                  <c:v>0.03970623660166</c:v>
                </c:pt>
                <c:pt idx="180">
                  <c:v>0.04115772847818</c:v>
                </c:pt>
                <c:pt idx="181">
                  <c:v>0.04227763400259</c:v>
                </c:pt>
                <c:pt idx="182">
                  <c:v>0.04275602873004</c:v>
                </c:pt>
                <c:pt idx="183">
                  <c:v>0.04243941910714</c:v>
                </c:pt>
                <c:pt idx="184">
                  <c:v>0.04137868963672</c:v>
                </c:pt>
                <c:pt idx="185">
                  <c:v>0.03979573537187</c:v>
                </c:pt>
                <c:pt idx="186">
                  <c:v>0.03798821346845</c:v>
                </c:pt>
                <c:pt idx="187">
                  <c:v>0.03622157643156</c:v>
                </c:pt>
                <c:pt idx="188">
                  <c:v>0.03465532136602</c:v>
                </c:pt>
                <c:pt idx="189">
                  <c:v>0.0333234461001</c:v>
                </c:pt>
                <c:pt idx="190">
                  <c:v>0.03216010201915</c:v>
                </c:pt>
                <c:pt idx="191">
                  <c:v>0.03104777048523</c:v>
                </c:pt>
                <c:pt idx="192">
                  <c:v>0.0298677264557</c:v>
                </c:pt>
                <c:pt idx="193">
                  <c:v>0.02854071063399</c:v>
                </c:pt>
                <c:pt idx="194">
                  <c:v>0.02705101123254</c:v>
                </c:pt>
                <c:pt idx="195">
                  <c:v>0.02544948175831</c:v>
                </c:pt>
                <c:pt idx="196">
                  <c:v>0.02383513828723</c:v>
                </c:pt>
                <c:pt idx="197">
                  <c:v>0.02232271364839</c:v>
                </c:pt>
                <c:pt idx="198">
                  <c:v>0.02101054421573</c:v>
                </c:pt>
                <c:pt idx="199">
                  <c:v>0.01996280092065</c:v>
                </c:pt>
                <c:pt idx="200">
                  <c:v>0.0192103238585</c:v>
                </c:pt>
                <c:pt idx="201">
                  <c:v>0.01876112965177</c:v>
                </c:pt>
                <c:pt idx="202">
                  <c:v>0.01860535500976</c:v>
                </c:pt>
                <c:pt idx="203">
                  <c:v>0.01870622642785</c:v>
                </c:pt>
                <c:pt idx="204">
                  <c:v>0.01898420676079</c:v>
                </c:pt>
                <c:pt idx="205">
                  <c:v>0.01931264990817</c:v>
                </c:pt>
                <c:pt idx="206">
                  <c:v>0.01953892186838</c:v>
                </c:pt>
                <c:pt idx="207">
                  <c:v>0.01952666449339</c:v>
                </c:pt>
                <c:pt idx="208">
                  <c:v>0.01919737991509</c:v>
                </c:pt>
                <c:pt idx="209">
                  <c:v>0.01854808362107</c:v>
                </c:pt>
                <c:pt idx="210">
                  <c:v>0.01763804343419</c:v>
                </c:pt>
                <c:pt idx="211">
                  <c:v>0.01655766927599</c:v>
                </c:pt>
                <c:pt idx="212">
                  <c:v>0.01539996382405</c:v>
                </c:pt>
                <c:pt idx="213">
                  <c:v>0.01424574099412</c:v>
                </c:pt>
                <c:pt idx="214">
                  <c:v>0.01315917215315</c:v>
                </c:pt>
                <c:pt idx="215">
                  <c:v>0.01218405569056</c:v>
                </c:pt>
                <c:pt idx="216">
                  <c:v>0.01133692017745</c:v>
                </c:pt>
                <c:pt idx="217">
                  <c:v>0.01060220733705</c:v>
                </c:pt>
                <c:pt idx="218">
                  <c:v>0.009937229422542</c:v>
                </c:pt>
                <c:pt idx="219">
                  <c:v>0.009288412338036</c:v>
                </c:pt>
                <c:pt idx="220">
                  <c:v>0.008611920662726</c:v>
                </c:pt>
                <c:pt idx="221">
                  <c:v>0.007888489047094</c:v>
                </c:pt>
                <c:pt idx="222">
                  <c:v>0.007126151739239</c:v>
                </c:pt>
                <c:pt idx="223">
                  <c:v>0.006351913553653</c:v>
                </c:pt>
                <c:pt idx="224">
                  <c:v>0.005598958802795</c:v>
                </c:pt>
                <c:pt idx="225">
                  <c:v>0.00489670525353</c:v>
                </c:pt>
                <c:pt idx="226">
                  <c:v>0.004267355973029</c:v>
                </c:pt>
                <c:pt idx="227">
                  <c:v>0.003727545164304</c:v>
                </c:pt>
                <c:pt idx="228">
                  <c:v>0.003290562794555</c:v>
                </c:pt>
                <c:pt idx="229">
                  <c:v>0.002965229767074</c:v>
                </c:pt>
                <c:pt idx="230">
                  <c:v>0.002751019389213</c:v>
                </c:pt>
                <c:pt idx="231">
                  <c:v>0.002632825556202</c:v>
                </c:pt>
                <c:pt idx="232">
                  <c:v>0.002580091185849</c:v>
                </c:pt>
                <c:pt idx="233">
                  <c:v>0.002552786428589</c:v>
                </c:pt>
                <c:pt idx="234">
                  <c:v>0.00251239583955</c:v>
                </c:pt>
                <c:pt idx="235">
                  <c:v>0.002432648104437</c:v>
                </c:pt>
                <c:pt idx="236">
                  <c:v>0.002304692811367</c:v>
                </c:pt>
                <c:pt idx="237">
                  <c:v>0.002134869523364</c:v>
                </c:pt>
                <c:pt idx="238">
                  <c:v>0.001937627758499</c:v>
                </c:pt>
                <c:pt idx="239">
                  <c:v>0.001728388730325</c:v>
                </c:pt>
                <c:pt idx="240">
                  <c:v>0.001519865343323</c:v>
                </c:pt>
                <c:pt idx="241">
                  <c:v>0.001322010659205</c:v>
                </c:pt>
                <c:pt idx="242">
                  <c:v>0.001143165973097</c:v>
                </c:pt>
                <c:pt idx="243">
                  <c:v>0.0009899606802062</c:v>
                </c:pt>
                <c:pt idx="244">
                  <c:v>0.0008656136182456</c:v>
                </c:pt>
                <c:pt idx="245">
                  <c:v>0.0007684095742066</c:v>
                </c:pt>
                <c:pt idx="246">
                  <c:v>0.0006924087437497</c:v>
                </c:pt>
                <c:pt idx="247">
                  <c:v>0.0006307025724906</c:v>
                </c:pt>
                <c:pt idx="248">
                  <c:v>0.0005792681485723</c:v>
                </c:pt>
                <c:pt idx="249">
                  <c:v>0.0005386239824801</c:v>
                </c:pt>
                <c:pt idx="250">
                  <c:v>0.0005118541290436</c:v>
                </c:pt>
                <c:pt idx="251">
                  <c:v>0.0005001878583567</c:v>
                </c:pt>
                <c:pt idx="252">
                  <c:v>0.0004992268286927</c:v>
                </c:pt>
                <c:pt idx="253">
                  <c:v>0.0004986399802869</c:v>
                </c:pt>
                <c:pt idx="254">
                  <c:v>0.0004858612656562</c:v>
                </c:pt>
                <c:pt idx="255">
                  <c:v>0.0004516678897157</c:v>
                </c:pt>
                <c:pt idx="256">
                  <c:v>-0.0004516678897157</c:v>
                </c:pt>
              </c:numCache>
            </c:numRef>
          </c:xVal>
          <c:yVal>
            <c:numRef>
              <c:f>'Chart Data'!$B$2:$B$258</c:f>
              <c:numCache>
                <c:formatCode>0.0</c:formatCode>
                <c:ptCount val="257"/>
                <c:pt idx="0">
                  <c:v>51.9693129771</c:v>
                </c:pt>
                <c:pt idx="1">
                  <c:v>52.33551167209</c:v>
                </c:pt>
                <c:pt idx="2">
                  <c:v>52.70171036709</c:v>
                </c:pt>
                <c:pt idx="3">
                  <c:v>53.06790906208</c:v>
                </c:pt>
                <c:pt idx="4">
                  <c:v>53.43410775707</c:v>
                </c:pt>
                <c:pt idx="5">
                  <c:v>53.80030645206</c:v>
                </c:pt>
                <c:pt idx="6">
                  <c:v>54.16650514706</c:v>
                </c:pt>
                <c:pt idx="7">
                  <c:v>54.53270384205</c:v>
                </c:pt>
                <c:pt idx="8">
                  <c:v>54.89890253704</c:v>
                </c:pt>
                <c:pt idx="9">
                  <c:v>55.26510123204</c:v>
                </c:pt>
                <c:pt idx="10">
                  <c:v>55.63129992703</c:v>
                </c:pt>
                <c:pt idx="11">
                  <c:v>55.99749862202</c:v>
                </c:pt>
                <c:pt idx="12">
                  <c:v>56.36369731702</c:v>
                </c:pt>
                <c:pt idx="13">
                  <c:v>56.72989601201</c:v>
                </c:pt>
                <c:pt idx="14">
                  <c:v>57.096094707</c:v>
                </c:pt>
                <c:pt idx="15">
                  <c:v>57.46229340199</c:v>
                </c:pt>
                <c:pt idx="16">
                  <c:v>57.82849209699</c:v>
                </c:pt>
                <c:pt idx="17">
                  <c:v>58.19469079198</c:v>
                </c:pt>
                <c:pt idx="18">
                  <c:v>58.56088948697</c:v>
                </c:pt>
                <c:pt idx="19">
                  <c:v>58.92708818197</c:v>
                </c:pt>
                <c:pt idx="20">
                  <c:v>59.29328687696</c:v>
                </c:pt>
                <c:pt idx="21">
                  <c:v>59.65948557195</c:v>
                </c:pt>
                <c:pt idx="22">
                  <c:v>60.02568426695</c:v>
                </c:pt>
                <c:pt idx="23">
                  <c:v>60.39188296194</c:v>
                </c:pt>
                <c:pt idx="24">
                  <c:v>60.75808165693</c:v>
                </c:pt>
                <c:pt idx="25">
                  <c:v>61.12428035192</c:v>
                </c:pt>
                <c:pt idx="26">
                  <c:v>61.49047904692</c:v>
                </c:pt>
                <c:pt idx="27">
                  <c:v>61.85667774191</c:v>
                </c:pt>
                <c:pt idx="28">
                  <c:v>62.2228764369</c:v>
                </c:pt>
                <c:pt idx="29">
                  <c:v>62.5890751319</c:v>
                </c:pt>
                <c:pt idx="30">
                  <c:v>62.95527382689</c:v>
                </c:pt>
                <c:pt idx="31">
                  <c:v>63.32147252188</c:v>
                </c:pt>
                <c:pt idx="32">
                  <c:v>63.68767121688</c:v>
                </c:pt>
                <c:pt idx="33">
                  <c:v>64.05386991187</c:v>
                </c:pt>
                <c:pt idx="34">
                  <c:v>64.42006860686</c:v>
                </c:pt>
                <c:pt idx="35">
                  <c:v>64.78626730185</c:v>
                </c:pt>
                <c:pt idx="36">
                  <c:v>65.15246599685</c:v>
                </c:pt>
                <c:pt idx="37">
                  <c:v>65.51866469184</c:v>
                </c:pt>
                <c:pt idx="38">
                  <c:v>65.88486338683</c:v>
                </c:pt>
                <c:pt idx="39">
                  <c:v>66.25106208183</c:v>
                </c:pt>
                <c:pt idx="40">
                  <c:v>66.61726077682</c:v>
                </c:pt>
                <c:pt idx="41">
                  <c:v>66.98345947181</c:v>
                </c:pt>
                <c:pt idx="42">
                  <c:v>67.34965816681</c:v>
                </c:pt>
                <c:pt idx="43">
                  <c:v>67.7158568618</c:v>
                </c:pt>
                <c:pt idx="44">
                  <c:v>68.08205555679</c:v>
                </c:pt>
                <c:pt idx="45">
                  <c:v>68.44825425178</c:v>
                </c:pt>
                <c:pt idx="46">
                  <c:v>68.81445294678</c:v>
                </c:pt>
                <c:pt idx="47">
                  <c:v>69.18065164177</c:v>
                </c:pt>
                <c:pt idx="48">
                  <c:v>69.54685033676</c:v>
                </c:pt>
                <c:pt idx="49">
                  <c:v>69.91304903176</c:v>
                </c:pt>
                <c:pt idx="50">
                  <c:v>70.27924772675</c:v>
                </c:pt>
                <c:pt idx="51">
                  <c:v>70.64544642174</c:v>
                </c:pt>
                <c:pt idx="52">
                  <c:v>71.01164511674</c:v>
                </c:pt>
                <c:pt idx="53">
                  <c:v>71.37784381173</c:v>
                </c:pt>
                <c:pt idx="54">
                  <c:v>71.74404250672</c:v>
                </c:pt>
                <c:pt idx="55">
                  <c:v>72.11024120171</c:v>
                </c:pt>
                <c:pt idx="56">
                  <c:v>72.47643989671</c:v>
                </c:pt>
                <c:pt idx="57">
                  <c:v>72.8426385917</c:v>
                </c:pt>
                <c:pt idx="58">
                  <c:v>73.20883728669</c:v>
                </c:pt>
                <c:pt idx="59">
                  <c:v>73.57503598169</c:v>
                </c:pt>
                <c:pt idx="60">
                  <c:v>73.94123467668</c:v>
                </c:pt>
                <c:pt idx="61">
                  <c:v>74.30743337167</c:v>
                </c:pt>
                <c:pt idx="62">
                  <c:v>74.67363206667</c:v>
                </c:pt>
                <c:pt idx="63">
                  <c:v>75.03983076166</c:v>
                </c:pt>
                <c:pt idx="64">
                  <c:v>75.40602945665</c:v>
                </c:pt>
                <c:pt idx="65">
                  <c:v>75.77222815164</c:v>
                </c:pt>
                <c:pt idx="66">
                  <c:v>76.13842684664</c:v>
                </c:pt>
                <c:pt idx="67">
                  <c:v>76.50462554163</c:v>
                </c:pt>
                <c:pt idx="68">
                  <c:v>76.87082423662</c:v>
                </c:pt>
                <c:pt idx="69">
                  <c:v>77.23702293162</c:v>
                </c:pt>
                <c:pt idx="70">
                  <c:v>77.60322162661</c:v>
                </c:pt>
                <c:pt idx="71">
                  <c:v>77.9694203216</c:v>
                </c:pt>
                <c:pt idx="72">
                  <c:v>78.3356190166</c:v>
                </c:pt>
                <c:pt idx="73">
                  <c:v>78.70181771159</c:v>
                </c:pt>
                <c:pt idx="74">
                  <c:v>79.06801640658</c:v>
                </c:pt>
                <c:pt idx="75">
                  <c:v>79.43421510157</c:v>
                </c:pt>
                <c:pt idx="76">
                  <c:v>79.80041379657</c:v>
                </c:pt>
                <c:pt idx="77">
                  <c:v>80.16661249156</c:v>
                </c:pt>
                <c:pt idx="78">
                  <c:v>80.53281118655</c:v>
                </c:pt>
                <c:pt idx="79">
                  <c:v>80.89900988155</c:v>
                </c:pt>
                <c:pt idx="80">
                  <c:v>81.26520857654</c:v>
                </c:pt>
                <c:pt idx="81">
                  <c:v>81.63140727153</c:v>
                </c:pt>
                <c:pt idx="82">
                  <c:v>81.99760596653</c:v>
                </c:pt>
                <c:pt idx="83">
                  <c:v>82.36380466152</c:v>
                </c:pt>
                <c:pt idx="84">
                  <c:v>82.73000335651</c:v>
                </c:pt>
                <c:pt idx="85">
                  <c:v>83.0962020515</c:v>
                </c:pt>
                <c:pt idx="86">
                  <c:v>83.4624007465</c:v>
                </c:pt>
                <c:pt idx="87">
                  <c:v>83.82859944149</c:v>
                </c:pt>
                <c:pt idx="88">
                  <c:v>84.19479813648</c:v>
                </c:pt>
                <c:pt idx="89">
                  <c:v>84.56099683148</c:v>
                </c:pt>
                <c:pt idx="90">
                  <c:v>84.92719552647</c:v>
                </c:pt>
                <c:pt idx="91">
                  <c:v>85.29339422146</c:v>
                </c:pt>
                <c:pt idx="92">
                  <c:v>85.65959291646</c:v>
                </c:pt>
                <c:pt idx="93">
                  <c:v>86.02579161145</c:v>
                </c:pt>
                <c:pt idx="94">
                  <c:v>86.39199030644</c:v>
                </c:pt>
                <c:pt idx="95">
                  <c:v>86.75818900143</c:v>
                </c:pt>
                <c:pt idx="96">
                  <c:v>87.12438769643</c:v>
                </c:pt>
                <c:pt idx="97">
                  <c:v>87.49058639142</c:v>
                </c:pt>
                <c:pt idx="98">
                  <c:v>87.85678508641</c:v>
                </c:pt>
                <c:pt idx="99">
                  <c:v>88.22298378141</c:v>
                </c:pt>
                <c:pt idx="100">
                  <c:v>88.5891824764</c:v>
                </c:pt>
                <c:pt idx="101">
                  <c:v>88.95538117139</c:v>
                </c:pt>
                <c:pt idx="102">
                  <c:v>89.32157986639</c:v>
                </c:pt>
                <c:pt idx="103">
                  <c:v>89.68777856138</c:v>
                </c:pt>
                <c:pt idx="104">
                  <c:v>90.05397725637</c:v>
                </c:pt>
                <c:pt idx="105">
                  <c:v>90.42017595136</c:v>
                </c:pt>
                <c:pt idx="106">
                  <c:v>90.78637464636</c:v>
                </c:pt>
                <c:pt idx="107">
                  <c:v>91.15257334135</c:v>
                </c:pt>
                <c:pt idx="108">
                  <c:v>91.51877203634</c:v>
                </c:pt>
                <c:pt idx="109">
                  <c:v>91.88497073134</c:v>
                </c:pt>
                <c:pt idx="110">
                  <c:v>92.25116942633</c:v>
                </c:pt>
                <c:pt idx="111">
                  <c:v>92.61736812132</c:v>
                </c:pt>
                <c:pt idx="112">
                  <c:v>92.98356681632</c:v>
                </c:pt>
                <c:pt idx="113">
                  <c:v>93.34976551131</c:v>
                </c:pt>
                <c:pt idx="114">
                  <c:v>93.7159642063</c:v>
                </c:pt>
                <c:pt idx="115">
                  <c:v>94.08216290129</c:v>
                </c:pt>
                <c:pt idx="116">
                  <c:v>94.44836159629</c:v>
                </c:pt>
                <c:pt idx="117">
                  <c:v>94.81456029128</c:v>
                </c:pt>
                <c:pt idx="118">
                  <c:v>95.18075898627</c:v>
                </c:pt>
                <c:pt idx="119">
                  <c:v>95.54695768127</c:v>
                </c:pt>
                <c:pt idx="120">
                  <c:v>95.91315637626</c:v>
                </c:pt>
                <c:pt idx="121">
                  <c:v>96.27935507125</c:v>
                </c:pt>
                <c:pt idx="122">
                  <c:v>96.64555376625</c:v>
                </c:pt>
                <c:pt idx="123">
                  <c:v>97.01175246124</c:v>
                </c:pt>
                <c:pt idx="124">
                  <c:v>97.37795115623</c:v>
                </c:pt>
                <c:pt idx="125">
                  <c:v>97.74414985122</c:v>
                </c:pt>
                <c:pt idx="126">
                  <c:v>98.11034854622</c:v>
                </c:pt>
                <c:pt idx="127">
                  <c:v>98.47654724121</c:v>
                </c:pt>
                <c:pt idx="128">
                  <c:v>98.47654724121</c:v>
                </c:pt>
                <c:pt idx="129">
                  <c:v>98.11034854622</c:v>
                </c:pt>
                <c:pt idx="130">
                  <c:v>97.74414985122</c:v>
                </c:pt>
                <c:pt idx="131">
                  <c:v>97.37795115623</c:v>
                </c:pt>
                <c:pt idx="132">
                  <c:v>97.01175246124</c:v>
                </c:pt>
                <c:pt idx="133">
                  <c:v>96.64555376625</c:v>
                </c:pt>
                <c:pt idx="134">
                  <c:v>96.27935507125</c:v>
                </c:pt>
                <c:pt idx="135">
                  <c:v>95.91315637626</c:v>
                </c:pt>
                <c:pt idx="136">
                  <c:v>95.54695768127</c:v>
                </c:pt>
                <c:pt idx="137">
                  <c:v>95.18075898627</c:v>
                </c:pt>
                <c:pt idx="138">
                  <c:v>94.81456029128</c:v>
                </c:pt>
                <c:pt idx="139">
                  <c:v>94.44836159629</c:v>
                </c:pt>
                <c:pt idx="140">
                  <c:v>94.08216290129</c:v>
                </c:pt>
                <c:pt idx="141">
                  <c:v>93.7159642063</c:v>
                </c:pt>
                <c:pt idx="142">
                  <c:v>93.34976551131</c:v>
                </c:pt>
                <c:pt idx="143">
                  <c:v>92.98356681632</c:v>
                </c:pt>
                <c:pt idx="144">
                  <c:v>92.61736812132</c:v>
                </c:pt>
                <c:pt idx="145">
                  <c:v>92.25116942633</c:v>
                </c:pt>
                <c:pt idx="146">
                  <c:v>91.88497073134</c:v>
                </c:pt>
                <c:pt idx="147">
                  <c:v>91.51877203634</c:v>
                </c:pt>
                <c:pt idx="148">
                  <c:v>91.15257334135</c:v>
                </c:pt>
                <c:pt idx="149">
                  <c:v>90.78637464636</c:v>
                </c:pt>
                <c:pt idx="150">
                  <c:v>90.42017595136</c:v>
                </c:pt>
                <c:pt idx="151">
                  <c:v>90.05397725637</c:v>
                </c:pt>
                <c:pt idx="152">
                  <c:v>89.68777856138</c:v>
                </c:pt>
                <c:pt idx="153">
                  <c:v>89.32157986639</c:v>
                </c:pt>
                <c:pt idx="154">
                  <c:v>88.95538117139</c:v>
                </c:pt>
                <c:pt idx="155">
                  <c:v>88.5891824764</c:v>
                </c:pt>
                <c:pt idx="156">
                  <c:v>88.22298378141</c:v>
                </c:pt>
                <c:pt idx="157">
                  <c:v>87.85678508641</c:v>
                </c:pt>
                <c:pt idx="158">
                  <c:v>87.49058639142</c:v>
                </c:pt>
                <c:pt idx="159">
                  <c:v>87.12438769643</c:v>
                </c:pt>
                <c:pt idx="160">
                  <c:v>86.75818900143</c:v>
                </c:pt>
                <c:pt idx="161">
                  <c:v>86.39199030644</c:v>
                </c:pt>
                <c:pt idx="162">
                  <c:v>86.02579161145</c:v>
                </c:pt>
                <c:pt idx="163">
                  <c:v>85.65959291646</c:v>
                </c:pt>
                <c:pt idx="164">
                  <c:v>85.29339422146</c:v>
                </c:pt>
                <c:pt idx="165">
                  <c:v>84.92719552647</c:v>
                </c:pt>
                <c:pt idx="166">
                  <c:v>84.56099683148</c:v>
                </c:pt>
                <c:pt idx="167">
                  <c:v>84.19479813648</c:v>
                </c:pt>
                <c:pt idx="168">
                  <c:v>83.82859944149</c:v>
                </c:pt>
                <c:pt idx="169">
                  <c:v>83.4624007465</c:v>
                </c:pt>
                <c:pt idx="170">
                  <c:v>83.0962020515</c:v>
                </c:pt>
                <c:pt idx="171">
                  <c:v>82.73000335651</c:v>
                </c:pt>
                <c:pt idx="172">
                  <c:v>82.36380466152</c:v>
                </c:pt>
                <c:pt idx="173">
                  <c:v>81.99760596653</c:v>
                </c:pt>
                <c:pt idx="174">
                  <c:v>81.63140727153</c:v>
                </c:pt>
                <c:pt idx="175">
                  <c:v>81.26520857654</c:v>
                </c:pt>
                <c:pt idx="176">
                  <c:v>80.89900988155</c:v>
                </c:pt>
                <c:pt idx="177">
                  <c:v>80.53281118655</c:v>
                </c:pt>
                <c:pt idx="178">
                  <c:v>80.16661249156</c:v>
                </c:pt>
                <c:pt idx="179">
                  <c:v>79.80041379657</c:v>
                </c:pt>
                <c:pt idx="180">
                  <c:v>79.43421510157</c:v>
                </c:pt>
                <c:pt idx="181">
                  <c:v>79.06801640658</c:v>
                </c:pt>
                <c:pt idx="182">
                  <c:v>78.70181771159</c:v>
                </c:pt>
                <c:pt idx="183">
                  <c:v>78.3356190166</c:v>
                </c:pt>
                <c:pt idx="184">
                  <c:v>77.9694203216</c:v>
                </c:pt>
                <c:pt idx="185">
                  <c:v>77.60322162661</c:v>
                </c:pt>
                <c:pt idx="186">
                  <c:v>77.23702293162</c:v>
                </c:pt>
                <c:pt idx="187">
                  <c:v>76.87082423662</c:v>
                </c:pt>
                <c:pt idx="188">
                  <c:v>76.50462554163</c:v>
                </c:pt>
                <c:pt idx="189">
                  <c:v>76.13842684664</c:v>
                </c:pt>
                <c:pt idx="190">
                  <c:v>75.77222815164</c:v>
                </c:pt>
                <c:pt idx="191">
                  <c:v>75.40602945665</c:v>
                </c:pt>
                <c:pt idx="192">
                  <c:v>75.03983076166</c:v>
                </c:pt>
                <c:pt idx="193">
                  <c:v>74.67363206667</c:v>
                </c:pt>
                <c:pt idx="194">
                  <c:v>74.30743337167</c:v>
                </c:pt>
                <c:pt idx="195">
                  <c:v>73.94123467668</c:v>
                </c:pt>
                <c:pt idx="196">
                  <c:v>73.57503598169</c:v>
                </c:pt>
                <c:pt idx="197">
                  <c:v>73.20883728669</c:v>
                </c:pt>
                <c:pt idx="198">
                  <c:v>72.8426385917</c:v>
                </c:pt>
                <c:pt idx="199">
                  <c:v>72.47643989671</c:v>
                </c:pt>
                <c:pt idx="200">
                  <c:v>72.11024120171</c:v>
                </c:pt>
                <c:pt idx="201">
                  <c:v>71.74404250672</c:v>
                </c:pt>
                <c:pt idx="202">
                  <c:v>71.37784381173</c:v>
                </c:pt>
                <c:pt idx="203">
                  <c:v>71.01164511674</c:v>
                </c:pt>
                <c:pt idx="204">
                  <c:v>70.64544642174</c:v>
                </c:pt>
                <c:pt idx="205">
                  <c:v>70.27924772675</c:v>
                </c:pt>
                <c:pt idx="206">
                  <c:v>69.91304903176</c:v>
                </c:pt>
                <c:pt idx="207">
                  <c:v>69.54685033676</c:v>
                </c:pt>
                <c:pt idx="208">
                  <c:v>69.18065164177</c:v>
                </c:pt>
                <c:pt idx="209">
                  <c:v>68.81445294678</c:v>
                </c:pt>
                <c:pt idx="210">
                  <c:v>68.44825425178</c:v>
                </c:pt>
                <c:pt idx="211">
                  <c:v>68.08205555679</c:v>
                </c:pt>
                <c:pt idx="212">
                  <c:v>67.7158568618</c:v>
                </c:pt>
                <c:pt idx="213">
                  <c:v>67.34965816681</c:v>
                </c:pt>
                <c:pt idx="214">
                  <c:v>66.98345947181</c:v>
                </c:pt>
                <c:pt idx="215">
                  <c:v>66.61726077682</c:v>
                </c:pt>
                <c:pt idx="216">
                  <c:v>66.25106208183</c:v>
                </c:pt>
                <c:pt idx="217">
                  <c:v>65.88486338683</c:v>
                </c:pt>
                <c:pt idx="218">
                  <c:v>65.51866469184</c:v>
                </c:pt>
                <c:pt idx="219">
                  <c:v>65.15246599685</c:v>
                </c:pt>
                <c:pt idx="220">
                  <c:v>64.78626730185</c:v>
                </c:pt>
                <c:pt idx="221">
                  <c:v>64.42006860686</c:v>
                </c:pt>
                <c:pt idx="222">
                  <c:v>64.05386991187</c:v>
                </c:pt>
                <c:pt idx="223">
                  <c:v>63.68767121688</c:v>
                </c:pt>
                <c:pt idx="224">
                  <c:v>63.32147252188</c:v>
                </c:pt>
                <c:pt idx="225">
                  <c:v>62.95527382689</c:v>
                </c:pt>
                <c:pt idx="226">
                  <c:v>62.5890751319</c:v>
                </c:pt>
                <c:pt idx="227">
                  <c:v>62.2228764369</c:v>
                </c:pt>
                <c:pt idx="228">
                  <c:v>61.85667774191</c:v>
                </c:pt>
                <c:pt idx="229">
                  <c:v>61.49047904692</c:v>
                </c:pt>
                <c:pt idx="230">
                  <c:v>61.12428035192</c:v>
                </c:pt>
                <c:pt idx="231">
                  <c:v>60.75808165693</c:v>
                </c:pt>
                <c:pt idx="232">
                  <c:v>60.39188296194</c:v>
                </c:pt>
                <c:pt idx="233">
                  <c:v>60.02568426695</c:v>
                </c:pt>
                <c:pt idx="234">
                  <c:v>59.65948557195</c:v>
                </c:pt>
                <c:pt idx="235">
                  <c:v>59.29328687696</c:v>
                </c:pt>
                <c:pt idx="236">
                  <c:v>58.92708818197</c:v>
                </c:pt>
                <c:pt idx="237">
                  <c:v>58.56088948697</c:v>
                </c:pt>
                <c:pt idx="238">
                  <c:v>58.19469079198</c:v>
                </c:pt>
                <c:pt idx="239">
                  <c:v>57.82849209699</c:v>
                </c:pt>
                <c:pt idx="240">
                  <c:v>57.46229340199</c:v>
                </c:pt>
                <c:pt idx="241">
                  <c:v>57.096094707</c:v>
                </c:pt>
                <c:pt idx="242">
                  <c:v>56.72989601201</c:v>
                </c:pt>
                <c:pt idx="243">
                  <c:v>56.36369731702</c:v>
                </c:pt>
                <c:pt idx="244">
                  <c:v>55.99749862202</c:v>
                </c:pt>
                <c:pt idx="245">
                  <c:v>55.63129992703</c:v>
                </c:pt>
                <c:pt idx="246">
                  <c:v>55.26510123204</c:v>
                </c:pt>
                <c:pt idx="247">
                  <c:v>54.89890253704</c:v>
                </c:pt>
                <c:pt idx="248">
                  <c:v>54.53270384205</c:v>
                </c:pt>
                <c:pt idx="249">
                  <c:v>54.16650514706</c:v>
                </c:pt>
                <c:pt idx="250">
                  <c:v>53.80030645206</c:v>
                </c:pt>
                <c:pt idx="251">
                  <c:v>53.43410775707</c:v>
                </c:pt>
                <c:pt idx="252">
                  <c:v>53.06790906208</c:v>
                </c:pt>
                <c:pt idx="253">
                  <c:v>52.70171036709</c:v>
                </c:pt>
                <c:pt idx="254">
                  <c:v>52.33551167209</c:v>
                </c:pt>
                <c:pt idx="255">
                  <c:v>51.9693129771</c:v>
                </c:pt>
                <c:pt idx="256">
                  <c:v>51.9693129771</c:v>
                </c:pt>
              </c:numCache>
            </c:numRef>
          </c:yVal>
        </c:ser>
        <c:ser>
          <c:idx val="1"/>
          <c:order val="1"/>
          <c:tx>
            <c:v>C1.2</c:v>
          </c:tx>
          <c:spPr>
            <a:solidFill>
              <a:srgbClr val="FF7F0E"/>
            </a:solidFill>
            <a:ln w="23813">
              <a:solidFill>
                <a:srgbClr val="FF7F0E"/>
              </a:solidFill>
            </a:ln>
          </c:spPr>
          <c:marker>
            <c:symbol val="none"/>
          </c:marker>
          <c:xVal>
            <c:numRef>
              <c:f>'Chart Data'!$C$2:$C$258</c:f>
              <c:numCache>
                <c:formatCode>General</c:formatCode>
                <c:ptCount val="257"/>
                <c:pt idx="0">
                  <c:v>0.6455647007751</c:v>
                </c:pt>
                <c:pt idx="1">
                  <c:v>0.6316104768829</c:v>
                </c:pt>
                <c:pt idx="2">
                  <c:v>0.6184048563868</c:v>
                </c:pt>
                <c:pt idx="3">
                  <c:v>0.6060667852437</c:v>
                </c:pt>
                <c:pt idx="4">
                  <c:v>0.594710383719</c:v>
                </c:pt>
                <c:pt idx="5">
                  <c:v>0.5844432013804</c:v>
                </c:pt>
                <c:pt idx="6">
                  <c:v>0.5753645287997</c:v>
                </c:pt>
                <c:pt idx="7">
                  <c:v>0.567563802844</c:v>
                </c:pt>
                <c:pt idx="8">
                  <c:v>0.5611191412779</c:v>
                </c:pt>
                <c:pt idx="9">
                  <c:v>0.5560960402267</c:v>
                </c:pt>
                <c:pt idx="10">
                  <c:v>0.5525462648834</c:v>
                </c:pt>
                <c:pt idx="11">
                  <c:v>0.5505069597721</c:v>
                </c:pt>
                <c:pt idx="12">
                  <c:v>0.55</c:v>
                </c:pt>
                <c:pt idx="13">
                  <c:v>0.5510315993913</c:v>
                </c:pt>
                <c:pt idx="14">
                  <c:v>0.553592185352</c:v>
                </c:pt>
                <c:pt idx="15">
                  <c:v>0.5576565439512</c:v>
                </c:pt>
                <c:pt idx="16">
                  <c:v>0.5631842322204</c:v>
                </c:pt>
                <c:pt idx="17">
                  <c:v>0.5701202482619</c:v>
                </c:pt>
                <c:pt idx="18">
                  <c:v>0.5783959436244</c:v>
                </c:pt>
                <c:pt idx="19">
                  <c:v>0.5879301567334</c:v>
                </c:pt>
                <c:pt idx="20">
                  <c:v>0.59863054113</c:v>
                </c:pt>
                <c:pt idx="21">
                  <c:v>0.6103950580217</c:v>
                </c:pt>
                <c:pt idx="22">
                  <c:v>0.6231135992988</c:v>
                </c:pt>
                <c:pt idx="23">
                  <c:v>0.6366697048147</c:v>
                </c:pt>
                <c:pt idx="24">
                  <c:v>0.6509423364098</c:v>
                </c:pt>
                <c:pt idx="25">
                  <c:v>0.6658076708981</c:v>
                </c:pt>
                <c:pt idx="26">
                  <c:v>0.6811408750071</c:v>
                </c:pt>
                <c:pt idx="27">
                  <c:v>0.6968178270122</c:v>
                </c:pt>
                <c:pt idx="28">
                  <c:v>0.7127167524422</c:v>
                </c:pt>
                <c:pt idx="29">
                  <c:v>0.7287197446499</c:v>
                </c:pt>
                <c:pt idx="30">
                  <c:v>0.7447141450881</c:v>
                </c:pt>
                <c:pt idx="31">
                  <c:v>0.7605937626736</c:v>
                </c:pt>
                <c:pt idx="32">
                  <c:v>0.7762599164791</c:v>
                </c:pt>
                <c:pt idx="33">
                  <c:v>0.7916222910192</c:v>
                </c:pt>
                <c:pt idx="34">
                  <c:v>0.8065995984174</c:v>
                </c:pt>
                <c:pt idx="35">
                  <c:v>0.8211200466137</c:v>
                </c:pt>
                <c:pt idx="36">
                  <c:v>0.8351216173523</c:v>
                </c:pt>
                <c:pt idx="37">
                  <c:v>0.8485521618639</c:v>
                </c:pt>
                <c:pt idx="38">
                  <c:v>0.8613693258283</c:v>
                </c:pt>
                <c:pt idx="39">
                  <c:v>0.873540318288</c:v>
                </c:pt>
                <c:pt idx="40">
                  <c:v>0.8850415416524</c:v>
                </c:pt>
                <c:pt idx="41">
                  <c:v>0.8958581017368</c:v>
                </c:pt>
                <c:pt idx="42">
                  <c:v>0.9059832179431</c:v>
                </c:pt>
                <c:pt idx="43">
                  <c:v>0.9154175542129</c:v>
                </c:pt>
                <c:pt idx="44">
                  <c:v>0.9241684913204</c:v>
                </c:pt>
                <c:pt idx="45">
                  <c:v>0.9322493604688</c:v>
                </c:pt>
                <c:pt idx="46">
                  <c:v>0.9396786570921</c:v>
                </c:pt>
                <c:pt idx="47">
                  <c:v>0.9464792523001</c:v>
                </c:pt>
                <c:pt idx="48">
                  <c:v>0.9526776176437</c:v>
                </c:pt>
                <c:pt idx="49">
                  <c:v>0.9583030768879</c:v>
                </c:pt>
                <c:pt idx="50">
                  <c:v>0.9633870963481</c:v>
                </c:pt>
                <c:pt idx="51">
                  <c:v>0.9679626231544</c:v>
                </c:pt>
                <c:pt idx="52">
                  <c:v>0.9720634786224</c:v>
                </c:pt>
                <c:pt idx="53">
                  <c:v>0.975723811793</c:v>
                </c:pt>
                <c:pt idx="54">
                  <c:v>0.9789776162161</c:v>
                </c:pt>
                <c:pt idx="55">
                  <c:v>0.9818583112269</c:v>
                </c:pt>
                <c:pt idx="56">
                  <c:v>0.9843983873402</c:v>
                </c:pt>
                <c:pt idx="57">
                  <c:v>0.9866291139819</c:v>
                </c:pt>
                <c:pt idx="58">
                  <c:v>0.9885803066044</c:v>
                </c:pt>
                <c:pt idx="59">
                  <c:v>0.990280149294</c:v>
                </c:pt>
                <c:pt idx="60">
                  <c:v>0.991755068269</c:v>
                </c:pt>
                <c:pt idx="61">
                  <c:v>0.9930296511756</c:v>
                </c:pt>
                <c:pt idx="62">
                  <c:v>0.9941266067971</c:v>
                </c:pt>
                <c:pt idx="63">
                  <c:v>0.9950667596824</c:v>
                </c:pt>
                <c:pt idx="64">
                  <c:v>0.995869074243</c:v>
                </c:pt>
                <c:pt idx="65">
                  <c:v>0.9965507030462</c:v>
                </c:pt>
                <c:pt idx="66">
                  <c:v>0.997127054317</c:v>
                </c:pt>
                <c:pt idx="67">
                  <c:v>0.9976118740277</c:v>
                </c:pt>
                <c:pt idx="68">
                  <c:v>0.9980173383807</c:v>
                </c:pt>
                <c:pt idx="69">
                  <c:v>0.9983541529571</c:v>
                </c:pt>
                <c:pt idx="70">
                  <c:v>0.9986316552907</c:v>
                </c:pt>
                <c:pt idx="71">
                  <c:v>0.9988579181175</c:v>
                </c:pt>
                <c:pt idx="72">
                  <c:v>0.9990398510356</c:v>
                </c:pt>
                <c:pt idx="73">
                  <c:v>0.9991832987722</c:v>
                </c:pt>
                <c:pt idx="74">
                  <c:v>0.9992931346944</c:v>
                </c:pt>
                <c:pt idx="75">
                  <c:v>0.9993733486021</c:v>
                </c:pt>
                <c:pt idx="76">
                  <c:v>0.9994271282099</c:v>
                </c:pt>
                <c:pt idx="77">
                  <c:v>0.9994569340525</c:v>
                </c:pt>
                <c:pt idx="78">
                  <c:v>0.9994645678371</c:v>
                </c:pt>
                <c:pt idx="79">
                  <c:v>0.9994512345141</c:v>
                </c:pt>
                <c:pt idx="80">
                  <c:v>0.9994175985463</c:v>
                </c:pt>
                <c:pt idx="81">
                  <c:v>0.9993638350293</c:v>
                </c:pt>
                <c:pt idx="82">
                  <c:v>0.9992896764499</c:v>
                </c:pt>
                <c:pt idx="83">
                  <c:v>0.9991944559683</c:v>
                </c:pt>
                <c:pt idx="84">
                  <c:v>0.999077148178</c:v>
                </c:pt>
                <c:pt idx="85">
                  <c:v>0.9989364083259</c:v>
                </c:pt>
                <c:pt idx="86">
                  <c:v>0.9987706109816</c:v>
                </c:pt>
                <c:pt idx="87">
                  <c:v>0.9985778891089</c:v>
                </c:pt>
                <c:pt idx="88">
                  <c:v>0.9983561744367</c:v>
                </c:pt>
                <c:pt idx="89">
                  <c:v>0.9981032399317</c:v>
                </c:pt>
                <c:pt idx="90">
                  <c:v>0.9978167450595</c:v>
                </c:pt>
                <c:pt idx="91">
                  <c:v>0.9974942843699</c:v>
                </c:pt>
                <c:pt idx="92">
                  <c:v>0.9971334397731</c:v>
                </c:pt>
                <c:pt idx="93">
                  <c:v>0.9967318366746</c:v>
                </c:pt>
                <c:pt idx="94">
                  <c:v>0.9962872039222</c:v>
                </c:pt>
                <c:pt idx="95">
                  <c:v>0.995797437288</c:v>
                </c:pt>
                <c:pt idx="96">
                  <c:v>0.9952606659638</c:v>
                </c:pt>
                <c:pt idx="97">
                  <c:v>0.9946753213084</c:v>
                </c:pt>
                <c:pt idx="98">
                  <c:v>0.9940402068391</c:v>
                </c:pt>
                <c:pt idx="99">
                  <c:v>0.9933545682312</c:v>
                </c:pt>
                <c:pt idx="100">
                  <c:v>0.9926181618824</c:v>
                </c:pt>
                <c:pt idx="101">
                  <c:v>0.9918313204131</c:v>
                </c:pt>
                <c:pt idx="102">
                  <c:v>0.9909950133383</c:v>
                </c:pt>
                <c:pt idx="103">
                  <c:v>0.9901109010457</c:v>
                </c:pt>
                <c:pt idx="104">
                  <c:v>0.9891813801781</c:v>
                </c:pt>
                <c:pt idx="105">
                  <c:v>0.9882096185377</c:v>
                </c:pt>
                <c:pt idx="106">
                  <c:v>0.9871995777175</c:v>
                </c:pt>
                <c:pt idx="107">
                  <c:v>0.9861560218198</c:v>
                </c:pt>
                <c:pt idx="108">
                  <c:v>0.98508451085</c:v>
                </c:pt>
                <c:pt idx="109">
                  <c:v>0.9839913776648</c:v>
                </c:pt>
                <c:pt idx="110">
                  <c:v>0.9828836877093</c:v>
                </c:pt>
                <c:pt idx="111">
                  <c:v>0.9817691811898</c:v>
                </c:pt>
                <c:pt idx="112">
                  <c:v>0.9806561977796</c:v>
                </c:pt>
                <c:pt idx="113">
                  <c:v>0.9795535844441</c:v>
                </c:pt>
                <c:pt idx="114">
                  <c:v>0.9784705874682</c:v>
                </c:pt>
                <c:pt idx="115">
                  <c:v>0.9774167302738</c:v>
                </c:pt>
                <c:pt idx="116">
                  <c:v>0.9764016790913</c:v>
                </c:pt>
                <c:pt idx="117">
                  <c:v>0.9754350989983</c:v>
                </c:pt>
                <c:pt idx="118">
                  <c:v>0.9745265032244</c:v>
                </c:pt>
                <c:pt idx="119">
                  <c:v>0.9736850989423</c:v>
                </c:pt>
                <c:pt idx="120">
                  <c:v>0.9729196329971</c:v>
                </c:pt>
                <c:pt idx="121">
                  <c:v>0.9722382411622</c:v>
                </c:pt>
                <c:pt idx="122">
                  <c:v>0.9716483045376</c:v>
                </c:pt>
                <c:pt idx="123">
                  <c:v>0.9711563166281</c:v>
                </c:pt>
                <c:pt idx="124">
                  <c:v>0.9707677644436</c:v>
                </c:pt>
                <c:pt idx="125">
                  <c:v>0.9704870266641</c:v>
                </c:pt>
                <c:pt idx="126">
                  <c:v>0.970317291512</c:v>
                </c:pt>
                <c:pt idx="127">
                  <c:v>0.9702604964858</c:v>
                </c:pt>
                <c:pt idx="128">
                  <c:v>1.029739503514</c:v>
                </c:pt>
                <c:pt idx="129">
                  <c:v>1.029682708488</c:v>
                </c:pt>
                <c:pt idx="130">
                  <c:v>1.029512973336</c:v>
                </c:pt>
                <c:pt idx="131">
                  <c:v>1.029232235556</c:v>
                </c:pt>
                <c:pt idx="132">
                  <c:v>1.028843683372</c:v>
                </c:pt>
                <c:pt idx="133">
                  <c:v>1.028351695462</c:v>
                </c:pt>
                <c:pt idx="134">
                  <c:v>1.027761758838</c:v>
                </c:pt>
                <c:pt idx="135">
                  <c:v>1.027080367003</c:v>
                </c:pt>
                <c:pt idx="136">
                  <c:v>1.026314901058</c:v>
                </c:pt>
                <c:pt idx="137">
                  <c:v>1.025473496776</c:v>
                </c:pt>
                <c:pt idx="138">
                  <c:v>1.024564901002</c:v>
                </c:pt>
                <c:pt idx="139">
                  <c:v>1.023598320909</c:v>
                </c:pt>
                <c:pt idx="140">
                  <c:v>1.022583269726</c:v>
                </c:pt>
                <c:pt idx="141">
                  <c:v>1.021529412532</c:v>
                </c:pt>
                <c:pt idx="142">
                  <c:v>1.020446415556</c:v>
                </c:pt>
                <c:pt idx="143">
                  <c:v>1.01934380222</c:v>
                </c:pt>
                <c:pt idx="144">
                  <c:v>1.01823081881</c:v>
                </c:pt>
                <c:pt idx="145">
                  <c:v>1.017116312291</c:v>
                </c:pt>
                <c:pt idx="146">
                  <c:v>1.016008622335</c:v>
                </c:pt>
                <c:pt idx="147">
                  <c:v>1.01491548915</c:v>
                </c:pt>
                <c:pt idx="148">
                  <c:v>1.01384397818</c:v>
                </c:pt>
                <c:pt idx="149">
                  <c:v>1.012800422282</c:v>
                </c:pt>
                <c:pt idx="150">
                  <c:v>1.011790381462</c:v>
                </c:pt>
                <c:pt idx="151">
                  <c:v>1.010818619822</c:v>
                </c:pt>
                <c:pt idx="152">
                  <c:v>1.009889098954</c:v>
                </c:pt>
                <c:pt idx="153">
                  <c:v>1.009004986662</c:v>
                </c:pt>
                <c:pt idx="154">
                  <c:v>1.008168679587</c:v>
                </c:pt>
                <c:pt idx="155">
                  <c:v>1.007381838118</c:v>
                </c:pt>
                <c:pt idx="156">
                  <c:v>1.006645431769</c:v>
                </c:pt>
                <c:pt idx="157">
                  <c:v>1.005959793161</c:v>
                </c:pt>
                <c:pt idx="158">
                  <c:v>1.005324678692</c:v>
                </c:pt>
                <c:pt idx="159">
                  <c:v>1.004739334036</c:v>
                </c:pt>
                <c:pt idx="160">
                  <c:v>1.004202562712</c:v>
                </c:pt>
                <c:pt idx="161">
                  <c:v>1.003712796078</c:v>
                </c:pt>
                <c:pt idx="162">
                  <c:v>1.003268163325</c:v>
                </c:pt>
                <c:pt idx="163">
                  <c:v>1.002866560227</c:v>
                </c:pt>
                <c:pt idx="164">
                  <c:v>1.00250571563</c:v>
                </c:pt>
                <c:pt idx="165">
                  <c:v>1.00218325494</c:v>
                </c:pt>
                <c:pt idx="166">
                  <c:v>1.001896760068</c:v>
                </c:pt>
                <c:pt idx="167">
                  <c:v>1.001643825563</c:v>
                </c:pt>
                <c:pt idx="168">
                  <c:v>1.001422110891</c:v>
                </c:pt>
                <c:pt idx="169">
                  <c:v>1.001229389018</c:v>
                </c:pt>
                <c:pt idx="170">
                  <c:v>1.001063591674</c:v>
                </c:pt>
                <c:pt idx="171">
                  <c:v>1.000922851822</c:v>
                </c:pt>
                <c:pt idx="172">
                  <c:v>1.000805544032</c:v>
                </c:pt>
                <c:pt idx="173">
                  <c:v>1.00071032355</c:v>
                </c:pt>
                <c:pt idx="174">
                  <c:v>1.000636164971</c:v>
                </c:pt>
                <c:pt idx="175">
                  <c:v>1.000582401454</c:v>
                </c:pt>
                <c:pt idx="176">
                  <c:v>1.000548765486</c:v>
                </c:pt>
                <c:pt idx="177">
                  <c:v>1.000535432163</c:v>
                </c:pt>
                <c:pt idx="178">
                  <c:v>1.000543065948</c:v>
                </c:pt>
                <c:pt idx="179">
                  <c:v>1.00057287179</c:v>
                </c:pt>
                <c:pt idx="180">
                  <c:v>1.000626651398</c:v>
                </c:pt>
                <c:pt idx="181">
                  <c:v>1.000706865306</c:v>
                </c:pt>
                <c:pt idx="182">
                  <c:v>1.000816701228</c:v>
                </c:pt>
                <c:pt idx="183">
                  <c:v>1.000960148964</c:v>
                </c:pt>
                <c:pt idx="184">
                  <c:v>1.001142081883</c:v>
                </c:pt>
                <c:pt idx="185">
                  <c:v>1.001368344709</c:v>
                </c:pt>
                <c:pt idx="186">
                  <c:v>1.001645847043</c:v>
                </c:pt>
                <c:pt idx="187">
                  <c:v>1.001982661619</c:v>
                </c:pt>
                <c:pt idx="188">
                  <c:v>1.002388125972</c:v>
                </c:pt>
                <c:pt idx="189">
                  <c:v>1.002872945683</c:v>
                </c:pt>
                <c:pt idx="190">
                  <c:v>1.003449296954</c:v>
                </c:pt>
                <c:pt idx="191">
                  <c:v>1.004130925757</c:v>
                </c:pt>
                <c:pt idx="192">
                  <c:v>1.004933240318</c:v>
                </c:pt>
                <c:pt idx="193">
                  <c:v>1.005873393203</c:v>
                </c:pt>
                <c:pt idx="194">
                  <c:v>1.006970348824</c:v>
                </c:pt>
                <c:pt idx="195">
                  <c:v>1.008244931731</c:v>
                </c:pt>
                <c:pt idx="196">
                  <c:v>1.009719850706</c:v>
                </c:pt>
                <c:pt idx="197">
                  <c:v>1.011419693396</c:v>
                </c:pt>
                <c:pt idx="198">
                  <c:v>1.013370886018</c:v>
                </c:pt>
                <c:pt idx="199">
                  <c:v>1.01560161266</c:v>
                </c:pt>
                <c:pt idx="200">
                  <c:v>1.018141688773</c:v>
                </c:pt>
                <c:pt idx="201">
                  <c:v>1.021022383784</c:v>
                </c:pt>
                <c:pt idx="202">
                  <c:v>1.024276188207</c:v>
                </c:pt>
                <c:pt idx="203">
                  <c:v>1.027936521378</c:v>
                </c:pt>
                <c:pt idx="204">
                  <c:v>1.032037376846</c:v>
                </c:pt>
                <c:pt idx="205">
                  <c:v>1.036612903652</c:v>
                </c:pt>
                <c:pt idx="206">
                  <c:v>1.041696923112</c:v>
                </c:pt>
                <c:pt idx="207">
                  <c:v>1.047322382356</c:v>
                </c:pt>
                <c:pt idx="208">
                  <c:v>1.0535207477</c:v>
                </c:pt>
                <c:pt idx="209">
                  <c:v>1.060321342908</c:v>
                </c:pt>
                <c:pt idx="210">
                  <c:v>1.067750639531</c:v>
                </c:pt>
                <c:pt idx="211">
                  <c:v>1.07583150868</c:v>
                </c:pt>
                <c:pt idx="212">
                  <c:v>1.084582445787</c:v>
                </c:pt>
                <c:pt idx="213">
                  <c:v>1.094016782057</c:v>
                </c:pt>
                <c:pt idx="214">
                  <c:v>1.104141898263</c:v>
                </c:pt>
                <c:pt idx="215">
                  <c:v>1.114958458348</c:v>
                </c:pt>
                <c:pt idx="216">
                  <c:v>1.126459681712</c:v>
                </c:pt>
                <c:pt idx="217">
                  <c:v>1.138630674172</c:v>
                </c:pt>
                <c:pt idx="218">
                  <c:v>1.151447838136</c:v>
                </c:pt>
                <c:pt idx="219">
                  <c:v>1.164878382648</c:v>
                </c:pt>
                <c:pt idx="220">
                  <c:v>1.178879953386</c:v>
                </c:pt>
                <c:pt idx="221">
                  <c:v>1.193400401583</c:v>
                </c:pt>
                <c:pt idx="222">
                  <c:v>1.208377708981</c:v>
                </c:pt>
                <c:pt idx="223">
                  <c:v>1.223740083521</c:v>
                </c:pt>
                <c:pt idx="224">
                  <c:v>1.239406237326</c:v>
                </c:pt>
                <c:pt idx="225">
                  <c:v>1.255285854912</c:v>
                </c:pt>
                <c:pt idx="226">
                  <c:v>1.27128025535</c:v>
                </c:pt>
                <c:pt idx="227">
                  <c:v>1.287283247558</c:v>
                </c:pt>
                <c:pt idx="228">
                  <c:v>1.303182172988</c:v>
                </c:pt>
                <c:pt idx="229">
                  <c:v>1.318859124993</c:v>
                </c:pt>
                <c:pt idx="230">
                  <c:v>1.334192329102</c:v>
                </c:pt>
                <c:pt idx="231">
                  <c:v>1.34905766359</c:v>
                </c:pt>
                <c:pt idx="232">
                  <c:v>1.363330295185</c:v>
                </c:pt>
                <c:pt idx="233">
                  <c:v>1.376886400701</c:v>
                </c:pt>
                <c:pt idx="234">
                  <c:v>1.389604941978</c:v>
                </c:pt>
                <c:pt idx="235">
                  <c:v>1.40136945887</c:v>
                </c:pt>
                <c:pt idx="236">
                  <c:v>1.412069843267</c:v>
                </c:pt>
                <c:pt idx="237">
                  <c:v>1.421604056376</c:v>
                </c:pt>
                <c:pt idx="238">
                  <c:v>1.429879751738</c:v>
                </c:pt>
                <c:pt idx="239">
                  <c:v>1.43681576778</c:v>
                </c:pt>
                <c:pt idx="240">
                  <c:v>1.442343456049</c:v>
                </c:pt>
                <c:pt idx="241">
                  <c:v>1.446407814648</c:v>
                </c:pt>
                <c:pt idx="242">
                  <c:v>1.448968400609</c:v>
                </c:pt>
                <c:pt idx="243">
                  <c:v>1.45</c:v>
                </c:pt>
                <c:pt idx="244">
                  <c:v>1.449493040228</c:v>
                </c:pt>
                <c:pt idx="245">
                  <c:v>1.447453735117</c:v>
                </c:pt>
                <c:pt idx="246">
                  <c:v>1.443903959773</c:v>
                </c:pt>
                <c:pt idx="247">
                  <c:v>1.438880858722</c:v>
                </c:pt>
                <c:pt idx="248">
                  <c:v>1.432436197156</c:v>
                </c:pt>
                <c:pt idx="249">
                  <c:v>1.4246354712</c:v>
                </c:pt>
                <c:pt idx="250">
                  <c:v>1.41555679862</c:v>
                </c:pt>
                <c:pt idx="251">
                  <c:v>1.405289616281</c:v>
                </c:pt>
                <c:pt idx="252">
                  <c:v>1.393933214756</c:v>
                </c:pt>
                <c:pt idx="253">
                  <c:v>1.381595143613</c:v>
                </c:pt>
                <c:pt idx="254">
                  <c:v>1.368389523117</c:v>
                </c:pt>
                <c:pt idx="255">
                  <c:v>1.354435299225</c:v>
                </c:pt>
                <c:pt idx="256">
                  <c:v>0.6455647007751</c:v>
                </c:pt>
              </c:numCache>
            </c:numRef>
          </c:xVal>
          <c:yVal>
            <c:numRef>
              <c:f>'Chart Data'!$D$2:$D$258</c:f>
              <c:numCache>
                <c:formatCode>0.0</c:formatCode>
                <c:ptCount val="257"/>
                <c:pt idx="0">
                  <c:v>87.83575250398</c:v>
                </c:pt>
                <c:pt idx="1">
                  <c:v>87.90619754205</c:v>
                </c:pt>
                <c:pt idx="2">
                  <c:v>87.97664258012</c:v>
                </c:pt>
                <c:pt idx="3">
                  <c:v>88.04708761819</c:v>
                </c:pt>
                <c:pt idx="4">
                  <c:v>88.11753265626</c:v>
                </c:pt>
                <c:pt idx="5">
                  <c:v>88.18797769433</c:v>
                </c:pt>
                <c:pt idx="6">
                  <c:v>88.2584227324</c:v>
                </c:pt>
                <c:pt idx="7">
                  <c:v>88.32886777047</c:v>
                </c:pt>
                <c:pt idx="8">
                  <c:v>88.39931280854</c:v>
                </c:pt>
                <c:pt idx="9">
                  <c:v>88.46975784661</c:v>
                </c:pt>
                <c:pt idx="10">
                  <c:v>88.54020288468</c:v>
                </c:pt>
                <c:pt idx="11">
                  <c:v>88.61064792275</c:v>
                </c:pt>
                <c:pt idx="12">
                  <c:v>88.68109296082</c:v>
                </c:pt>
                <c:pt idx="13">
                  <c:v>88.75153799889</c:v>
                </c:pt>
                <c:pt idx="14">
                  <c:v>88.82198303696</c:v>
                </c:pt>
                <c:pt idx="15">
                  <c:v>88.89242807503</c:v>
                </c:pt>
                <c:pt idx="16">
                  <c:v>88.9628731131</c:v>
                </c:pt>
                <c:pt idx="17">
                  <c:v>89.03331815117</c:v>
                </c:pt>
                <c:pt idx="18">
                  <c:v>89.10376318924</c:v>
                </c:pt>
                <c:pt idx="19">
                  <c:v>89.17420822731</c:v>
                </c:pt>
                <c:pt idx="20">
                  <c:v>89.24465326538</c:v>
                </c:pt>
                <c:pt idx="21">
                  <c:v>89.31509830345</c:v>
                </c:pt>
                <c:pt idx="22">
                  <c:v>89.38554334152</c:v>
                </c:pt>
                <c:pt idx="23">
                  <c:v>89.45598837959</c:v>
                </c:pt>
                <c:pt idx="24">
                  <c:v>89.52643341766</c:v>
                </c:pt>
                <c:pt idx="25">
                  <c:v>89.59687845573</c:v>
                </c:pt>
                <c:pt idx="26">
                  <c:v>89.6673234938</c:v>
                </c:pt>
                <c:pt idx="27">
                  <c:v>89.73776853187</c:v>
                </c:pt>
                <c:pt idx="28">
                  <c:v>89.80821356994</c:v>
                </c:pt>
                <c:pt idx="29">
                  <c:v>89.87865860801</c:v>
                </c:pt>
                <c:pt idx="30">
                  <c:v>89.94910364608</c:v>
                </c:pt>
                <c:pt idx="31">
                  <c:v>90.01954868415</c:v>
                </c:pt>
                <c:pt idx="32">
                  <c:v>90.08999372222</c:v>
                </c:pt>
                <c:pt idx="33">
                  <c:v>90.16043876029</c:v>
                </c:pt>
                <c:pt idx="34">
                  <c:v>90.23088379836</c:v>
                </c:pt>
                <c:pt idx="35">
                  <c:v>90.30132883643</c:v>
                </c:pt>
                <c:pt idx="36">
                  <c:v>90.3717738745</c:v>
                </c:pt>
                <c:pt idx="37">
                  <c:v>90.44221891257</c:v>
                </c:pt>
                <c:pt idx="38">
                  <c:v>90.51266395064</c:v>
                </c:pt>
                <c:pt idx="39">
                  <c:v>90.58310898871</c:v>
                </c:pt>
                <c:pt idx="40">
                  <c:v>90.65355402678</c:v>
                </c:pt>
                <c:pt idx="41">
                  <c:v>90.72399906485</c:v>
                </c:pt>
                <c:pt idx="42">
                  <c:v>90.79444410292</c:v>
                </c:pt>
                <c:pt idx="43">
                  <c:v>90.86488914099</c:v>
                </c:pt>
                <c:pt idx="44">
                  <c:v>90.93533417906</c:v>
                </c:pt>
                <c:pt idx="45">
                  <c:v>91.00577921713</c:v>
                </c:pt>
                <c:pt idx="46">
                  <c:v>91.0762242552</c:v>
                </c:pt>
                <c:pt idx="47">
                  <c:v>91.14666929327</c:v>
                </c:pt>
                <c:pt idx="48">
                  <c:v>91.21711433134</c:v>
                </c:pt>
                <c:pt idx="49">
                  <c:v>91.28755936941</c:v>
                </c:pt>
                <c:pt idx="50">
                  <c:v>91.35800440748</c:v>
                </c:pt>
                <c:pt idx="51">
                  <c:v>91.42844944555</c:v>
                </c:pt>
                <c:pt idx="52">
                  <c:v>91.49889448362</c:v>
                </c:pt>
                <c:pt idx="53">
                  <c:v>91.56933952169</c:v>
                </c:pt>
                <c:pt idx="54">
                  <c:v>91.63978455976</c:v>
                </c:pt>
                <c:pt idx="55">
                  <c:v>91.71022959783</c:v>
                </c:pt>
                <c:pt idx="56">
                  <c:v>91.7806746359</c:v>
                </c:pt>
                <c:pt idx="57">
                  <c:v>91.85111967397</c:v>
                </c:pt>
                <c:pt idx="58">
                  <c:v>91.92156471204</c:v>
                </c:pt>
                <c:pt idx="59">
                  <c:v>91.99200975011</c:v>
                </c:pt>
                <c:pt idx="60">
                  <c:v>92.06245478818</c:v>
                </c:pt>
                <c:pt idx="61">
                  <c:v>92.13289982625</c:v>
                </c:pt>
                <c:pt idx="62">
                  <c:v>92.20334486432</c:v>
                </c:pt>
                <c:pt idx="63">
                  <c:v>92.27378990239</c:v>
                </c:pt>
                <c:pt idx="64">
                  <c:v>92.34423494046</c:v>
                </c:pt>
                <c:pt idx="65">
                  <c:v>92.41467997853</c:v>
                </c:pt>
                <c:pt idx="66">
                  <c:v>92.4851250166</c:v>
                </c:pt>
                <c:pt idx="67">
                  <c:v>92.55557005467</c:v>
                </c:pt>
                <c:pt idx="68">
                  <c:v>92.62601509274</c:v>
                </c:pt>
                <c:pt idx="69">
                  <c:v>92.69646013081</c:v>
                </c:pt>
                <c:pt idx="70">
                  <c:v>92.76690516888</c:v>
                </c:pt>
                <c:pt idx="71">
                  <c:v>92.83735020695</c:v>
                </c:pt>
                <c:pt idx="72">
                  <c:v>92.90779524502</c:v>
                </c:pt>
                <c:pt idx="73">
                  <c:v>92.97824028309</c:v>
                </c:pt>
                <c:pt idx="74">
                  <c:v>93.04868532116</c:v>
                </c:pt>
                <c:pt idx="75">
                  <c:v>93.11913035923</c:v>
                </c:pt>
                <c:pt idx="76">
                  <c:v>93.1895753973</c:v>
                </c:pt>
                <c:pt idx="77">
                  <c:v>93.26002043537</c:v>
                </c:pt>
                <c:pt idx="78">
                  <c:v>93.33046547344</c:v>
                </c:pt>
                <c:pt idx="79">
                  <c:v>93.40091051151</c:v>
                </c:pt>
                <c:pt idx="80">
                  <c:v>93.47135554958</c:v>
                </c:pt>
                <c:pt idx="81">
                  <c:v>93.54180058765</c:v>
                </c:pt>
                <c:pt idx="82">
                  <c:v>93.61224562572</c:v>
                </c:pt>
                <c:pt idx="83">
                  <c:v>93.68269066379</c:v>
                </c:pt>
                <c:pt idx="84">
                  <c:v>93.75313570186</c:v>
                </c:pt>
                <c:pt idx="85">
                  <c:v>93.82358073993</c:v>
                </c:pt>
                <c:pt idx="86">
                  <c:v>93.894025778</c:v>
                </c:pt>
                <c:pt idx="87">
                  <c:v>93.96447081607</c:v>
                </c:pt>
                <c:pt idx="88">
                  <c:v>94.03491585414</c:v>
                </c:pt>
                <c:pt idx="89">
                  <c:v>94.10536089221</c:v>
                </c:pt>
                <c:pt idx="90">
                  <c:v>94.17580593028</c:v>
                </c:pt>
                <c:pt idx="91">
                  <c:v>94.24625096835</c:v>
                </c:pt>
                <c:pt idx="92">
                  <c:v>94.31669600642</c:v>
                </c:pt>
                <c:pt idx="93">
                  <c:v>94.38714104449</c:v>
                </c:pt>
                <c:pt idx="94">
                  <c:v>94.45758608256</c:v>
                </c:pt>
                <c:pt idx="95">
                  <c:v>94.52803112063</c:v>
                </c:pt>
                <c:pt idx="96">
                  <c:v>94.5984761587</c:v>
                </c:pt>
                <c:pt idx="97">
                  <c:v>94.66892119677</c:v>
                </c:pt>
                <c:pt idx="98">
                  <c:v>94.73936623484</c:v>
                </c:pt>
                <c:pt idx="99">
                  <c:v>94.80981127291</c:v>
                </c:pt>
                <c:pt idx="100">
                  <c:v>94.88025631098</c:v>
                </c:pt>
                <c:pt idx="101">
                  <c:v>94.95070134905</c:v>
                </c:pt>
                <c:pt idx="102">
                  <c:v>95.02114638712</c:v>
                </c:pt>
                <c:pt idx="103">
                  <c:v>95.09159142519</c:v>
                </c:pt>
                <c:pt idx="104">
                  <c:v>95.16203646326</c:v>
                </c:pt>
                <c:pt idx="105">
                  <c:v>95.23248150133</c:v>
                </c:pt>
                <c:pt idx="106">
                  <c:v>95.3029265394</c:v>
                </c:pt>
                <c:pt idx="107">
                  <c:v>95.37337157747</c:v>
                </c:pt>
                <c:pt idx="108">
                  <c:v>95.44381661554</c:v>
                </c:pt>
                <c:pt idx="109">
                  <c:v>95.51426165361</c:v>
                </c:pt>
                <c:pt idx="110">
                  <c:v>95.58470669168</c:v>
                </c:pt>
                <c:pt idx="111">
                  <c:v>95.65515172975</c:v>
                </c:pt>
                <c:pt idx="112">
                  <c:v>95.72559676782</c:v>
                </c:pt>
                <c:pt idx="113">
                  <c:v>95.79604180589</c:v>
                </c:pt>
                <c:pt idx="114">
                  <c:v>95.86648684396</c:v>
                </c:pt>
                <c:pt idx="115">
                  <c:v>95.93693188203</c:v>
                </c:pt>
                <c:pt idx="116">
                  <c:v>96.0073769201</c:v>
                </c:pt>
                <c:pt idx="117">
                  <c:v>96.07782195817</c:v>
                </c:pt>
                <c:pt idx="118">
                  <c:v>96.14826699624</c:v>
                </c:pt>
                <c:pt idx="119">
                  <c:v>96.21871203431</c:v>
                </c:pt>
                <c:pt idx="120">
                  <c:v>96.28915707238</c:v>
                </c:pt>
                <c:pt idx="121">
                  <c:v>96.35960211045</c:v>
                </c:pt>
                <c:pt idx="122">
                  <c:v>96.43004714852</c:v>
                </c:pt>
                <c:pt idx="123">
                  <c:v>96.50049218659</c:v>
                </c:pt>
                <c:pt idx="124">
                  <c:v>96.57093722466</c:v>
                </c:pt>
                <c:pt idx="125">
                  <c:v>96.64138226273</c:v>
                </c:pt>
                <c:pt idx="126">
                  <c:v>96.7118273008</c:v>
                </c:pt>
                <c:pt idx="127">
                  <c:v>96.78227233887</c:v>
                </c:pt>
                <c:pt idx="128">
                  <c:v>96.78227233887</c:v>
                </c:pt>
                <c:pt idx="129">
                  <c:v>96.7118273008</c:v>
                </c:pt>
                <c:pt idx="130">
                  <c:v>96.64138226273</c:v>
                </c:pt>
                <c:pt idx="131">
                  <c:v>96.57093722466</c:v>
                </c:pt>
                <c:pt idx="132">
                  <c:v>96.50049218659</c:v>
                </c:pt>
                <c:pt idx="133">
                  <c:v>96.43004714852</c:v>
                </c:pt>
                <c:pt idx="134">
                  <c:v>96.35960211045</c:v>
                </c:pt>
                <c:pt idx="135">
                  <c:v>96.28915707238</c:v>
                </c:pt>
                <c:pt idx="136">
                  <c:v>96.21871203431</c:v>
                </c:pt>
                <c:pt idx="137">
                  <c:v>96.14826699624</c:v>
                </c:pt>
                <c:pt idx="138">
                  <c:v>96.07782195817</c:v>
                </c:pt>
                <c:pt idx="139">
                  <c:v>96.0073769201</c:v>
                </c:pt>
                <c:pt idx="140">
                  <c:v>95.93693188203</c:v>
                </c:pt>
                <c:pt idx="141">
                  <c:v>95.86648684396</c:v>
                </c:pt>
                <c:pt idx="142">
                  <c:v>95.79604180589</c:v>
                </c:pt>
                <c:pt idx="143">
                  <c:v>95.72559676782</c:v>
                </c:pt>
                <c:pt idx="144">
                  <c:v>95.65515172975</c:v>
                </c:pt>
                <c:pt idx="145">
                  <c:v>95.58470669168</c:v>
                </c:pt>
                <c:pt idx="146">
                  <c:v>95.51426165361</c:v>
                </c:pt>
                <c:pt idx="147">
                  <c:v>95.44381661554</c:v>
                </c:pt>
                <c:pt idx="148">
                  <c:v>95.37337157747</c:v>
                </c:pt>
                <c:pt idx="149">
                  <c:v>95.3029265394</c:v>
                </c:pt>
                <c:pt idx="150">
                  <c:v>95.23248150133</c:v>
                </c:pt>
                <c:pt idx="151">
                  <c:v>95.16203646326</c:v>
                </c:pt>
                <c:pt idx="152">
                  <c:v>95.09159142519</c:v>
                </c:pt>
                <c:pt idx="153">
                  <c:v>95.02114638712</c:v>
                </c:pt>
                <c:pt idx="154">
                  <c:v>94.95070134905</c:v>
                </c:pt>
                <c:pt idx="155">
                  <c:v>94.88025631098</c:v>
                </c:pt>
                <c:pt idx="156">
                  <c:v>94.80981127291</c:v>
                </c:pt>
                <c:pt idx="157">
                  <c:v>94.73936623484</c:v>
                </c:pt>
                <c:pt idx="158">
                  <c:v>94.66892119677</c:v>
                </c:pt>
                <c:pt idx="159">
                  <c:v>94.5984761587</c:v>
                </c:pt>
                <c:pt idx="160">
                  <c:v>94.52803112063</c:v>
                </c:pt>
                <c:pt idx="161">
                  <c:v>94.45758608256</c:v>
                </c:pt>
                <c:pt idx="162">
                  <c:v>94.38714104449</c:v>
                </c:pt>
                <c:pt idx="163">
                  <c:v>94.31669600642</c:v>
                </c:pt>
                <c:pt idx="164">
                  <c:v>94.24625096835</c:v>
                </c:pt>
                <c:pt idx="165">
                  <c:v>94.17580593028</c:v>
                </c:pt>
                <c:pt idx="166">
                  <c:v>94.10536089221</c:v>
                </c:pt>
                <c:pt idx="167">
                  <c:v>94.03491585414</c:v>
                </c:pt>
                <c:pt idx="168">
                  <c:v>93.96447081607</c:v>
                </c:pt>
                <c:pt idx="169">
                  <c:v>93.894025778</c:v>
                </c:pt>
                <c:pt idx="170">
                  <c:v>93.82358073993</c:v>
                </c:pt>
                <c:pt idx="171">
                  <c:v>93.75313570186</c:v>
                </c:pt>
                <c:pt idx="172">
                  <c:v>93.68269066379</c:v>
                </c:pt>
                <c:pt idx="173">
                  <c:v>93.61224562572</c:v>
                </c:pt>
                <c:pt idx="174">
                  <c:v>93.54180058765</c:v>
                </c:pt>
                <c:pt idx="175">
                  <c:v>93.47135554958</c:v>
                </c:pt>
                <c:pt idx="176">
                  <c:v>93.40091051151</c:v>
                </c:pt>
                <c:pt idx="177">
                  <c:v>93.33046547344</c:v>
                </c:pt>
                <c:pt idx="178">
                  <c:v>93.26002043537</c:v>
                </c:pt>
                <c:pt idx="179">
                  <c:v>93.1895753973</c:v>
                </c:pt>
                <c:pt idx="180">
                  <c:v>93.11913035923</c:v>
                </c:pt>
                <c:pt idx="181">
                  <c:v>93.04868532116</c:v>
                </c:pt>
                <c:pt idx="182">
                  <c:v>92.97824028309</c:v>
                </c:pt>
                <c:pt idx="183">
                  <c:v>92.90779524502</c:v>
                </c:pt>
                <c:pt idx="184">
                  <c:v>92.83735020695</c:v>
                </c:pt>
                <c:pt idx="185">
                  <c:v>92.76690516888</c:v>
                </c:pt>
                <c:pt idx="186">
                  <c:v>92.69646013081</c:v>
                </c:pt>
                <c:pt idx="187">
                  <c:v>92.62601509274</c:v>
                </c:pt>
                <c:pt idx="188">
                  <c:v>92.55557005467</c:v>
                </c:pt>
                <c:pt idx="189">
                  <c:v>92.4851250166</c:v>
                </c:pt>
                <c:pt idx="190">
                  <c:v>92.41467997853</c:v>
                </c:pt>
                <c:pt idx="191">
                  <c:v>92.34423494046</c:v>
                </c:pt>
                <c:pt idx="192">
                  <c:v>92.27378990239</c:v>
                </c:pt>
                <c:pt idx="193">
                  <c:v>92.20334486432</c:v>
                </c:pt>
                <c:pt idx="194">
                  <c:v>92.13289982625</c:v>
                </c:pt>
                <c:pt idx="195">
                  <c:v>92.06245478818</c:v>
                </c:pt>
                <c:pt idx="196">
                  <c:v>91.99200975011</c:v>
                </c:pt>
                <c:pt idx="197">
                  <c:v>91.92156471204</c:v>
                </c:pt>
                <c:pt idx="198">
                  <c:v>91.85111967397</c:v>
                </c:pt>
                <c:pt idx="199">
                  <c:v>91.7806746359</c:v>
                </c:pt>
                <c:pt idx="200">
                  <c:v>91.71022959783</c:v>
                </c:pt>
                <c:pt idx="201">
                  <c:v>91.63978455976</c:v>
                </c:pt>
                <c:pt idx="202">
                  <c:v>91.56933952169</c:v>
                </c:pt>
                <c:pt idx="203">
                  <c:v>91.49889448362</c:v>
                </c:pt>
                <c:pt idx="204">
                  <c:v>91.42844944555</c:v>
                </c:pt>
                <c:pt idx="205">
                  <c:v>91.35800440748</c:v>
                </c:pt>
                <c:pt idx="206">
                  <c:v>91.28755936941</c:v>
                </c:pt>
                <c:pt idx="207">
                  <c:v>91.21711433134</c:v>
                </c:pt>
                <c:pt idx="208">
                  <c:v>91.14666929327</c:v>
                </c:pt>
                <c:pt idx="209">
                  <c:v>91.0762242552</c:v>
                </c:pt>
                <c:pt idx="210">
                  <c:v>91.00577921713</c:v>
                </c:pt>
                <c:pt idx="211">
                  <c:v>90.93533417906</c:v>
                </c:pt>
                <c:pt idx="212">
                  <c:v>90.86488914099</c:v>
                </c:pt>
                <c:pt idx="213">
                  <c:v>90.79444410292</c:v>
                </c:pt>
                <c:pt idx="214">
                  <c:v>90.72399906485</c:v>
                </c:pt>
                <c:pt idx="215">
                  <c:v>90.65355402678</c:v>
                </c:pt>
                <c:pt idx="216">
                  <c:v>90.58310898871</c:v>
                </c:pt>
                <c:pt idx="217">
                  <c:v>90.51266395064</c:v>
                </c:pt>
                <c:pt idx="218">
                  <c:v>90.44221891257</c:v>
                </c:pt>
                <c:pt idx="219">
                  <c:v>90.3717738745</c:v>
                </c:pt>
                <c:pt idx="220">
                  <c:v>90.30132883643</c:v>
                </c:pt>
                <c:pt idx="221">
                  <c:v>90.23088379836</c:v>
                </c:pt>
                <c:pt idx="222">
                  <c:v>90.16043876029</c:v>
                </c:pt>
                <c:pt idx="223">
                  <c:v>90.08999372222</c:v>
                </c:pt>
                <c:pt idx="224">
                  <c:v>90.01954868415</c:v>
                </c:pt>
                <c:pt idx="225">
                  <c:v>89.94910364608</c:v>
                </c:pt>
                <c:pt idx="226">
                  <c:v>89.87865860801</c:v>
                </c:pt>
                <c:pt idx="227">
                  <c:v>89.80821356994</c:v>
                </c:pt>
                <c:pt idx="228">
                  <c:v>89.73776853187</c:v>
                </c:pt>
                <c:pt idx="229">
                  <c:v>89.6673234938</c:v>
                </c:pt>
                <c:pt idx="230">
                  <c:v>89.59687845573</c:v>
                </c:pt>
                <c:pt idx="231">
                  <c:v>89.52643341766</c:v>
                </c:pt>
                <c:pt idx="232">
                  <c:v>89.45598837959</c:v>
                </c:pt>
                <c:pt idx="233">
                  <c:v>89.38554334152</c:v>
                </c:pt>
                <c:pt idx="234">
                  <c:v>89.31509830345</c:v>
                </c:pt>
                <c:pt idx="235">
                  <c:v>89.24465326538</c:v>
                </c:pt>
                <c:pt idx="236">
                  <c:v>89.17420822731</c:v>
                </c:pt>
                <c:pt idx="237">
                  <c:v>89.10376318924</c:v>
                </c:pt>
                <c:pt idx="238">
                  <c:v>89.03331815117</c:v>
                </c:pt>
                <c:pt idx="239">
                  <c:v>88.9628731131</c:v>
                </c:pt>
                <c:pt idx="240">
                  <c:v>88.89242807503</c:v>
                </c:pt>
                <c:pt idx="241">
                  <c:v>88.82198303696</c:v>
                </c:pt>
                <c:pt idx="242">
                  <c:v>88.75153799889</c:v>
                </c:pt>
                <c:pt idx="243">
                  <c:v>88.68109296082</c:v>
                </c:pt>
                <c:pt idx="244">
                  <c:v>88.61064792275</c:v>
                </c:pt>
                <c:pt idx="245">
                  <c:v>88.54020288468</c:v>
                </c:pt>
                <c:pt idx="246">
                  <c:v>88.46975784661</c:v>
                </c:pt>
                <c:pt idx="247">
                  <c:v>88.39931280854</c:v>
                </c:pt>
                <c:pt idx="248">
                  <c:v>88.32886777047</c:v>
                </c:pt>
                <c:pt idx="249">
                  <c:v>88.2584227324</c:v>
                </c:pt>
                <c:pt idx="250">
                  <c:v>88.18797769433</c:v>
                </c:pt>
                <c:pt idx="251">
                  <c:v>88.11753265626</c:v>
                </c:pt>
                <c:pt idx="252">
                  <c:v>88.04708761819</c:v>
                </c:pt>
                <c:pt idx="253">
                  <c:v>87.97664258012</c:v>
                </c:pt>
                <c:pt idx="254">
                  <c:v>87.90619754205</c:v>
                </c:pt>
                <c:pt idx="255">
                  <c:v>87.83575250398</c:v>
                </c:pt>
                <c:pt idx="256">
                  <c:v>87.83575250398</c:v>
                </c:pt>
              </c:numCache>
            </c:numRef>
          </c:yVal>
        </c:ser>
        <c:ser>
          <c:idx val="2"/>
          <c:order val="2"/>
          <c:tx>
            <c:v>C1.3</c:v>
          </c:tx>
          <c:spPr>
            <a:solidFill>
              <a:srgbClr val="2CA02C"/>
            </a:solidFill>
            <a:ln w="23813">
              <a:solidFill>
                <a:srgbClr val="2CA02C"/>
              </a:solidFill>
            </a:ln>
          </c:spPr>
          <c:marker>
            <c:symbol val="none"/>
          </c:marker>
          <c:xVal>
            <c:numRef>
              <c:f>'Chart Data'!$E$2:$E$3</c:f>
              <c:numCache>
                <c:formatCode>General</c:formatCode>
                <c:ptCount val="2"/>
                <c:pt idx="0">
                  <c:v>1.55</c:v>
                </c:pt>
                <c:pt idx="1">
                  <c:v>2.45</c:v>
                </c:pt>
              </c:numCache>
            </c:numRef>
          </c:xVal>
          <c:yVal>
            <c:numRef>
              <c:f>'Chart Data'!$F$2:$F$3</c:f>
              <c:numCache>
                <c:formatCode>0.0</c:formatCode>
                <c:ptCount val="2"/>
                <c:pt idx="0">
                  <c:v>91.44469499588</c:v>
                </c:pt>
                <c:pt idx="1">
                  <c:v>91.44469499588</c:v>
                </c:pt>
              </c:numCache>
            </c:numRef>
          </c:yVal>
        </c:ser>
        <c:ser>
          <c:idx val="3"/>
          <c:order val="3"/>
          <c:tx>
            <c:v>Displayed models</c:v>
          </c:tx>
          <c:spPr>
            <a:solidFill>
              <a:srgbClr val="111111"/>
            </a:solidFill>
            <a:ln w="0">
              <a:noFill/>
            </a:ln>
          </c:spPr>
          <c:marker>
            <c:symbol val="circle"/>
            <c:size val="8"/>
            <c:spPr>
              <a:solidFill>
                <a:srgbClr val="111111"/>
              </a:solidFill>
              <a:ln w="9525">
                <a:solidFill>
                  <a:srgbClr val="111111"/>
                </a:solidFill>
              </a:ln>
            </c:spPr>
          </c:marker>
          <c:xVal>
            <c:numRef>
              <c:f>'Chart Data'!$G$2:$G$12</c:f>
              <c:numCache>
                <c:formatCode>General</c:formatCode>
                <c:ptCount val="11"/>
                <c:pt idx="0">
                  <c:v>-0.28</c:v>
                </c:pt>
                <c:pt idx="1">
                  <c:v>-0.14</c:v>
                </c:pt>
                <c:pt idx="2">
                  <c:v>0</c:v>
                </c:pt>
                <c:pt idx="3">
                  <c:v>0.14</c:v>
                </c:pt>
                <c:pt idx="4">
                  <c:v>0.28</c:v>
                </c:pt>
                <c:pt idx="5">
                  <c:v>0.72</c:v>
                </c:pt>
                <c:pt idx="6">
                  <c:v>0.86</c:v>
                </c:pt>
                <c:pt idx="7">
                  <c:v>1</c:v>
                </c:pt>
                <c:pt idx="8">
                  <c:v>1.14</c:v>
                </c:pt>
                <c:pt idx="9">
                  <c:v>1.28</c:v>
                </c:pt>
                <c:pt idx="10">
                  <c:v>2</c:v>
                </c:pt>
              </c:numCache>
            </c:numRef>
          </c:xVal>
          <c:yVal>
            <c:numRef>
              <c:f>'Chart Data'!$H$2:$H$12</c:f>
              <c:numCache>
                <c:formatCode>0.0</c:formatCode>
                <c:ptCount val="11"/>
                <c:pt idx="0">
                  <c:v>98.47654724121</c:v>
                </c:pt>
                <c:pt idx="1">
                  <c:v>98.47644042969</c:v>
                </c:pt>
                <c:pt idx="2">
                  <c:v>98.46500396729</c:v>
                </c:pt>
                <c:pt idx="3">
                  <c:v>98.45543670654</c:v>
                </c:pt>
                <c:pt idx="4">
                  <c:v>98.45143127441</c:v>
                </c:pt>
                <c:pt idx="5">
                  <c:v>96.78227233887</c:v>
                </c:pt>
                <c:pt idx="6">
                  <c:v>89.43773454858</c:v>
                </c:pt>
                <c:pt idx="7">
                  <c:v>89.20010100376</c:v>
                </c:pt>
                <c:pt idx="8">
                  <c:v>88.98085806876</c:v>
                </c:pt>
                <c:pt idx="9">
                  <c:v>88.89682756535</c:v>
                </c:pt>
                <c:pt idx="10">
                  <c:v>91.44469499588</c:v>
                </c:pt>
              </c:numCache>
            </c:numRef>
          </c:yVal>
        </c:ser>
        <c:axId val="48650112"/>
        <c:axId val="48672768"/>
      </c:scatterChart>
      <c:valAx>
        <c:axId val="48672768"/>
        <c:scaling>
          <c:orientation val="minMax"/>
          <c:max val="100"/>
          <c:min val="50"/>
        </c:scaling>
        <c:delete val="0"/>
        <c:axPos val="l"/>
        <c:majorGridlines>
          <c:spPr>
            <a:ln w="4763">
              <a:solidFill>
                <a:srgbClr val="EEEEEE"/>
              </a:solidFill>
            </a:ln>
          </c:spPr>
        </c:majorGridlines>
        <c:title>
          <c:tx>
            <c:rich>
              <a:bodyPr/>
              <a:lstStyle/>
              <a:p>
                <a:r>
                  <a:rPr sz="1500">
                    <a:solidFill>
                      <a:srgbClr val="222222"/>
                    </a:solidFill>
                    <a:latin typeface="DejaVu Sans"/>
                    <a:ea typeface="DejaVu Sans"/>
                    <a:cs typeface="DejaVu Sans"/>
                  </a:rPr>
                  <a:t>&lt;pLDDT&gt;</a:t>
                </a:r>
              </a:p>
            </c:rich>
          </c:tx>
          <c:overlay val="0"/>
          <c:txPr>
            <a:bodyPr anchorCtr="1"/>
            <a:lstStyle/>
            <a:p>
              <a:pPr>
                <a:defRPr sz="1500">
                  <a:solidFill>
                    <a:srgbClr val="222222"/>
                  </a:solidFill>
                  <a:latin typeface="DejaVu Sans"/>
                  <a:ea typeface="DejaVu Sans"/>
                  <a:cs typeface="DejaVu Sans"/>
                </a:defRPr>
              </a:pPr>
            </a:p>
          </c:txPr>
        </c:title>
        <c:numFmt formatCode="0.0"/>
        <c:majorTickMark val="none"/>
        <c:minorTickMark val="none"/>
        <c:spPr>
          <a:ln w="9525">
            <a:solidFill>
              <a:srgbClr val="D4D4D4"/>
            </a:solidFill>
            <a:prstDash val="solid"/>
          </a:ln>
        </c:spPr>
        <c:txPr>
          <a:bodyPr anchorCtr="1"/>
          <a:lstStyle/>
          <a:p>
            <a:pPr>
              <a:defRPr sz="1200">
                <a:solidFill>
                  <a:srgbClr val="222222"/>
                </a:solidFill>
                <a:latin typeface="DejaVu Sans"/>
                <a:ea typeface="DejaVu Sans"/>
                <a:cs typeface="DejaVu Sans"/>
              </a:defRPr>
            </a:pPr>
          </a:p>
        </c:txPr>
        <c:crossAx val="48650112"/>
        <c:crossesAt val="-0.65"/>
        <c:majorUnit val="5"/>
      </c:valAx>
      <c:valAx>
        <c:axId val="48650112"/>
        <c:scaling>
          <c:orientation val="minMax"/>
          <c:max val="2.65"/>
          <c:min val="-0.65"/>
        </c:scaling>
        <c:delete val="0"/>
        <c:axPos val="b"/>
        <c:numFmt formatCode="General"/>
        <c:majorTickMark val="none"/>
        <c:minorTickMark val="none"/>
        <c:tickLblPos val="none"/>
        <c:spPr>
          <a:ln w="9525">
            <a:solidFill>
              <a:srgbClr val="555555"/>
            </a:solidFill>
          </a:ln>
        </c:spPr>
        <c:txPr>
          <a:bodyPr anchorCtr="1"/>
          <a:lstStyle/>
          <a:p>
            <a:pPr>
              <a:defRPr>
                <a:solidFill>
                  <a:srgbClr val="666666"/>
                </a:solidFill>
              </a:defRPr>
            </a:pPr>
          </a:p>
        </c:txPr>
        <c:crossAx val="48672768"/>
        <c:crossesAt val="50"/>
      </c:valAx>
      <c:spPr>
        <a:solidFill>
          <a:srgbClr val="FFFFFF"/>
        </a:solidFill>
        <a:ln w="0">
          <a:noFill/>
        </a:ln>
      </c:spPr>
    </c:plotArea>
    <c:plotVisOnly val="1"/>
  </c:chart>
  <c:spPr>
    <a:solidFill>
      <a:srgbClr val="FFFFFF"/>
    </a:solidFill>
    <a:ln w="0">
      <a:noFill/>
    </a:ln>
  </c:spPr>
  <c:externalData r:id="rIdConfidenceData">
    <c:autoUpdate val="0"/>
  </c:externalData>
</c:chartSpace>
</file>

<file path=ppt/workflow_addition_15_workflow-pptx-zizg80ro/notesMasters/_rels/notesMaster1.xml.rels><?xml version='1.0' encoding='utf-8'?>
<Relationships xmlns="http://schemas.openxmlformats.org/package/2006/relationships"><Relationship Type="http://schemas.openxmlformats.org/officeDocument/2006/relationships/theme" Target="theme/theme3.xml" Id="R8f7fd1b7034a481a" /></Relationships>
</file>

<file path=ppt/workflow_addition_15_workflow-pptx-zizg80ro/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workflow_addition_15_workflow-pptx-zizg80ro/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orkflow_addition_15_workflow-pptx-zizg80ro/notesSlides/_rels/notesSlide1.xml.rels><?xml version='1.0' encoding='utf-8'?>
<Relationships xmlns="http://schemas.openxmlformats.org/package/2006/relationships"><Relationship Type="http://schemas.openxmlformats.org/officeDocument/2006/relationships/slide" Target="../../slides/slide16.xml" Id="Rdb945f2174b94bcb" /><Relationship Type="http://schemas.openxmlformats.org/officeDocument/2006/relationships/notesMaster" Target="../notesMasters/notesMaster1.xml" Id="Rc86bc74239d24858" /></Relationships>
</file>

<file path=ppt/workflow_addition_15_workflow-pptx-zizg80ro/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Bonsai: [{"points":[{"model":"CmR116_bmr17022__AlphaFlowMD__0044","vertex":4,"x":0.46824360362371986,"y":0.8364025070971242,"radius_pixels":9.001028747788695,"sector":0,"sector_count":1},{"model":"CmR116_bmr17022__AlphaFlowMD__0887","vertex":9,"x":0.8870723516180126,"y":0.4131472599164506,"radius_pixels":9.001028747788695,"sector":0,"sector_count":1},{"model":"CmR116_bmr17022__AlphaFlowMD__0460","vertex":7,"x":0.8409553782984983,"y":0.7785225506204376,"radius_pixels":9.001028747788695,"sector":0,"sector_count":1},{"model":"CmR116_bmr17022__AlphaFlowMD__0863","vertex":6,"x":0.7550843127553031,"y":0.9029069767441861,"radius_pixels":9.001028747788695,"sector":0,"sector_count":1},{"model":"CmR116_bmr17022__AlphaFlowMD__0039","vertex":2,"x":0.33533239290720496,"y":0.615212014588723,"radius_pixels":9.001028747788695,"sector":0,"sector_count":1},{"model":"CmR116_bmr17022__AlphaFlowPDB__0433","vertex":18,"x":0.1135214549473552,"y":0.15678294573643414,"radius_pixels":9.001028747788695,"sector":0,"sector_count":1},{"model":"CmR116_bmr17022__SPEACHAF__0845","vertex":14,"x":0.596004801132265,"y":0.26952220259218534,"radius_pixels":9.001028747788695,"sector":0,"sector_count":1},{"model":"CmR116_bmr17022__SPEACHAF__0975","vertex":16,"x":0.5942745658703914,"y":0.26883509043081294,"radius_pixels":9.001028747788695,"sector":0,"sector_count":1},{"model":"CmR116_bmr17022__SPEACHAF__0780","vertex":17,"x":0.5937510613214974,"y":0.26917651914394597,"radius_pixels":9.001028747788695,"sector":0,"sector_count":1},{"model":"CmR116_bmr17022__SPEACHAF__0130","vertex":12,"x":0.5961101533997171,"y":0.2702641529852653,"radius_pixels":9.001028747788695,"sector":0,"sector_count":1},{"model":"CmR116_bmr17022__Boltz2Exact__0338","vertex":11,"x":0.6817245216888086,"y":0.27424970878245347,"radius_pixels":9.001028747788695,"sector":0,"sector_count":1}],"labels":[],"group_labels":[{"group":"B1","box":[0.5046914354475399,0.5923196571422216,0.8099837802335554,0.6490250834988107]},{"group":"B2","box":[0.3765849206669979,0.13455316529402014,0.6818772654530136,0.19125859165060927]}],"image":"[private source path] [B1]","x":0.6530777811580977,"y":0.9029069767441861},{"model":"CmR116_bmr17022__AlphaFlowMD__0044","text":"C1.1 [B1]","x":0.6530777811580977,"y":0.8282945736434107},{"model":"CmR116_bmr17022__AlphaFlowMD__0863","text":"C1.4 [B1]","x":0.6530777811580977,"y":0.7536821705426356},{"model":"CmR116_bmr17022__AlphaFlowMD__0460","text":"C1.3 [B1]","x":0.6530777811580977,"y":0.6790697674418604},{"model":"CmR116_bmr17022__AlphaFlowMD__0887","text":"C1.2 [B1]","x":0.6530777811580977,"y":0.6044573643410852},{"model":"CmR116_bmr17022__Boltz2Exact__0338","text":"C3.1 [B2]","x":0.6530777811580977,"y":0.52984496124031},{"model":"CmR116_bmr17022__SPEACHAF__0845","text":"C2.2 [B2]","x":0.6530777811580977,"y":0.4552325581395347},{"model":"CmR116_bmr17022__SPEACHAF__0130","text":"C2.5 [B2]","x":0.6530777811580977,"y":0.3806201550387596},{"model":"CmR116_bmr17022__SPEACHAF__0975","text":"C2.3 [B2]","x":0.6530777811580977,"y":0.30600775193798446},{"model":"CmR116_bmr17022__AlphaFlowPDB__0433","text":"C2.1 [B2]","x":0.6530777811580977,"y":0.23139534883720916},{"model":"CmR116_bmr17022__SPEACHAF__0780","text":"C2.4 [B2]","x":0.6530777811580977,"y":0.15678294573643403}],"group_labels":[],"image":"[private source path] dendrogram","layout":"ly_dendrogram_ladderized","sha256":"8a9ea5fa0a16dfdfd516f7e56de049f1d71fca177fb78c6a183f171f1b85de46"}]</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workflow_addition_15_workflow-pptx-zizg80ro/slideLayouts/_rels/slideLayout1.xml.rels><?xml version='1.0' encoding='utf-8'?>
<Relationships xmlns="http://schemas.openxmlformats.org/package/2006/relationships"><Relationship Type="http://schemas.openxmlformats.org/officeDocument/2006/relationships/slideMaster" Target="../slideMasters/slideMaster1.xml" Id="R408c08512c384285" /></Relationships>
</file>

<file path=ppt/workflow_addition_15_workflow-pptx-zizg80ro/slideLayouts/_rels/slideLayout2.xml.rels><?xml version='1.0' encoding='utf-8'?>
<Relationships xmlns="http://schemas.openxmlformats.org/package/2006/relationships"><Relationship Type="http://schemas.openxmlformats.org/officeDocument/2006/relationships/slideMaster" Target="../slideMasters/slideMaster1.xml" Id="R8bc2cf1118034f3c" /></Relationships>
</file>

<file path=ppt/workflow_addition_15_workflow-pptx-zizg80ro/slideLayouts/_rels/slideLayout3.xml.rels><?xml version='1.0' encoding='utf-8'?>
<Relationships xmlns="http://schemas.openxmlformats.org/package/2006/relationships"><Relationship Type="http://schemas.openxmlformats.org/officeDocument/2006/relationships/slideMaster" Target="../slideMasters/slideMaster1.xml" Id="Rf02e0da7ad2741cf" /></Relationships>
</file>

<file path=ppt/workflow_addition_15_workflow-pptx-zizg80ro/slideLayouts/_rels/slideLayout4.xml.rels><?xml version='1.0' encoding='utf-8'?>
<Relationships xmlns="http://schemas.openxmlformats.org/package/2006/relationships"><Relationship Type="http://schemas.openxmlformats.org/officeDocument/2006/relationships/slideMaster" Target="../slideMasters/slideMaster1.xml" Id="Rf06d29266f60432f" /></Relationships>
</file>

<file path=ppt/workflow_addition_15_workflow-pptx-zizg80ro/slideLayouts/_rels/slideLayout5.xml.rels><?xml version='1.0' encoding='utf-8'?>
<Relationships xmlns="http://schemas.openxmlformats.org/package/2006/relationships"><Relationship Type="http://schemas.openxmlformats.org/officeDocument/2006/relationships/slideMaster" Target="../slideMasters/slideMaster1.xml" Id="Ra1b0e234cf3948b5" /></Relationships>
</file>

<file path=ppt/workflow_addition_15_workflow-pptx-zizg80ro/slideLayouts/_rels/slideLayout6.xml.rels><?xml version='1.0' encoding='utf-8'?>
<Relationships xmlns="http://schemas.openxmlformats.org/package/2006/relationships"><Relationship Type="http://schemas.openxmlformats.org/officeDocument/2006/relationships/slideMaster" Target="../slideMasters/slideMaster1.xml" Id="R11bf6dfc68114cb2" /></Relationships>
</file>

<file path=ppt/workflow_addition_15_workflow-pptx-zizg80ro/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0990D2-31C9-4AC3-B0AA-97FD3EEB2EF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4A0FE59-F0BC-452C-BCF7-457311F62C6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workflow_addition_15_workflow-pptx-zizg80ro/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7EB6A9D-3C7B-4248-A5B7-B73D1E2FB99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workflow_addition_15_workflow-pptx-zizg80ro/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83FDE1-F082-40C0-8AC7-F39ABB75DA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8DE0232-9CFA-4613-BE2F-1E17E3758CF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5_workflow-pptx-zizg80ro/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89CEA2D-2BB6-4B67-9205-9434A296F4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B11472-3C89-41DB-A78D-39FF49885AB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032FB98-7361-495C-9832-5D935E60849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workflow_addition_15_workflow-pptx-zizg80ro/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417644-77B2-4855-BB70-1719E52D5C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C077FCD-0A97-4A20-896F-A4B6DFD8736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workflow_addition_15_workflow-pptx-zizg80ro/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workflow_addition_15_workflow-pptx-zizg80ro/slideMasters/_rels/slideMaster1.xml.rels><?xml version='1.0' encoding='utf-8'?>
<Relationships xmlns="http://schemas.openxmlformats.org/package/2006/relationships"><Relationship Type="http://schemas.openxmlformats.org/officeDocument/2006/relationships/theme" Target="theme/theme2.xml" Id="Rd721700342e84ff8" /><Relationship Type="http://schemas.openxmlformats.org/officeDocument/2006/relationships/slideLayout" Target="../slideLayouts/slideLayout1.xml" Id="Re14a08d5828a42ad" /><Relationship Type="http://schemas.openxmlformats.org/officeDocument/2006/relationships/slideLayout" Target="../slideLayouts/slideLayout2.xml" Id="Ra26f4c8b57524234" /><Relationship Type="http://schemas.openxmlformats.org/officeDocument/2006/relationships/slideLayout" Target="../slideLayouts/slideLayout3.xml" Id="R76bf4408a4444fa0" /><Relationship Type="http://schemas.openxmlformats.org/officeDocument/2006/relationships/slideLayout" Target="../slideLayouts/slideLayout4.xml" Id="R8fc2fe726ed548c7" /><Relationship Type="http://schemas.openxmlformats.org/officeDocument/2006/relationships/slideLayout" Target="../slideLayouts/slideLayout5.xml" Id="R06aa38ef7de94924" /><Relationship Type="http://schemas.openxmlformats.org/officeDocument/2006/relationships/slideLayout" Target="../slideLayouts/slideLayout6.xml" Id="R38b6fdbcb869400a" /></Relationships>
</file>

<file path=ppt/workflow_addition_15_workflow-pptx-zizg80ro/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4a08d5828a42ad"/>
    <p:sldLayoutId xmlns:r="http://schemas.openxmlformats.org/officeDocument/2006/relationships" id="2147483650" r:id="Ra26f4c8b57524234"/>
    <p:sldLayoutId xmlns:r="http://schemas.openxmlformats.org/officeDocument/2006/relationships" id="2147483651" r:id="R76bf4408a4444fa0"/>
    <p:sldLayoutId xmlns:r="http://schemas.openxmlformats.org/officeDocument/2006/relationships" id="2147483652" r:id="R8fc2fe726ed548c7"/>
    <p:sldLayoutId xmlns:r="http://schemas.openxmlformats.org/officeDocument/2006/relationships" id="2147483653" r:id="R06aa38ef7de94924"/>
    <p:sldLayoutId xmlns:r="http://schemas.openxmlformats.org/officeDocument/2006/relationships" id="2147483654" r:id="R38b6fdbcb86940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workflow_addition_15_workflow-pptx-zizg80ro/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19</ns0:Slides>
  <ns0:Notes>0</ns0:Notes>
  <ns0:HiddenSlides>0</ns0:HiddenSlides>
  <ns0:SharedDoc>false</ns0:SharedDoc>
  <ns0:DocSecurity>0</ns0:DocSecurity>
</ns0: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2026-10-27T23:09:30.7970000Z</dcterms:created>
  <dcterms:modified xsi:type="dcterms:W3CDTF">2026-10-27T23:09:30.7970000Z</dcterms:modified>
</coreProperties>
</file>